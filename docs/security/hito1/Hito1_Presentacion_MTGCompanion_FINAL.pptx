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97300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515456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76286463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6045277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6837232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905485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6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5630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5960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31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0020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0926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6457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2733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341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5671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3603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52200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9157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0818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340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912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5300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64170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3041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426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41947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2031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01143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23055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1229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64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35653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722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6778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8948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CB6E77-CBD7-1095-D87F-006C9526250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CONTENIDO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410233" name="Text 0"/>
          <p:cNvSpPr/>
          <p:nvPr>
            <p:ph type="title" idx="100" hasCustomPrompt="1"/>
          </p:nvPr>
        </p:nvSpPr>
        <p:spPr bwMode="auto"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>
                <a:solidFill>
                  <a:schemeClr val="bg2"/>
                </a:solidFill>
                <a:latin typeface="Cambria"/>
                <a:ea typeface="Cambria"/>
                <a:cs typeface="Cambria"/>
              </a:defRPr>
            </a:lvl1pPr>
          </a:lstStyle>
          <a:p>
            <a:pPr marL="0" indent="0" algn="l">
              <a:buNone/>
              <a:defRPr/>
            </a:pPr>
            <a:endParaRPr lang="en-US" sz="3000"/>
          </a:p>
        </p:txBody>
      </p:sp>
      <p:sp>
        <p:nvSpPr>
          <p:cNvPr id="19387064" name="Text 0"/>
          <p:cNvSpPr/>
          <p:nvPr>
            <p:ph type="body" idx="101" hasCustomPrompt="1"/>
          </p:nvPr>
        </p:nvSpPr>
        <p:spPr bwMode="auto"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i="1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1pPr>
          </a:lstStyle>
          <a:p>
            <a:pPr marL="0" indent="0">
              <a:buNone/>
              <a:defRPr/>
            </a:pPr>
            <a:endParaRPr lang="en-US" sz="1400"/>
          </a:p>
        </p:txBody>
      </p:sp>
      <p:sp>
        <p:nvSpPr>
          <p:cNvPr id="132654379" name="Text 0"/>
          <p:cNvSpPr/>
          <p:nvPr/>
        </p:nvSpPr>
        <p:spPr bwMode="auto"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MTG Companion · Hito 1 · Seguridad y Protección de Datos</a:t>
            </a:r>
            <a:endParaRPr lang="en-US" sz="900"/>
          </a:p>
        </p:txBody>
      </p:sp>
      <p:sp>
        <p:nvSpPr>
          <p:cNvPr id="373367597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201400" y="641908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ORTADA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IAGRAMA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567295" name="Text 0"/>
          <p:cNvSpPr/>
          <p:nvPr>
            <p:ph type="title" idx="100" hasCustomPrompt="1"/>
          </p:nvPr>
        </p:nvSpPr>
        <p:spPr bwMode="auto">
          <a:xfrm>
            <a:off x="41148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>
                <a:solidFill>
                  <a:schemeClr val="bg2"/>
                </a:solidFill>
                <a:latin typeface="Cambria"/>
                <a:ea typeface="Cambria"/>
                <a:cs typeface="Cambria"/>
              </a:defRPr>
            </a:lvl1pPr>
          </a:lstStyle>
          <a:p>
            <a:pPr marL="0" indent="0" algn="l">
              <a:buNone/>
              <a:defRPr/>
            </a:pPr>
            <a:endParaRPr lang="en-US" sz="2600"/>
          </a:p>
        </p:txBody>
      </p:sp>
      <p:sp>
        <p:nvSpPr>
          <p:cNvPr id="51401445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338560" y="644652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47018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201400" y="641908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106883" name="Shape 0"/>
          <p:cNvSpPr/>
          <p:nvPr/>
        </p:nvSpPr>
        <p:spPr bwMode="auto">
          <a:xfrm>
            <a:off x="822960" y="640080"/>
            <a:ext cx="3749040" cy="5577840"/>
          </a:xfrm>
          <a:prstGeom prst="roundRect">
            <a:avLst>
              <a:gd name="adj" fmla="val 2927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01600" dist="38100" dir="5400000" sx="100000" sy="100000" kx="0" ky="0" algn="bl" rotWithShape="0">
              <a:srgbClr val="000000">
                <a:alpha val="55000"/>
              </a:srgbClr>
            </a:outerShdw>
          </a:effectLst>
        </p:spPr>
      </p:sp>
      <p:sp>
        <p:nvSpPr>
          <p:cNvPr id="394368396" name="Shape 1"/>
          <p:cNvSpPr/>
          <p:nvPr/>
        </p:nvSpPr>
        <p:spPr bwMode="auto">
          <a:xfrm>
            <a:off x="886968" y="704088"/>
            <a:ext cx="3621024" cy="5449823"/>
          </a:xfrm>
          <a:prstGeom prst="roundRect">
            <a:avLst>
              <a:gd name="adj" fmla="val 252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29033926" name="Shape 2"/>
          <p:cNvSpPr/>
          <p:nvPr/>
        </p:nvSpPr>
        <p:spPr bwMode="auto">
          <a:xfrm>
            <a:off x="978408" y="795528"/>
            <a:ext cx="3438144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885581509" name="Text 3"/>
          <p:cNvSpPr txBox="1"/>
          <p:nvPr/>
        </p:nvSpPr>
        <p:spPr bwMode="auto">
          <a:xfrm>
            <a:off x="1069848" y="7955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6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MTG Companion</a:t>
            </a:r>
            <a:endParaRPr lang="en-US" sz="1600"/>
          </a:p>
        </p:txBody>
      </p:sp>
      <p:sp>
        <p:nvSpPr>
          <p:cNvPr id="716605467" name="Shape 4"/>
          <p:cNvSpPr/>
          <p:nvPr/>
        </p:nvSpPr>
        <p:spPr bwMode="auto">
          <a:xfrm>
            <a:off x="3602735" y="873252"/>
            <a:ext cx="228600" cy="2286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97576209" name="Text 5"/>
          <p:cNvSpPr txBox="1"/>
          <p:nvPr/>
        </p:nvSpPr>
        <p:spPr bwMode="auto">
          <a:xfrm>
            <a:off x="3602735" y="8732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5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⚖</a:t>
            </a:r>
            <a:endParaRPr lang="en-US" sz="650"/>
          </a:p>
        </p:txBody>
      </p:sp>
      <p:sp>
        <p:nvSpPr>
          <p:cNvPr id="2103363405" name="Shape 6"/>
          <p:cNvSpPr/>
          <p:nvPr/>
        </p:nvSpPr>
        <p:spPr bwMode="auto">
          <a:xfrm>
            <a:off x="3849624" y="873252"/>
            <a:ext cx="2286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39125104" name="Shape 7"/>
          <p:cNvSpPr/>
          <p:nvPr/>
        </p:nvSpPr>
        <p:spPr bwMode="auto">
          <a:xfrm>
            <a:off x="4096512" y="873252"/>
            <a:ext cx="228600" cy="2286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32285756" name="Shape 8"/>
          <p:cNvSpPr/>
          <p:nvPr/>
        </p:nvSpPr>
        <p:spPr bwMode="auto">
          <a:xfrm>
            <a:off x="1033272" y="1243584"/>
            <a:ext cx="3328416" cy="246888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160132856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808683" y="1589227"/>
            <a:ext cx="1777593" cy="1777593"/>
          </a:xfrm>
          <a:prstGeom prst="rect">
            <a:avLst/>
          </a:prstGeom>
        </p:spPr>
      </p:pic>
      <p:sp>
        <p:nvSpPr>
          <p:cNvPr id="412175664" name="Shape 9"/>
          <p:cNvSpPr/>
          <p:nvPr/>
        </p:nvSpPr>
        <p:spPr bwMode="auto">
          <a:xfrm>
            <a:off x="978408" y="3776472"/>
            <a:ext cx="3438144" cy="329184"/>
          </a:xfrm>
          <a:prstGeom prst="roundRect">
            <a:avLst>
              <a:gd name="adj" fmla="val 19444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71092813" name="Text 10"/>
          <p:cNvSpPr txBox="1"/>
          <p:nvPr/>
        </p:nvSpPr>
        <p:spPr bwMode="auto">
          <a:xfrm>
            <a:off x="1069848" y="3776472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Artefacto legendario — App de compraventa</a:t>
            </a:r>
            <a:endParaRPr lang="en-US" sz="1000"/>
          </a:p>
        </p:txBody>
      </p:sp>
      <p:sp>
        <p:nvSpPr>
          <p:cNvPr id="1508517399" name="Shape 11"/>
          <p:cNvSpPr/>
          <p:nvPr/>
        </p:nvSpPr>
        <p:spPr bwMode="auto">
          <a:xfrm>
            <a:off x="1033272" y="4169664"/>
            <a:ext cx="3328416" cy="1865376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57959138" name="Text 12"/>
          <p:cNvSpPr txBox="1"/>
          <p:nvPr/>
        </p:nvSpPr>
        <p:spPr bwMode="auto">
          <a:xfrm>
            <a:off x="1124712" y="4242816"/>
            <a:ext cx="3145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Escanea una carta con IA en el teléfono, guárdala en tu Bóveda y véndela en el Bazaar.</a:t>
            </a:r>
            <a:endParaRPr lang="en-US" sz="14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Cuando entra en juego, inventaría cada dato personal que toca.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 i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"Ningún dato sin base de licitud." — Ley 19.628, art. 13</a:t>
            </a:r>
            <a:endParaRPr lang="en-US" sz="1400"/>
          </a:p>
        </p:txBody>
      </p:sp>
      <p:sp>
        <p:nvSpPr>
          <p:cNvPr id="327752735" name="Text 13"/>
          <p:cNvSpPr txBox="1"/>
          <p:nvPr/>
        </p:nvSpPr>
        <p:spPr bwMode="auto">
          <a:xfrm>
            <a:off x="5303520" y="11430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Seguridad y Protección de Datos · Universidad del Desarrollo</a:t>
            </a:r>
            <a:endParaRPr lang="en-US" sz="1500"/>
          </a:p>
        </p:txBody>
      </p:sp>
      <p:sp>
        <p:nvSpPr>
          <p:cNvPr id="1552784278" name="Text 14"/>
          <p:cNvSpPr txBox="1"/>
          <p:nvPr/>
        </p:nvSpPr>
        <p:spPr bwMode="auto">
          <a:xfrm>
            <a:off x="5303520" y="16459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2400" b="1">
                <a:solidFill>
                  <a:schemeClr val="accent6"/>
                </a:solidFill>
                <a:latin typeface="Cambria"/>
                <a:ea typeface="Cambria"/>
                <a:cs typeface="Cambria"/>
              </a:rPr>
              <a:t>Hito 1</a:t>
            </a:r>
            <a:endParaRPr lang="en-US" sz="2400"/>
          </a:p>
        </p:txBody>
      </p:sp>
      <p:sp>
        <p:nvSpPr>
          <p:cNvPr id="4050061" name="Text 15"/>
          <p:cNvSpPr txBox="1"/>
          <p:nvPr/>
        </p:nvSpPr>
        <p:spPr bwMode="auto">
          <a:xfrm>
            <a:off x="5303520" y="214884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38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Inventario y Clasificación de Datos Personales</a:t>
            </a:r>
            <a:endParaRPr lang="en-US" sz="3800"/>
          </a:p>
        </p:txBody>
      </p:sp>
      <p:sp>
        <p:nvSpPr>
          <p:cNvPr id="1749370715" name="Text 16"/>
          <p:cNvSpPr txBox="1"/>
          <p:nvPr/>
        </p:nvSpPr>
        <p:spPr bwMode="auto">
          <a:xfrm>
            <a:off x="5303520" y="397764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Caso: </a:t>
            </a:r>
            <a:r>
              <a:rPr lang="en-US" sz="15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MTG Companion — app de intercambio y compraventa de cartas de Magic: The Gathering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Grupo: </a:t>
            </a:r>
            <a:r>
              <a:rPr lang="en-US" sz="15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MTG Companion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Integrantes: </a:t>
            </a:r>
            <a:r>
              <a:rPr lang="en-US" sz="15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Vicente Fuentes · Tomás Rodriguez · Tomás Solano</a:t>
            </a:r>
            <a:endParaRPr lang="en-US" sz="1500"/>
          </a:p>
          <a:p>
            <a:pPr marL="0" indent="0">
              <a:spcAft>
                <a:spcPts val="800"/>
              </a:spcAft>
              <a:buNone/>
              <a:defRPr/>
            </a:pPr>
            <a:r>
              <a:rPr lang="en-US" sz="15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Fecha: </a:t>
            </a:r>
            <a:r>
              <a:rPr lang="en-US" sz="15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5 de octubre de 2026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67408" name="Text 0"/>
          <p:cNvSpPr/>
          <p:nvPr>
            <p:ph type="title" idx="100" hasCustomPrompt="1"/>
          </p:nvPr>
        </p:nvSpPr>
        <p:spPr bwMode="auto"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Contexto: el sistema y sus actores</a:t>
            </a:r>
            <a:endParaRPr lang="en-US" sz="3000"/>
          </a:p>
        </p:txBody>
      </p:sp>
      <p:sp>
        <p:nvSpPr>
          <p:cNvPr id="728520043" name="Text 0"/>
          <p:cNvSpPr/>
          <p:nvPr>
            <p:ph type="body" idx="101" hasCustomPrompt="1"/>
          </p:nvPr>
        </p:nvSpPr>
        <p:spPr bwMode="auto"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Escanear · coleccionar · vender — y quién toca los datos en cada paso</a:t>
            </a:r>
            <a:endParaRPr lang="en-US" sz="1400"/>
          </a:p>
        </p:txBody>
      </p:sp>
      <p:sp>
        <p:nvSpPr>
          <p:cNvPr id="346728200" name="Text 2"/>
          <p:cNvSpPr txBox="1"/>
          <p:nvPr/>
        </p:nvSpPr>
        <p:spPr bwMode="auto">
          <a:xfrm>
            <a:off x="548640" y="1600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IA local</a:t>
            </a:r>
            <a:endParaRPr lang="en-US" sz="3000"/>
          </a:p>
        </p:txBody>
      </p:sp>
      <p:sp>
        <p:nvSpPr>
          <p:cNvPr id="1483504496" name="Text 3"/>
          <p:cNvSpPr txBox="1"/>
          <p:nvPr/>
        </p:nvSpPr>
        <p:spPr bwMode="auto">
          <a:xfrm>
            <a:off x="548640" y="22219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Reconoce la carta, su condición y precio en el teléfono: la cámara no llega al servidor.</a:t>
            </a:r>
            <a:endParaRPr lang="en-US" sz="1350"/>
          </a:p>
        </p:txBody>
      </p:sp>
      <p:sp>
        <p:nvSpPr>
          <p:cNvPr id="1635464643" name="Text 4"/>
          <p:cNvSpPr txBox="1"/>
          <p:nvPr/>
        </p:nvSpPr>
        <p:spPr bwMode="auto">
          <a:xfrm>
            <a:off x="548640" y="31546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AWS us-east-1</a:t>
            </a:r>
            <a:endParaRPr lang="en-US" sz="3000"/>
          </a:p>
        </p:txBody>
      </p:sp>
      <p:sp>
        <p:nvSpPr>
          <p:cNvPr id="783408510" name="Text 5"/>
          <p:cNvSpPr txBox="1"/>
          <p:nvPr/>
        </p:nvSpPr>
        <p:spPr bwMode="auto">
          <a:xfrm>
            <a:off x="548640" y="377647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Servidor NestJS + PostgreSQL y fotos en S3, alojados en EE.UU.</a:t>
            </a:r>
            <a:endParaRPr lang="en-US" sz="1350"/>
          </a:p>
        </p:txBody>
      </p:sp>
      <p:sp>
        <p:nvSpPr>
          <p:cNvPr id="1991273481" name="Text 6"/>
          <p:cNvSpPr txBox="1"/>
          <p:nvPr/>
        </p:nvSpPr>
        <p:spPr bwMode="auto">
          <a:xfrm>
            <a:off x="548640" y="47091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01-12-2026</a:t>
            </a:r>
            <a:endParaRPr lang="en-US" sz="3000"/>
          </a:p>
        </p:txBody>
      </p:sp>
      <p:sp>
        <p:nvSpPr>
          <p:cNvPr id="919655333" name="Text 7"/>
          <p:cNvSpPr txBox="1"/>
          <p:nvPr/>
        </p:nvSpPr>
        <p:spPr bwMode="auto">
          <a:xfrm>
            <a:off x="548640" y="53309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Entra en vigencia la Ley 21.719, que reescribe la Ley 19.628. Analizamos ese texto.</a:t>
            </a:r>
            <a:endParaRPr lang="en-US" sz="1350"/>
          </a:p>
        </p:txBody>
      </p:sp>
      <p:sp>
        <p:nvSpPr>
          <p:cNvPr id="2091765787" name="Shape 8"/>
          <p:cNvSpPr/>
          <p:nvPr/>
        </p:nvSpPr>
        <p:spPr bwMode="auto">
          <a:xfrm>
            <a:off x="5212080" y="1600200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88863996" name="Shape 9"/>
          <p:cNvSpPr/>
          <p:nvPr/>
        </p:nvSpPr>
        <p:spPr bwMode="auto">
          <a:xfrm>
            <a:off x="5340096" y="1819656"/>
            <a:ext cx="566928" cy="5669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3625696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40680" y="1920240"/>
            <a:ext cx="365760" cy="365760"/>
          </a:xfrm>
          <a:prstGeom prst="rect">
            <a:avLst/>
          </a:prstGeom>
        </p:spPr>
      </p:pic>
      <p:sp>
        <p:nvSpPr>
          <p:cNvPr id="1503809190" name="Text 10"/>
          <p:cNvSpPr txBox="1"/>
          <p:nvPr/>
        </p:nvSpPr>
        <p:spPr bwMode="auto">
          <a:xfrm>
            <a:off x="6035039" y="1691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Jugador</a:t>
            </a:r>
            <a:endParaRPr lang="en-US" sz="1300"/>
          </a:p>
        </p:txBody>
      </p:sp>
      <p:sp>
        <p:nvSpPr>
          <p:cNvPr id="384306252" name="Text 11"/>
          <p:cNvSpPr txBox="1"/>
          <p:nvPr/>
        </p:nvSpPr>
        <p:spPr bwMode="auto">
          <a:xfrm>
            <a:off x="6035039" y="1984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Titular: vende, compra o puja. Puede ser menor de edad.</a:t>
            </a:r>
            <a:endParaRPr lang="en-US" sz="1050"/>
          </a:p>
        </p:txBody>
      </p:sp>
      <p:sp>
        <p:nvSpPr>
          <p:cNvPr id="54854332" name="Shape 12"/>
          <p:cNvSpPr/>
          <p:nvPr/>
        </p:nvSpPr>
        <p:spPr bwMode="auto">
          <a:xfrm>
            <a:off x="8458200" y="1600200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19991994" name="Shape 13"/>
          <p:cNvSpPr/>
          <p:nvPr/>
        </p:nvSpPr>
        <p:spPr bwMode="auto">
          <a:xfrm>
            <a:off x="8586216" y="1819656"/>
            <a:ext cx="566928" cy="5669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85149149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686800" y="1920240"/>
            <a:ext cx="365760" cy="365760"/>
          </a:xfrm>
          <a:prstGeom prst="rect">
            <a:avLst/>
          </a:prstGeom>
        </p:spPr>
      </p:pic>
      <p:sp>
        <p:nvSpPr>
          <p:cNvPr id="680270440" name="Text 14"/>
          <p:cNvSpPr txBox="1"/>
          <p:nvPr/>
        </p:nvSpPr>
        <p:spPr bwMode="auto">
          <a:xfrm>
            <a:off x="9281160" y="1691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MTG Companion</a:t>
            </a:r>
            <a:endParaRPr lang="en-US" sz="1300"/>
          </a:p>
        </p:txBody>
      </p:sp>
      <p:sp>
        <p:nvSpPr>
          <p:cNvPr id="2077695903" name="Text 15"/>
          <p:cNvSpPr txBox="1"/>
          <p:nvPr/>
        </p:nvSpPr>
        <p:spPr bwMode="auto">
          <a:xfrm>
            <a:off x="9281160" y="19842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Responsable: decide fines y medios del tratamiento.</a:t>
            </a:r>
            <a:endParaRPr lang="en-US" sz="1050"/>
          </a:p>
        </p:txBody>
      </p:sp>
      <p:sp>
        <p:nvSpPr>
          <p:cNvPr id="993521836" name="Shape 16"/>
          <p:cNvSpPr/>
          <p:nvPr/>
        </p:nvSpPr>
        <p:spPr bwMode="auto">
          <a:xfrm>
            <a:off x="5212080" y="2761488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4402543" name="Shape 17"/>
          <p:cNvSpPr/>
          <p:nvPr/>
        </p:nvSpPr>
        <p:spPr bwMode="auto">
          <a:xfrm>
            <a:off x="5340096" y="2980944"/>
            <a:ext cx="566928" cy="5669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62465130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440680" y="3081528"/>
            <a:ext cx="365760" cy="365760"/>
          </a:xfrm>
          <a:prstGeom prst="rect">
            <a:avLst/>
          </a:prstGeom>
        </p:spPr>
      </p:pic>
      <p:sp>
        <p:nvSpPr>
          <p:cNvPr id="537070138" name="Text 18"/>
          <p:cNvSpPr txBox="1"/>
          <p:nvPr/>
        </p:nvSpPr>
        <p:spPr bwMode="auto">
          <a:xfrm>
            <a:off x="6035039" y="28529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Administrador</a:t>
            </a:r>
            <a:endParaRPr lang="en-US" sz="1300"/>
          </a:p>
        </p:txBody>
      </p:sp>
      <p:sp>
        <p:nvSpPr>
          <p:cNvPr id="2098995701" name="Text 19"/>
          <p:cNvSpPr txBox="1"/>
          <p:nvPr/>
        </p:nvSpPr>
        <p:spPr bwMode="auto">
          <a:xfrm>
            <a:off x="6035039" y="314553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Equipo con acceso a la nube y a sus secretos.</a:t>
            </a:r>
            <a:endParaRPr lang="en-US" sz="1050"/>
          </a:p>
        </p:txBody>
      </p:sp>
      <p:sp>
        <p:nvSpPr>
          <p:cNvPr id="881063868" name="Shape 20"/>
          <p:cNvSpPr/>
          <p:nvPr/>
        </p:nvSpPr>
        <p:spPr bwMode="auto">
          <a:xfrm>
            <a:off x="8458200" y="2761488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18286143" name="Shape 21"/>
          <p:cNvSpPr/>
          <p:nvPr/>
        </p:nvSpPr>
        <p:spPr bwMode="auto">
          <a:xfrm>
            <a:off x="8586216" y="2980944"/>
            <a:ext cx="566928" cy="5669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1434302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686800" y="3081528"/>
            <a:ext cx="365760" cy="365760"/>
          </a:xfrm>
          <a:prstGeom prst="rect">
            <a:avLst/>
          </a:prstGeom>
        </p:spPr>
      </p:pic>
      <p:sp>
        <p:nvSpPr>
          <p:cNvPr id="360692386" name="Text 22"/>
          <p:cNvSpPr txBox="1"/>
          <p:nvPr/>
        </p:nvSpPr>
        <p:spPr bwMode="auto">
          <a:xfrm>
            <a:off x="9281160" y="28529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Amazon Web Services</a:t>
            </a:r>
            <a:endParaRPr lang="en-US" sz="1300"/>
          </a:p>
        </p:txBody>
      </p:sp>
      <p:sp>
        <p:nvSpPr>
          <p:cNvPr id="203180815" name="Text 23"/>
          <p:cNvSpPr txBox="1"/>
          <p:nvPr/>
        </p:nvSpPr>
        <p:spPr bwMode="auto">
          <a:xfrm>
            <a:off x="9281160" y="314553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Encargado: servidor, base de datos, fotos y secretos.</a:t>
            </a:r>
            <a:endParaRPr lang="en-US" sz="1050"/>
          </a:p>
        </p:txBody>
      </p:sp>
      <p:sp>
        <p:nvSpPr>
          <p:cNvPr id="1177996671" name="Shape 24"/>
          <p:cNvSpPr/>
          <p:nvPr/>
        </p:nvSpPr>
        <p:spPr bwMode="auto">
          <a:xfrm>
            <a:off x="5212080" y="3922776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47227910" name="Shape 25"/>
          <p:cNvSpPr/>
          <p:nvPr/>
        </p:nvSpPr>
        <p:spPr bwMode="auto">
          <a:xfrm>
            <a:off x="5340096" y="4142232"/>
            <a:ext cx="566928" cy="5669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1477142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5440680" y="4242816"/>
            <a:ext cx="365760" cy="365760"/>
          </a:xfrm>
          <a:prstGeom prst="rect">
            <a:avLst/>
          </a:prstGeom>
        </p:spPr>
      </p:pic>
      <p:sp>
        <p:nvSpPr>
          <p:cNvPr id="233853874" name="Text 26"/>
          <p:cNvSpPr txBox="1"/>
          <p:nvPr/>
        </p:nvSpPr>
        <p:spPr bwMode="auto">
          <a:xfrm>
            <a:off x="6035039" y="40142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Proveedor de correo</a:t>
            </a:r>
            <a:endParaRPr lang="en-US" sz="1300"/>
          </a:p>
        </p:txBody>
      </p:sp>
      <p:sp>
        <p:nvSpPr>
          <p:cNvPr id="80154513" name="Text 27"/>
          <p:cNvSpPr txBox="1"/>
          <p:nvPr/>
        </p:nvSpPr>
        <p:spPr bwMode="auto">
          <a:xfrm>
            <a:off x="6035039" y="43068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Encargado: bienvenidas y comprobantes de pago.</a:t>
            </a:r>
            <a:endParaRPr lang="en-US" sz="1050"/>
          </a:p>
        </p:txBody>
      </p:sp>
      <p:sp>
        <p:nvSpPr>
          <p:cNvPr id="1900027064" name="Shape 28"/>
          <p:cNvSpPr/>
          <p:nvPr/>
        </p:nvSpPr>
        <p:spPr bwMode="auto">
          <a:xfrm>
            <a:off x="8458200" y="3922776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82241416" name="Shape 29"/>
          <p:cNvSpPr/>
          <p:nvPr/>
        </p:nvSpPr>
        <p:spPr bwMode="auto">
          <a:xfrm>
            <a:off x="8586216" y="4142232"/>
            <a:ext cx="566928" cy="5669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20454739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8686800" y="4242816"/>
            <a:ext cx="365760" cy="365760"/>
          </a:xfrm>
          <a:prstGeom prst="rect">
            <a:avLst/>
          </a:prstGeom>
        </p:spPr>
      </p:pic>
      <p:sp>
        <p:nvSpPr>
          <p:cNvPr id="657216131" name="Text 30"/>
          <p:cNvSpPr txBox="1"/>
          <p:nvPr/>
        </p:nvSpPr>
        <p:spPr bwMode="auto">
          <a:xfrm>
            <a:off x="9281160" y="40142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MercadoPago</a:t>
            </a:r>
            <a:endParaRPr lang="en-US" sz="1300"/>
          </a:p>
        </p:txBody>
      </p:sp>
      <p:sp>
        <p:nvSpPr>
          <p:cNvPr id="313526525" name="Text 31"/>
          <p:cNvSpPr txBox="1"/>
          <p:nvPr/>
        </p:nvSpPr>
        <p:spPr bwMode="auto">
          <a:xfrm>
            <a:off x="9281160" y="430682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Responsable propio: procesa el pago y la tarjeta.</a:t>
            </a:r>
            <a:endParaRPr lang="en-US" sz="1050"/>
          </a:p>
        </p:txBody>
      </p:sp>
      <p:sp>
        <p:nvSpPr>
          <p:cNvPr id="1341573109" name="Shape 32"/>
          <p:cNvSpPr/>
          <p:nvPr/>
        </p:nvSpPr>
        <p:spPr bwMode="auto">
          <a:xfrm>
            <a:off x="5212080" y="5084064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36786677" name="Shape 33"/>
          <p:cNvSpPr/>
          <p:nvPr/>
        </p:nvSpPr>
        <p:spPr bwMode="auto">
          <a:xfrm>
            <a:off x="5340096" y="5303520"/>
            <a:ext cx="566928" cy="5669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93482023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5440680" y="5404104"/>
            <a:ext cx="365760" cy="365760"/>
          </a:xfrm>
          <a:prstGeom prst="rect">
            <a:avLst/>
          </a:prstGeom>
        </p:spPr>
      </p:pic>
      <p:sp>
        <p:nvSpPr>
          <p:cNvPr id="1885612028" name="Text 34"/>
          <p:cNvSpPr txBox="1"/>
          <p:nvPr/>
        </p:nvSpPr>
        <p:spPr bwMode="auto">
          <a:xfrm>
            <a:off x="6035039" y="51755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Otros jugadores</a:t>
            </a:r>
            <a:endParaRPr lang="en-US" sz="1300"/>
          </a:p>
        </p:txBody>
      </p:sp>
      <p:sp>
        <p:nvSpPr>
          <p:cNvPr id="664932868" name="Text 35"/>
          <p:cNvSpPr txBox="1"/>
          <p:nvPr/>
        </p:nvSpPr>
        <p:spPr bwMode="auto">
          <a:xfrm>
            <a:off x="6035039" y="54681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Destinatarios: ven nombre, cartas, ofertas y distancia.</a:t>
            </a:r>
            <a:endParaRPr lang="en-US" sz="1050"/>
          </a:p>
        </p:txBody>
      </p:sp>
      <p:sp>
        <p:nvSpPr>
          <p:cNvPr id="402944364" name="Shape 36"/>
          <p:cNvSpPr/>
          <p:nvPr/>
        </p:nvSpPr>
        <p:spPr bwMode="auto">
          <a:xfrm>
            <a:off x="8458200" y="5084064"/>
            <a:ext cx="310896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7130126" name="Shape 37"/>
          <p:cNvSpPr/>
          <p:nvPr/>
        </p:nvSpPr>
        <p:spPr bwMode="auto">
          <a:xfrm>
            <a:off x="8586216" y="5303520"/>
            <a:ext cx="566928" cy="56692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01069367" name="Image 7" descr="preencoded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8686800" y="5404104"/>
            <a:ext cx="365760" cy="365760"/>
          </a:xfrm>
          <a:prstGeom prst="rect">
            <a:avLst/>
          </a:prstGeom>
        </p:spPr>
      </p:pic>
      <p:sp>
        <p:nvSpPr>
          <p:cNvPr id="943304972" name="Text 38"/>
          <p:cNvSpPr txBox="1"/>
          <p:nvPr/>
        </p:nvSpPr>
        <p:spPr bwMode="auto">
          <a:xfrm>
            <a:off x="9281160" y="51755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Scryfall</a:t>
            </a:r>
            <a:endParaRPr lang="en-US" sz="1300"/>
          </a:p>
        </p:txBody>
      </p:sp>
      <p:sp>
        <p:nvSpPr>
          <p:cNvPr id="1201525964" name="Text 39"/>
          <p:cNvSpPr txBox="1"/>
          <p:nvPr/>
        </p:nvSpPr>
        <p:spPr bwMode="auto">
          <a:xfrm>
            <a:off x="9281160" y="54681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Catálogo importado offline: no recibe datos de jugadores.</a:t>
            </a:r>
            <a:endParaRPr lang="en-US" sz="1050"/>
          </a:p>
        </p:txBody>
      </p:sp>
      <p:sp>
        <p:nvSpPr>
          <p:cNvPr id="333677864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201400" y="641908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633914" name="Text 0"/>
          <p:cNvSpPr/>
          <p:nvPr>
            <p:ph type="title" idx="100" hasCustomPrompt="1"/>
          </p:nvPr>
        </p:nvSpPr>
        <p:spPr bwMode="auto"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Inventario: qué datos maneja el sistema</a:t>
            </a:r>
            <a:endParaRPr lang="en-US" sz="3000"/>
          </a:p>
        </p:txBody>
      </p:sp>
      <p:sp>
        <p:nvSpPr>
          <p:cNvPr id="254959901" name="Text 0"/>
          <p:cNvSpPr/>
          <p:nvPr>
            <p:ph type="body" idx="101" hasCustomPrompt="1"/>
          </p:nvPr>
        </p:nvSpPr>
        <p:spPr bwMode="auto"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Construido desde el esquema de la base de datos, el código de la app y sus integraciones</a:t>
            </a:r>
            <a:endParaRPr lang="en-US" sz="1400"/>
          </a:p>
        </p:txBody>
      </p:sp>
      <p:sp>
        <p:nvSpPr>
          <p:cNvPr id="680439581" name="Text 2"/>
          <p:cNvSpPr txBox="1"/>
          <p:nvPr/>
        </p:nvSpPr>
        <p:spPr bwMode="auto">
          <a:xfrm>
            <a:off x="548640" y="14630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66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12</a:t>
            </a:r>
            <a:endParaRPr lang="en-US" sz="6600"/>
          </a:p>
        </p:txBody>
      </p:sp>
      <p:sp>
        <p:nvSpPr>
          <p:cNvPr id="1943161424" name="Text 3"/>
          <p:cNvSpPr txBox="1"/>
          <p:nvPr/>
        </p:nvSpPr>
        <p:spPr bwMode="auto">
          <a:xfrm>
            <a:off x="54864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filas en el inventario</a:t>
            </a:r>
            <a:endParaRPr lang="en-US" sz="1400"/>
          </a:p>
        </p:txBody>
      </p:sp>
      <p:sp>
        <p:nvSpPr>
          <p:cNvPr id="1831854709" name="Text 4"/>
          <p:cNvSpPr txBox="1"/>
          <p:nvPr/>
        </p:nvSpPr>
        <p:spPr bwMode="auto">
          <a:xfrm>
            <a:off x="548640" y="28346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66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9</a:t>
            </a:r>
            <a:endParaRPr lang="en-US" sz="6600"/>
          </a:p>
        </p:txBody>
      </p:sp>
      <p:sp>
        <p:nvSpPr>
          <p:cNvPr id="688153710" name="Text 5"/>
          <p:cNvSpPr txBox="1"/>
          <p:nvPr/>
        </p:nvSpPr>
        <p:spPr bwMode="auto">
          <a:xfrm>
            <a:off x="54864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categorías de datos</a:t>
            </a:r>
            <a:endParaRPr lang="en-US" sz="1400"/>
          </a:p>
        </p:txBody>
      </p:sp>
      <p:sp>
        <p:nvSpPr>
          <p:cNvPr id="105475215" name="Shape 6"/>
          <p:cNvSpPr/>
          <p:nvPr/>
        </p:nvSpPr>
        <p:spPr bwMode="auto">
          <a:xfrm>
            <a:off x="548640" y="4389120"/>
            <a:ext cx="219456" cy="219456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96154842" name="Text 7"/>
          <p:cNvSpPr txBox="1"/>
          <p:nvPr/>
        </p:nvSpPr>
        <p:spPr bwMode="auto">
          <a:xfrm>
            <a:off x="868680" y="4361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Categoría especial</a:t>
            </a:r>
            <a:endParaRPr lang="en-US" sz="1200"/>
          </a:p>
        </p:txBody>
      </p:sp>
      <p:sp>
        <p:nvSpPr>
          <p:cNvPr id="362419270" name="Shape 8"/>
          <p:cNvSpPr/>
          <p:nvPr/>
        </p:nvSpPr>
        <p:spPr bwMode="auto">
          <a:xfrm>
            <a:off x="548640" y="4754880"/>
            <a:ext cx="219456" cy="219456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056760966" name="Text 9"/>
          <p:cNvSpPr txBox="1"/>
          <p:nvPr/>
        </p:nvSpPr>
        <p:spPr bwMode="auto">
          <a:xfrm>
            <a:off x="868680" y="4727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Alto riesgo / crítico</a:t>
            </a:r>
            <a:endParaRPr lang="en-US" sz="1200"/>
          </a:p>
        </p:txBody>
      </p:sp>
      <p:sp>
        <p:nvSpPr>
          <p:cNvPr id="42590320" name="Shape 10"/>
          <p:cNvSpPr/>
          <p:nvPr/>
        </p:nvSpPr>
        <p:spPr bwMode="auto">
          <a:xfrm>
            <a:off x="548640" y="5120640"/>
            <a:ext cx="219456" cy="21945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74067014" name="Text 11"/>
          <p:cNvSpPr txBox="1"/>
          <p:nvPr/>
        </p:nvSpPr>
        <p:spPr bwMode="auto">
          <a:xfrm>
            <a:off x="868680" y="50932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Personal</a:t>
            </a:r>
            <a:endParaRPr lang="en-US" sz="1200"/>
          </a:p>
        </p:txBody>
      </p:sp>
      <p:sp>
        <p:nvSpPr>
          <p:cNvPr id="1767910740" name="Text 12"/>
          <p:cNvSpPr txBox="1"/>
          <p:nvPr/>
        </p:nvSpPr>
        <p:spPr bwMode="auto">
          <a:xfrm>
            <a:off x="548640" y="5532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 i="1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Base más usada: contrato (Ley 19.628, art. 13 c). Hoy nada se borra.</a:t>
            </a:r>
            <a:endParaRPr lang="en-US" sz="1200"/>
          </a:p>
        </p:txBody>
      </p:sp>
      <p:sp>
        <p:nvSpPr>
          <p:cNvPr id="1802424339" name="Shape 13"/>
          <p:cNvSpPr/>
          <p:nvPr/>
        </p:nvSpPr>
        <p:spPr bwMode="auto">
          <a:xfrm>
            <a:off x="3246120" y="1508759"/>
            <a:ext cx="271576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67475817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410712" y="1673352"/>
            <a:ext cx="438912" cy="438912"/>
          </a:xfrm>
          <a:prstGeom prst="rect">
            <a:avLst/>
          </a:prstGeom>
        </p:spPr>
      </p:pic>
      <p:sp>
        <p:nvSpPr>
          <p:cNvPr id="374712109" name="Shape 14"/>
          <p:cNvSpPr/>
          <p:nvPr/>
        </p:nvSpPr>
        <p:spPr bwMode="auto">
          <a:xfrm>
            <a:off x="5577840" y="1691640"/>
            <a:ext cx="219456" cy="21945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10528095" name="Text 15"/>
          <p:cNvSpPr txBox="1"/>
          <p:nvPr/>
        </p:nvSpPr>
        <p:spPr bwMode="auto">
          <a:xfrm>
            <a:off x="3410712" y="2185416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Identificación</a:t>
            </a:r>
            <a:endParaRPr lang="en-US" sz="1500"/>
          </a:p>
        </p:txBody>
      </p:sp>
      <p:sp>
        <p:nvSpPr>
          <p:cNvPr id="1132012443" name="Text 16"/>
          <p:cNvSpPr txBox="1"/>
          <p:nvPr/>
        </p:nvSpPr>
        <p:spPr bwMode="auto">
          <a:xfrm>
            <a:off x="3410712" y="249631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Correo y nombre visible</a:t>
            </a:r>
            <a:endParaRPr lang="en-US" sz="1150"/>
          </a:p>
        </p:txBody>
      </p:sp>
      <p:sp>
        <p:nvSpPr>
          <p:cNvPr id="1781667779" name="Shape 17"/>
          <p:cNvSpPr/>
          <p:nvPr/>
        </p:nvSpPr>
        <p:spPr bwMode="auto">
          <a:xfrm>
            <a:off x="6117336" y="1508759"/>
            <a:ext cx="271576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25400">
            <a:solidFill>
              <a:schemeClr val="accent6"/>
            </a:solidFill>
            <a:prstDash val="solid"/>
          </a:ln>
        </p:spPr>
      </p:sp>
      <p:pic>
        <p:nvPicPr>
          <p:cNvPr id="1269753127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81928" y="1673352"/>
            <a:ext cx="438912" cy="438912"/>
          </a:xfrm>
          <a:prstGeom prst="rect">
            <a:avLst/>
          </a:prstGeom>
        </p:spPr>
      </p:pic>
      <p:sp>
        <p:nvSpPr>
          <p:cNvPr id="274356061" name="Shape 18"/>
          <p:cNvSpPr/>
          <p:nvPr/>
        </p:nvSpPr>
        <p:spPr bwMode="auto">
          <a:xfrm>
            <a:off x="8449056" y="1691640"/>
            <a:ext cx="219456" cy="219456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871693501" name="Text 19"/>
          <p:cNvSpPr txBox="1"/>
          <p:nvPr/>
        </p:nvSpPr>
        <p:spPr bwMode="auto">
          <a:xfrm>
            <a:off x="6281928" y="2185416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Credenciales</a:t>
            </a:r>
            <a:endParaRPr lang="en-US" sz="1500"/>
          </a:p>
        </p:txBody>
      </p:sp>
      <p:sp>
        <p:nvSpPr>
          <p:cNvPr id="1330154621" name="Text 20"/>
          <p:cNvSpPr txBox="1"/>
          <p:nvPr/>
        </p:nvSpPr>
        <p:spPr bwMode="auto">
          <a:xfrm>
            <a:off x="6281928" y="249631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Contraseña y tokens (como hash), secreto 2FA cifrado</a:t>
            </a:r>
            <a:endParaRPr lang="en-US" sz="1150"/>
          </a:p>
        </p:txBody>
      </p:sp>
      <p:sp>
        <p:nvSpPr>
          <p:cNvPr id="1122422316" name="Shape 21"/>
          <p:cNvSpPr/>
          <p:nvPr/>
        </p:nvSpPr>
        <p:spPr bwMode="auto">
          <a:xfrm>
            <a:off x="8988552" y="1508759"/>
            <a:ext cx="271576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724572719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153144" y="1673352"/>
            <a:ext cx="438912" cy="438912"/>
          </a:xfrm>
          <a:prstGeom prst="rect">
            <a:avLst/>
          </a:prstGeom>
        </p:spPr>
      </p:pic>
      <p:sp>
        <p:nvSpPr>
          <p:cNvPr id="1339685385" name="Shape 22"/>
          <p:cNvSpPr/>
          <p:nvPr/>
        </p:nvSpPr>
        <p:spPr bwMode="auto">
          <a:xfrm>
            <a:off x="11320272" y="1691640"/>
            <a:ext cx="219456" cy="21945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44536083" name="Text 23"/>
          <p:cNvSpPr txBox="1"/>
          <p:nvPr/>
        </p:nvSpPr>
        <p:spPr bwMode="auto">
          <a:xfrm>
            <a:off x="9153144" y="2185416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Preferencias</a:t>
            </a:r>
            <a:endParaRPr lang="en-US" sz="1500"/>
          </a:p>
        </p:txBody>
      </p:sp>
      <p:sp>
        <p:nvSpPr>
          <p:cNvPr id="1804931488" name="Text 24"/>
          <p:cNvSpPr txBox="1"/>
          <p:nvPr/>
        </p:nvSpPr>
        <p:spPr bwMode="auto">
          <a:xfrm>
            <a:off x="9153144" y="2496312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Idioma, tema, aviso por correo</a:t>
            </a:r>
            <a:endParaRPr lang="en-US" sz="1150"/>
          </a:p>
        </p:txBody>
      </p:sp>
      <p:sp>
        <p:nvSpPr>
          <p:cNvPr id="1211238952" name="Shape 25"/>
          <p:cNvSpPr/>
          <p:nvPr/>
        </p:nvSpPr>
        <p:spPr bwMode="auto">
          <a:xfrm>
            <a:off x="3246120" y="3127248"/>
            <a:ext cx="271576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25400">
            <a:solidFill>
              <a:schemeClr val="accent4"/>
            </a:solidFill>
            <a:prstDash val="solid"/>
          </a:ln>
        </p:spPr>
      </p:sp>
      <p:pic>
        <p:nvPicPr>
          <p:cNvPr id="749960973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410712" y="3291840"/>
            <a:ext cx="438912" cy="438912"/>
          </a:xfrm>
          <a:prstGeom prst="rect">
            <a:avLst/>
          </a:prstGeom>
        </p:spPr>
      </p:pic>
      <p:sp>
        <p:nvSpPr>
          <p:cNvPr id="1623202509" name="Shape 26"/>
          <p:cNvSpPr/>
          <p:nvPr/>
        </p:nvSpPr>
        <p:spPr bwMode="auto">
          <a:xfrm>
            <a:off x="5577840" y="3310127"/>
            <a:ext cx="219456" cy="219456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2076629" name="Text 27"/>
          <p:cNvSpPr txBox="1"/>
          <p:nvPr/>
        </p:nvSpPr>
        <p:spPr bwMode="auto">
          <a:xfrm>
            <a:off x="3410712" y="380390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Geolocalización</a:t>
            </a:r>
            <a:endParaRPr lang="en-US" sz="1500"/>
          </a:p>
        </p:txBody>
      </p:sp>
      <p:sp>
        <p:nvSpPr>
          <p:cNvPr id="786209921" name="Text 28"/>
          <p:cNvSpPr txBox="1"/>
          <p:nvPr/>
        </p:nvSpPr>
        <p:spPr bwMode="auto">
          <a:xfrm>
            <a:off x="3410712" y="4114800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Ubicación cifrada de quien abre el Bazaar con sesión</a:t>
            </a:r>
            <a:endParaRPr lang="en-US" sz="1150"/>
          </a:p>
        </p:txBody>
      </p:sp>
      <p:sp>
        <p:nvSpPr>
          <p:cNvPr id="1283848581" name="Shape 29"/>
          <p:cNvSpPr/>
          <p:nvPr/>
        </p:nvSpPr>
        <p:spPr bwMode="auto">
          <a:xfrm>
            <a:off x="6117336" y="3127248"/>
            <a:ext cx="271576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249624550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281928" y="3291840"/>
            <a:ext cx="438912" cy="438912"/>
          </a:xfrm>
          <a:prstGeom prst="rect">
            <a:avLst/>
          </a:prstGeom>
        </p:spPr>
      </p:pic>
      <p:sp>
        <p:nvSpPr>
          <p:cNvPr id="1643080273" name="Shape 30"/>
          <p:cNvSpPr/>
          <p:nvPr/>
        </p:nvSpPr>
        <p:spPr bwMode="auto">
          <a:xfrm>
            <a:off x="8449056" y="3310127"/>
            <a:ext cx="219456" cy="21945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70897894" name="Text 31"/>
          <p:cNvSpPr txBox="1"/>
          <p:nvPr/>
        </p:nvSpPr>
        <p:spPr bwMode="auto">
          <a:xfrm>
            <a:off x="6281928" y="380390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Imagen</a:t>
            </a:r>
            <a:endParaRPr lang="en-US" sz="1500"/>
          </a:p>
        </p:txBody>
      </p:sp>
      <p:sp>
        <p:nvSpPr>
          <p:cNvPr id="1904565983" name="Text 32"/>
          <p:cNvSpPr txBox="1"/>
          <p:nvPr/>
        </p:nvSpPr>
        <p:spPr bwMode="auto">
          <a:xfrm>
            <a:off x="6281928" y="4114800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Fotogramas del escáner, foto para publicar</a:t>
            </a:r>
            <a:endParaRPr lang="en-US" sz="1150"/>
          </a:p>
        </p:txBody>
      </p:sp>
      <p:sp>
        <p:nvSpPr>
          <p:cNvPr id="1009176961" name="Shape 33"/>
          <p:cNvSpPr/>
          <p:nvPr/>
        </p:nvSpPr>
        <p:spPr bwMode="auto">
          <a:xfrm>
            <a:off x="8988552" y="3127248"/>
            <a:ext cx="271576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25400">
            <a:solidFill>
              <a:schemeClr val="accent6"/>
            </a:solidFill>
            <a:prstDash val="solid"/>
          </a:ln>
        </p:spPr>
      </p:sp>
      <p:pic>
        <p:nvPicPr>
          <p:cNvPr id="818444729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9153144" y="3291840"/>
            <a:ext cx="438912" cy="438912"/>
          </a:xfrm>
          <a:prstGeom prst="rect">
            <a:avLst/>
          </a:prstGeom>
        </p:spPr>
      </p:pic>
      <p:sp>
        <p:nvSpPr>
          <p:cNvPr id="1330465260" name="Shape 34"/>
          <p:cNvSpPr/>
          <p:nvPr/>
        </p:nvSpPr>
        <p:spPr bwMode="auto">
          <a:xfrm>
            <a:off x="11320272" y="3310127"/>
            <a:ext cx="219456" cy="219456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86271723" name="Text 35"/>
          <p:cNvSpPr txBox="1"/>
          <p:nvPr/>
        </p:nvSpPr>
        <p:spPr bwMode="auto">
          <a:xfrm>
            <a:off x="9153144" y="380390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Patrimonio</a:t>
            </a:r>
            <a:endParaRPr lang="en-US" sz="1500"/>
          </a:p>
        </p:txBody>
      </p:sp>
      <p:sp>
        <p:nvSpPr>
          <p:cNvPr id="1878695616" name="Text 36"/>
          <p:cNvSpPr txBox="1"/>
          <p:nvPr/>
        </p:nvSpPr>
        <p:spPr bwMode="auto">
          <a:xfrm>
            <a:off x="9153144" y="4114800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Colección, mazos y ofertas</a:t>
            </a:r>
            <a:endParaRPr lang="en-US" sz="1150"/>
          </a:p>
        </p:txBody>
      </p:sp>
      <p:sp>
        <p:nvSpPr>
          <p:cNvPr id="2128324335" name="Shape 37"/>
          <p:cNvSpPr/>
          <p:nvPr/>
        </p:nvSpPr>
        <p:spPr bwMode="auto">
          <a:xfrm>
            <a:off x="3246120" y="4745736"/>
            <a:ext cx="271576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25400">
            <a:solidFill>
              <a:schemeClr val="accent6"/>
            </a:solidFill>
            <a:prstDash val="solid"/>
          </a:ln>
        </p:spPr>
      </p:sp>
      <p:pic>
        <p:nvPicPr>
          <p:cNvPr id="1089986447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3410712" y="4910328"/>
            <a:ext cx="438912" cy="438912"/>
          </a:xfrm>
          <a:prstGeom prst="rect">
            <a:avLst/>
          </a:prstGeom>
        </p:spPr>
      </p:pic>
      <p:sp>
        <p:nvSpPr>
          <p:cNvPr id="598649018" name="Shape 38"/>
          <p:cNvSpPr/>
          <p:nvPr/>
        </p:nvSpPr>
        <p:spPr bwMode="auto">
          <a:xfrm>
            <a:off x="5577840" y="4928616"/>
            <a:ext cx="219456" cy="219456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495730852" name="Text 39"/>
          <p:cNvSpPr txBox="1"/>
          <p:nvPr/>
        </p:nvSpPr>
        <p:spPr bwMode="auto">
          <a:xfrm>
            <a:off x="3410712" y="5422392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Financiero</a:t>
            </a:r>
            <a:endParaRPr lang="en-US" sz="1500"/>
          </a:p>
        </p:txBody>
      </p:sp>
      <p:sp>
        <p:nvSpPr>
          <p:cNvPr id="1587897884" name="Text 40"/>
          <p:cNvSpPr txBox="1"/>
          <p:nvPr/>
        </p:nvSpPr>
        <p:spPr bwMode="auto">
          <a:xfrm>
            <a:off x="3410712" y="5733288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Transacciones, referencia de pago, tarjeta</a:t>
            </a:r>
            <a:endParaRPr lang="en-US" sz="1150"/>
          </a:p>
        </p:txBody>
      </p:sp>
      <p:sp>
        <p:nvSpPr>
          <p:cNvPr id="1325629381" name="Shape 41"/>
          <p:cNvSpPr/>
          <p:nvPr/>
        </p:nvSpPr>
        <p:spPr bwMode="auto">
          <a:xfrm>
            <a:off x="6117336" y="4745736"/>
            <a:ext cx="271576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631953580" name="Image 7" descr="preencoded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6281928" y="4910328"/>
            <a:ext cx="438912" cy="438912"/>
          </a:xfrm>
          <a:prstGeom prst="rect">
            <a:avLst/>
          </a:prstGeom>
        </p:spPr>
      </p:pic>
      <p:sp>
        <p:nvSpPr>
          <p:cNvPr id="1585502456" name="Shape 42"/>
          <p:cNvSpPr/>
          <p:nvPr/>
        </p:nvSpPr>
        <p:spPr bwMode="auto">
          <a:xfrm>
            <a:off x="8449056" y="4928616"/>
            <a:ext cx="219456" cy="21945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00525008" name="Text 43"/>
          <p:cNvSpPr txBox="1"/>
          <p:nvPr/>
        </p:nvSpPr>
        <p:spPr bwMode="auto">
          <a:xfrm>
            <a:off x="6281928" y="5422392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Beneficios</a:t>
            </a:r>
            <a:endParaRPr lang="en-US" sz="1500"/>
          </a:p>
        </p:txBody>
      </p:sp>
      <p:sp>
        <p:nvSpPr>
          <p:cNvPr id="49264387" name="Text 44"/>
          <p:cNvSpPr txBox="1"/>
          <p:nvPr/>
        </p:nvSpPr>
        <p:spPr bwMode="auto">
          <a:xfrm>
            <a:off x="6281928" y="5733288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Cupones de la ruleta</a:t>
            </a:r>
            <a:endParaRPr lang="en-US" sz="1150"/>
          </a:p>
        </p:txBody>
      </p:sp>
      <p:sp>
        <p:nvSpPr>
          <p:cNvPr id="1450390964" name="Shape 45"/>
          <p:cNvSpPr/>
          <p:nvPr/>
        </p:nvSpPr>
        <p:spPr bwMode="auto">
          <a:xfrm>
            <a:off x="8988552" y="4745736"/>
            <a:ext cx="2715768" cy="146304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001557837" name="Image 8" descr="preencoded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9153144" y="4910328"/>
            <a:ext cx="438912" cy="438912"/>
          </a:xfrm>
          <a:prstGeom prst="rect">
            <a:avLst/>
          </a:prstGeom>
        </p:spPr>
      </p:pic>
      <p:sp>
        <p:nvSpPr>
          <p:cNvPr id="624328140" name="Shape 46"/>
          <p:cNvSpPr/>
          <p:nvPr/>
        </p:nvSpPr>
        <p:spPr bwMode="auto">
          <a:xfrm>
            <a:off x="11320272" y="4928616"/>
            <a:ext cx="219456" cy="21945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1527986" name="Text 47"/>
          <p:cNvSpPr txBox="1"/>
          <p:nvPr/>
        </p:nvSpPr>
        <p:spPr bwMode="auto">
          <a:xfrm>
            <a:off x="9153144" y="5422392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Técnico</a:t>
            </a:r>
            <a:endParaRPr lang="en-US" sz="1500"/>
          </a:p>
        </p:txBody>
      </p:sp>
      <p:sp>
        <p:nvSpPr>
          <p:cNvPr id="622397944" name="Text 48"/>
          <p:cNvSpPr txBox="1"/>
          <p:nvPr/>
        </p:nvSpPr>
        <p:spPr bwMode="auto">
          <a:xfrm>
            <a:off x="9153144" y="5733288"/>
            <a:ext cx="2386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Dirección IP (no se registra)</a:t>
            </a:r>
            <a:endParaRPr lang="en-US" sz="1150"/>
          </a:p>
        </p:txBody>
      </p:sp>
      <p:sp>
        <p:nvSpPr>
          <p:cNvPr id="2130239678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201400" y="641908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230875" name="Text 0"/>
          <p:cNvSpPr/>
          <p:nvPr>
            <p:ph type="title" idx="100" hasCustomPrompt="1"/>
          </p:nvPr>
        </p:nvSpPr>
        <p:spPr bwMode="auto">
          <a:xfrm>
            <a:off x="41148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Mapa de flujos: F1 a F4</a:t>
            </a:r>
            <a:endParaRPr lang="en-US" sz="2600"/>
          </a:p>
        </p:txBody>
      </p:sp>
      <p:sp>
        <p:nvSpPr>
          <p:cNvPr id="1022988251" name="Text 1"/>
          <p:cNvSpPr txBox="1"/>
          <p:nvPr/>
        </p:nvSpPr>
        <p:spPr bwMode="auto">
          <a:xfrm>
            <a:off x="7498080" y="2011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300" b="1">
                <a:solidFill>
                  <a:srgbClr val="5B8FD6"/>
                </a:solidFill>
                <a:latin typeface="Calibri"/>
                <a:ea typeface="Calibri"/>
                <a:cs typeface="Calibri"/>
              </a:rPr>
              <a:t>F1 </a:t>
            </a:r>
            <a:r>
              <a:rPr lang="en-US" sz="13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Registro  </a:t>
            </a:r>
            <a:r>
              <a:rPr lang="en-US" sz="1300" b="1">
                <a:solidFill>
                  <a:srgbClr val="3FA463"/>
                </a:solidFill>
                <a:latin typeface="Calibri"/>
                <a:ea typeface="Calibri"/>
                <a:cs typeface="Calibri"/>
              </a:rPr>
              <a:t>F2 </a:t>
            </a:r>
            <a:r>
              <a:rPr lang="en-US" sz="13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Escaneo  </a:t>
            </a:r>
            <a:r>
              <a:rPr lang="en-US" sz="1300" b="1">
                <a:solidFill>
                  <a:srgbClr val="E08A2E"/>
                </a:solidFill>
                <a:latin typeface="Calibri"/>
                <a:ea typeface="Calibri"/>
                <a:cs typeface="Calibri"/>
              </a:rPr>
              <a:t>F3 </a:t>
            </a:r>
            <a:r>
              <a:rPr lang="en-US" sz="13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Ubicación  </a:t>
            </a:r>
            <a:r>
              <a:rPr lang="en-US" sz="1300" b="1">
                <a:solidFill>
                  <a:srgbClr val="A65BD6"/>
                </a:solidFill>
                <a:latin typeface="Calibri"/>
                <a:ea typeface="Calibri"/>
                <a:cs typeface="Calibri"/>
              </a:rPr>
              <a:t>F4 </a:t>
            </a:r>
            <a:r>
              <a:rPr lang="en-US" sz="13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Pago</a:t>
            </a:r>
            <a:endParaRPr lang="en-US" sz="1300"/>
          </a:p>
        </p:txBody>
      </p:sp>
      <p:sp>
        <p:nvSpPr>
          <p:cNvPr id="1464717609" name="Shape 2"/>
          <p:cNvSpPr/>
          <p:nvPr/>
        </p:nvSpPr>
        <p:spPr bwMode="auto">
          <a:xfrm>
            <a:off x="1357389" y="758952"/>
            <a:ext cx="9476916" cy="5861304"/>
          </a:xfrm>
          <a:prstGeom prst="roundRect">
            <a:avLst>
              <a:gd name="adj" fmla="val 1248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923890450" name="Image 0" descr="/home/vicente/Documents/TercerTrimestre/leyes/MTGCompanion_TCG/docs/security/hito1/diagrama_flujos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30541" y="832104"/>
            <a:ext cx="9330612" cy="5715000"/>
          </a:xfrm>
          <a:prstGeom prst="rect">
            <a:avLst/>
          </a:prstGeom>
        </p:spPr>
      </p:pic>
      <p:sp>
        <p:nvSpPr>
          <p:cNvPr id="160119531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338560" y="6446520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083694" name="Text 0"/>
          <p:cNvSpPr/>
          <p:nvPr>
            <p:ph type="title" idx="100" hasCustomPrompt="1"/>
          </p:nvPr>
        </p:nvSpPr>
        <p:spPr bwMode="auto"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Flujo en detalle: F3 · búsqueda con ubicación</a:t>
            </a:r>
            <a:endParaRPr lang="en-US" sz="3000"/>
          </a:p>
        </p:txBody>
      </p:sp>
      <p:sp>
        <p:nvSpPr>
          <p:cNvPr id="249481396" name="Text 0"/>
          <p:cNvSpPr/>
          <p:nvPr>
            <p:ph type="body" idx="101" hasCustomPrompt="1"/>
          </p:nvPr>
        </p:nvSpPr>
        <p:spPr bwMode="auto"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El flujo más delicado: la ubicación es categoría especial (Ley 19.628, art. 16 sexies)</a:t>
            </a:r>
            <a:endParaRPr lang="en-US" sz="1400"/>
          </a:p>
        </p:txBody>
      </p:sp>
      <p:sp>
        <p:nvSpPr>
          <p:cNvPr id="776096654" name="Shape 2"/>
          <p:cNvSpPr/>
          <p:nvPr/>
        </p:nvSpPr>
        <p:spPr bwMode="auto">
          <a:xfrm>
            <a:off x="548640" y="155448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1948150" name="Shape 3"/>
          <p:cNvSpPr/>
          <p:nvPr/>
        </p:nvSpPr>
        <p:spPr bwMode="auto">
          <a:xfrm>
            <a:off x="731520" y="173736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77288669" name="Text 4"/>
          <p:cNvSpPr txBox="1"/>
          <p:nvPr/>
        </p:nvSpPr>
        <p:spPr bwMode="auto"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1</a:t>
            </a:r>
            <a:endParaRPr lang="en-US" sz="1300"/>
          </a:p>
        </p:txBody>
      </p:sp>
      <p:pic>
        <p:nvPicPr>
          <p:cNvPr id="88568769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423160" y="1737360"/>
            <a:ext cx="457200" cy="457200"/>
          </a:xfrm>
          <a:prstGeom prst="rect">
            <a:avLst/>
          </a:prstGeom>
        </p:spPr>
      </p:pic>
      <p:sp>
        <p:nvSpPr>
          <p:cNvPr id="40983332" name="Text 5"/>
          <p:cNvSpPr txBox="1"/>
          <p:nvPr/>
        </p:nvSpPr>
        <p:spPr bwMode="auto">
          <a:xfrm>
            <a:off x="73152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Permiso</a:t>
            </a:r>
            <a:endParaRPr lang="en-US" sz="1800"/>
          </a:p>
        </p:txBody>
      </p:sp>
      <p:sp>
        <p:nvSpPr>
          <p:cNvPr id="602369907" name="Text 6"/>
          <p:cNvSpPr txBox="1"/>
          <p:nvPr/>
        </p:nvSpPr>
        <p:spPr bwMode="auto">
          <a:xfrm>
            <a:off x="731520" y="2788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Al abrir el Bazaar con sesión, la app pide el permiso de ubicación. Si se concede, envía latitud y longitud.</a:t>
            </a:r>
            <a:endParaRPr lang="en-US" sz="1400"/>
          </a:p>
        </p:txBody>
      </p:sp>
      <p:sp>
        <p:nvSpPr>
          <p:cNvPr id="1808435703" name="Shape 7"/>
          <p:cNvSpPr/>
          <p:nvPr/>
        </p:nvSpPr>
        <p:spPr bwMode="auto">
          <a:xfrm>
            <a:off x="3163824" y="2651760"/>
            <a:ext cx="192024" cy="32918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75841536" name="Shape 8"/>
          <p:cNvSpPr/>
          <p:nvPr/>
        </p:nvSpPr>
        <p:spPr bwMode="auto">
          <a:xfrm>
            <a:off x="3410712" y="155448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1661868" name="Shape 9"/>
          <p:cNvSpPr/>
          <p:nvPr/>
        </p:nvSpPr>
        <p:spPr bwMode="auto">
          <a:xfrm>
            <a:off x="3593592" y="173736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62688127" name="Text 10"/>
          <p:cNvSpPr txBox="1"/>
          <p:nvPr/>
        </p:nvSpPr>
        <p:spPr bwMode="auto">
          <a:xfrm>
            <a:off x="359359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2</a:t>
            </a:r>
            <a:endParaRPr lang="en-US" sz="1300"/>
          </a:p>
        </p:txBody>
      </p:sp>
      <p:pic>
        <p:nvPicPr>
          <p:cNvPr id="499543014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285232" y="1737360"/>
            <a:ext cx="457200" cy="457200"/>
          </a:xfrm>
          <a:prstGeom prst="rect">
            <a:avLst/>
          </a:prstGeom>
        </p:spPr>
      </p:pic>
      <p:sp>
        <p:nvSpPr>
          <p:cNvPr id="5111122" name="Text 11"/>
          <p:cNvSpPr txBox="1"/>
          <p:nvPr/>
        </p:nvSpPr>
        <p:spPr bwMode="auto">
          <a:xfrm>
            <a:off x="3593592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Cifrado</a:t>
            </a:r>
            <a:endParaRPr lang="en-US" sz="1800"/>
          </a:p>
        </p:txBody>
      </p:sp>
      <p:sp>
        <p:nvSpPr>
          <p:cNvPr id="688654859" name="Text 12"/>
          <p:cNvSpPr txBox="1"/>
          <p:nvPr/>
        </p:nvSpPr>
        <p:spPr bwMode="auto">
          <a:xfrm>
            <a:off x="3593592" y="2788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El servidor cifra las coordenadas con AES-256-GCM antes de guardarlas en user_settings.</a:t>
            </a:r>
            <a:endParaRPr lang="en-US" sz="1400"/>
          </a:p>
        </p:txBody>
      </p:sp>
      <p:sp>
        <p:nvSpPr>
          <p:cNvPr id="1184508125" name="Shape 13"/>
          <p:cNvSpPr/>
          <p:nvPr/>
        </p:nvSpPr>
        <p:spPr bwMode="auto">
          <a:xfrm>
            <a:off x="6025896" y="2651760"/>
            <a:ext cx="192024" cy="32918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33080908" name="Shape 14"/>
          <p:cNvSpPr/>
          <p:nvPr/>
        </p:nvSpPr>
        <p:spPr bwMode="auto">
          <a:xfrm>
            <a:off x="6272784" y="155448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2956371" name="Shape 15"/>
          <p:cNvSpPr/>
          <p:nvPr/>
        </p:nvSpPr>
        <p:spPr bwMode="auto">
          <a:xfrm>
            <a:off x="6455664" y="173736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821539644" name="Text 16"/>
          <p:cNvSpPr txBox="1"/>
          <p:nvPr/>
        </p:nvSpPr>
        <p:spPr bwMode="auto">
          <a:xfrm>
            <a:off x="645566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3</a:t>
            </a:r>
            <a:endParaRPr lang="en-US" sz="1300"/>
          </a:p>
        </p:txBody>
      </p:sp>
      <p:pic>
        <p:nvPicPr>
          <p:cNvPr id="1844903795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147304" y="1737360"/>
            <a:ext cx="457200" cy="457200"/>
          </a:xfrm>
          <a:prstGeom prst="rect">
            <a:avLst/>
          </a:prstGeom>
        </p:spPr>
      </p:pic>
      <p:sp>
        <p:nvSpPr>
          <p:cNvPr id="825107836" name="Text 17"/>
          <p:cNvSpPr txBox="1"/>
          <p:nvPr/>
        </p:nvSpPr>
        <p:spPr bwMode="auto">
          <a:xfrm>
            <a:off x="6455664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Cálculo</a:t>
            </a:r>
            <a:endParaRPr lang="en-US" sz="1800"/>
          </a:p>
        </p:txBody>
      </p:sp>
      <p:sp>
        <p:nvSpPr>
          <p:cNvPr id="755739081" name="Text 18"/>
          <p:cNvSpPr txBox="1"/>
          <p:nvPr/>
        </p:nvSpPr>
        <p:spPr bwMode="auto">
          <a:xfrm>
            <a:off x="6455664" y="2788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Cuando otro jugador busca, se descifran solo en memoria para calcular la distancia (haversine).</a:t>
            </a:r>
            <a:endParaRPr lang="en-US" sz="1400"/>
          </a:p>
        </p:txBody>
      </p:sp>
      <p:sp>
        <p:nvSpPr>
          <p:cNvPr id="822266639" name="Shape 19"/>
          <p:cNvSpPr/>
          <p:nvPr/>
        </p:nvSpPr>
        <p:spPr bwMode="auto">
          <a:xfrm>
            <a:off x="8887968" y="2651760"/>
            <a:ext cx="192024" cy="32918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13033082" name="Shape 20"/>
          <p:cNvSpPr/>
          <p:nvPr/>
        </p:nvSpPr>
        <p:spPr bwMode="auto">
          <a:xfrm>
            <a:off x="9134856" y="1554480"/>
            <a:ext cx="2560320" cy="251460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9950528" name="Shape 21"/>
          <p:cNvSpPr/>
          <p:nvPr/>
        </p:nvSpPr>
        <p:spPr bwMode="auto">
          <a:xfrm>
            <a:off x="9317736" y="1737360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99948260" name="Text 22"/>
          <p:cNvSpPr txBox="1"/>
          <p:nvPr/>
        </p:nvSpPr>
        <p:spPr bwMode="auto">
          <a:xfrm>
            <a:off x="931773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4</a:t>
            </a:r>
            <a:endParaRPr lang="en-US" sz="1300"/>
          </a:p>
        </p:txBody>
      </p:sp>
      <p:pic>
        <p:nvPicPr>
          <p:cNvPr id="103422761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1009375" y="1737360"/>
            <a:ext cx="457200" cy="457200"/>
          </a:xfrm>
          <a:prstGeom prst="rect">
            <a:avLst/>
          </a:prstGeom>
        </p:spPr>
      </p:pic>
      <p:sp>
        <p:nvSpPr>
          <p:cNvPr id="990727626" name="Text 23"/>
          <p:cNvSpPr txBox="1"/>
          <p:nvPr/>
        </p:nvSpPr>
        <p:spPr bwMode="auto">
          <a:xfrm>
            <a:off x="9317736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8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Respuesta</a:t>
            </a:r>
            <a:endParaRPr lang="en-US" sz="1800"/>
          </a:p>
        </p:txBody>
      </p:sp>
      <p:sp>
        <p:nvSpPr>
          <p:cNvPr id="399231358" name="Text 24"/>
          <p:cNvSpPr txBox="1"/>
          <p:nvPr/>
        </p:nvSpPr>
        <p:spPr bwMode="auto">
          <a:xfrm>
            <a:off x="9317736" y="2788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La respuesta lleva kilómetros, nunca coordenadas.</a:t>
            </a:r>
            <a:endParaRPr lang="en-US" sz="1400"/>
          </a:p>
        </p:txBody>
      </p:sp>
      <p:sp>
        <p:nvSpPr>
          <p:cNvPr id="436714124" name="Shape 25"/>
          <p:cNvSpPr/>
          <p:nvPr/>
        </p:nvSpPr>
        <p:spPr bwMode="auto">
          <a:xfrm>
            <a:off x="548640" y="434340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759249119" name="Shape 26"/>
          <p:cNvSpPr/>
          <p:nvPr/>
        </p:nvSpPr>
        <p:spPr bwMode="auto">
          <a:xfrm>
            <a:off x="731520" y="4526280"/>
            <a:ext cx="274320" cy="27432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577239" name="Text 27"/>
          <p:cNvSpPr txBox="1"/>
          <p:nvPr/>
        </p:nvSpPr>
        <p:spPr bwMode="auto">
          <a:xfrm>
            <a:off x="1115568" y="449884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Base de licitud</a:t>
            </a:r>
            <a:endParaRPr lang="en-US" sz="1500"/>
          </a:p>
        </p:txBody>
      </p:sp>
      <p:sp>
        <p:nvSpPr>
          <p:cNvPr id="1457142663" name="Text 28"/>
          <p:cNvSpPr txBox="1"/>
          <p:nvPr/>
        </p:nvSpPr>
        <p:spPr bwMode="auto">
          <a:xfrm>
            <a:off x="731520" y="491032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Consentimiento (Ley 19.628, arts. 12 y 16 sexies). No puede ser contrato: la búsqueda funciona sin ubicación.</a:t>
            </a:r>
            <a:endParaRPr lang="en-US" sz="1350"/>
          </a:p>
        </p:txBody>
      </p:sp>
      <p:sp>
        <p:nvSpPr>
          <p:cNvPr id="1964235243" name="Shape 29"/>
          <p:cNvSpPr/>
          <p:nvPr/>
        </p:nvSpPr>
        <p:spPr bwMode="auto">
          <a:xfrm>
            <a:off x="4297680" y="434340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923563637" name="Shape 30"/>
          <p:cNvSpPr/>
          <p:nvPr/>
        </p:nvSpPr>
        <p:spPr bwMode="auto">
          <a:xfrm>
            <a:off x="4480560" y="4526280"/>
            <a:ext cx="274320" cy="27432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62431920" name="Text 31"/>
          <p:cNvSpPr txBox="1"/>
          <p:nvPr/>
        </p:nvSpPr>
        <p:spPr bwMode="auto">
          <a:xfrm>
            <a:off x="4864607" y="449884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Riesgo</a:t>
            </a:r>
            <a:endParaRPr lang="en-US" sz="1500"/>
          </a:p>
        </p:txBody>
      </p:sp>
      <p:sp>
        <p:nvSpPr>
          <p:cNvPr id="748748419" name="Text 32"/>
          <p:cNvSpPr txBox="1"/>
          <p:nvPr/>
        </p:nvSpPr>
        <p:spPr bwMode="auto">
          <a:xfrm>
            <a:off x="4480560" y="491032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 varias búsquedas desde puntos distintos se podría triangular al vendedor. </a:t>
            </a:r>
            <a:endParaRPr lang="en-US" sz="135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35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Propuesta: </a:t>
            </a:r>
            <a:r>
              <a:rPr lang="en-US" sz="135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redondear coordenadas.</a:t>
            </a:r>
            <a:endParaRPr lang="en-US" sz="1350"/>
          </a:p>
        </p:txBody>
      </p:sp>
      <p:sp>
        <p:nvSpPr>
          <p:cNvPr id="1404828739" name="Shape 33"/>
          <p:cNvSpPr/>
          <p:nvPr/>
        </p:nvSpPr>
        <p:spPr bwMode="auto">
          <a:xfrm>
            <a:off x="8046720" y="4343400"/>
            <a:ext cx="35204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25400">
            <a:solidFill>
              <a:schemeClr val="accent6"/>
            </a:solidFill>
            <a:prstDash val="solid"/>
          </a:ln>
        </p:spPr>
      </p:sp>
      <p:sp>
        <p:nvSpPr>
          <p:cNvPr id="1334119449" name="Shape 34"/>
          <p:cNvSpPr/>
          <p:nvPr/>
        </p:nvSpPr>
        <p:spPr bwMode="auto">
          <a:xfrm>
            <a:off x="8229600" y="4526280"/>
            <a:ext cx="274320" cy="27432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09124334" name="Text 35"/>
          <p:cNvSpPr txBox="1"/>
          <p:nvPr/>
        </p:nvSpPr>
        <p:spPr bwMode="auto">
          <a:xfrm>
            <a:off x="8613648" y="449884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Brecha</a:t>
            </a:r>
            <a:endParaRPr lang="en-US" sz="1500"/>
          </a:p>
        </p:txBody>
      </p:sp>
      <p:sp>
        <p:nvSpPr>
          <p:cNvPr id="88771892" name="Text 36"/>
          <p:cNvSpPr txBox="1"/>
          <p:nvPr/>
        </p:nvSpPr>
        <p:spPr bwMode="auto">
          <a:xfrm>
            <a:off x="8229600" y="4910328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5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 guarda la ubicación de todo jugador, no solo de vendedores. </a:t>
            </a:r>
            <a:r>
              <a:rPr lang="en-US" sz="135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Falta informar</a:t>
            </a:r>
            <a:r>
              <a:rPr lang="en-US" sz="1350" b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finalidad y duración, y un botón para dejar de compartir.</a:t>
            </a:r>
            <a:endParaRPr sz="1350" b="0">
              <a:solidFill>
                <a:schemeClr val="tx1"/>
              </a:solidFill>
            </a:endParaRPr>
          </a:p>
        </p:txBody>
      </p:sp>
      <p:sp>
        <p:nvSpPr>
          <p:cNvPr id="1842369329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201400" y="641908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59002" name="Text 0"/>
          <p:cNvSpPr/>
          <p:nvPr>
            <p:ph type="title" idx="100" hasCustomPrompt="1"/>
          </p:nvPr>
        </p:nvSpPr>
        <p:spPr bwMode="auto"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Clasificación: qué es sensible y por qué</a:t>
            </a:r>
            <a:endParaRPr lang="en-US" sz="3000"/>
          </a:p>
        </p:txBody>
      </p:sp>
      <p:sp>
        <p:nvSpPr>
          <p:cNvPr id="1590295863" name="Text 0"/>
          <p:cNvSpPr/>
          <p:nvPr>
            <p:ph type="body" idx="101" hasCustomPrompt="1"/>
          </p:nvPr>
        </p:nvSpPr>
        <p:spPr bwMode="auto"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Dato personal: "vinculado o referido a una persona natural identificada o identificable" (Ley 19.628, art. 2 f)</a:t>
            </a:r>
            <a:endParaRPr lang="en-US" sz="1400"/>
          </a:p>
        </p:txBody>
      </p:sp>
      <p:sp>
        <p:nvSpPr>
          <p:cNvPr id="844584053" name="Shape 2"/>
          <p:cNvSpPr/>
          <p:nvPr/>
        </p:nvSpPr>
        <p:spPr bwMode="auto">
          <a:xfrm>
            <a:off x="548640" y="1508759"/>
            <a:ext cx="2651760" cy="480060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01600" dist="38100" dir="5400000" sx="100000" sy="100000" kx="0" ky="0" algn="bl" rotWithShape="0">
              <a:srgbClr val="000000">
                <a:alpha val="55000"/>
              </a:srgbClr>
            </a:outerShdw>
          </a:effectLst>
        </p:spPr>
      </p:sp>
      <p:sp>
        <p:nvSpPr>
          <p:cNvPr id="168849071" name="Shape 3"/>
          <p:cNvSpPr/>
          <p:nvPr/>
        </p:nvSpPr>
        <p:spPr bwMode="auto">
          <a:xfrm>
            <a:off x="612648" y="1572768"/>
            <a:ext cx="2523744" cy="4672584"/>
          </a:xfrm>
          <a:prstGeom prst="roundRect">
            <a:avLst>
              <a:gd name="adj" fmla="val 362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63382696" name="Shape 4"/>
          <p:cNvSpPr/>
          <p:nvPr/>
        </p:nvSpPr>
        <p:spPr bwMode="auto">
          <a:xfrm>
            <a:off x="704088" y="1664208"/>
            <a:ext cx="2340864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95840764" name="Text 5"/>
          <p:cNvSpPr txBox="1"/>
          <p:nvPr/>
        </p:nvSpPr>
        <p:spPr bwMode="auto">
          <a:xfrm>
            <a:off x="795528" y="166420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Geolocalización</a:t>
            </a:r>
            <a:endParaRPr lang="en-US" sz="1500"/>
          </a:p>
        </p:txBody>
      </p:sp>
      <p:sp>
        <p:nvSpPr>
          <p:cNvPr id="2097477184" name="Shape 6"/>
          <p:cNvSpPr/>
          <p:nvPr/>
        </p:nvSpPr>
        <p:spPr bwMode="auto">
          <a:xfrm>
            <a:off x="2724911" y="1741932"/>
            <a:ext cx="228600" cy="22860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6807419" name="Shape 7"/>
          <p:cNvSpPr/>
          <p:nvPr/>
        </p:nvSpPr>
        <p:spPr bwMode="auto">
          <a:xfrm>
            <a:off x="758952" y="2112264"/>
            <a:ext cx="2231136" cy="123444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96569724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30122" y="2285086"/>
            <a:ext cx="888796" cy="888796"/>
          </a:xfrm>
          <a:prstGeom prst="rect">
            <a:avLst/>
          </a:prstGeom>
        </p:spPr>
      </p:pic>
      <p:sp>
        <p:nvSpPr>
          <p:cNvPr id="1952857928" name="Shape 8"/>
          <p:cNvSpPr/>
          <p:nvPr/>
        </p:nvSpPr>
        <p:spPr bwMode="auto">
          <a:xfrm>
            <a:off x="704088" y="3410712"/>
            <a:ext cx="2340864" cy="502920"/>
          </a:xfrm>
          <a:prstGeom prst="roundRect">
            <a:avLst>
              <a:gd name="adj" fmla="val 12727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46339893" name="Text 9"/>
          <p:cNvSpPr txBox="1"/>
          <p:nvPr/>
        </p:nvSpPr>
        <p:spPr bwMode="auto">
          <a:xfrm>
            <a:off x="795528" y="34107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Categoría especial — Ley 19.628, art. 16 sexies</a:t>
            </a:r>
            <a:endParaRPr lang="en-US" sz="1000"/>
          </a:p>
        </p:txBody>
      </p:sp>
      <p:sp>
        <p:nvSpPr>
          <p:cNvPr id="290145096" name="Shape 10"/>
          <p:cNvSpPr/>
          <p:nvPr/>
        </p:nvSpPr>
        <p:spPr bwMode="auto">
          <a:xfrm>
            <a:off x="758952" y="3977640"/>
            <a:ext cx="2231136" cy="214884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16022320" name="Text 11"/>
          <p:cNvSpPr txBox="1"/>
          <p:nvPr/>
        </p:nvSpPr>
        <p:spPr bwMode="auto">
          <a:xfrm>
            <a:off x="850392" y="4050792"/>
            <a:ext cx="204825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Exige informar</a:t>
            </a: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tipo de dato, finalidad, duración y si se comunica a terceros.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 i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Revela domicilio y hábitos: protección reforzada.</a:t>
            </a:r>
            <a:endParaRPr lang="en-US" sz="1400"/>
          </a:p>
        </p:txBody>
      </p:sp>
      <p:sp>
        <p:nvSpPr>
          <p:cNvPr id="1461261073" name="Shape 12"/>
          <p:cNvSpPr/>
          <p:nvPr/>
        </p:nvSpPr>
        <p:spPr bwMode="auto">
          <a:xfrm>
            <a:off x="3383280" y="1508759"/>
            <a:ext cx="2651760" cy="480060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01600" dist="38100" dir="5400000" sx="100000" sy="100000" kx="0" ky="0" algn="bl" rotWithShape="0">
              <a:srgbClr val="000000">
                <a:alpha val="55000"/>
              </a:srgbClr>
            </a:outerShdw>
          </a:effectLst>
        </p:spPr>
      </p:sp>
      <p:sp>
        <p:nvSpPr>
          <p:cNvPr id="1140353550" name="Shape 13"/>
          <p:cNvSpPr/>
          <p:nvPr/>
        </p:nvSpPr>
        <p:spPr bwMode="auto">
          <a:xfrm>
            <a:off x="3447288" y="1572768"/>
            <a:ext cx="2523744" cy="4672584"/>
          </a:xfrm>
          <a:prstGeom prst="roundRect">
            <a:avLst>
              <a:gd name="adj" fmla="val 362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16690016" name="Shape 14"/>
          <p:cNvSpPr/>
          <p:nvPr/>
        </p:nvSpPr>
        <p:spPr bwMode="auto">
          <a:xfrm>
            <a:off x="3538728" y="1664208"/>
            <a:ext cx="2340864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9022310" name="Text 15"/>
          <p:cNvSpPr txBox="1"/>
          <p:nvPr/>
        </p:nvSpPr>
        <p:spPr bwMode="auto">
          <a:xfrm>
            <a:off x="3630168" y="166420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Menores de edad</a:t>
            </a:r>
            <a:endParaRPr lang="en-US" sz="1500"/>
          </a:p>
        </p:txBody>
      </p:sp>
      <p:sp>
        <p:nvSpPr>
          <p:cNvPr id="1487863172" name="Shape 16"/>
          <p:cNvSpPr/>
          <p:nvPr/>
        </p:nvSpPr>
        <p:spPr bwMode="auto">
          <a:xfrm>
            <a:off x="5559552" y="1741932"/>
            <a:ext cx="228600" cy="22860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21110502" name="Shape 17"/>
          <p:cNvSpPr/>
          <p:nvPr/>
        </p:nvSpPr>
        <p:spPr bwMode="auto">
          <a:xfrm>
            <a:off x="3593592" y="2112264"/>
            <a:ext cx="2231136" cy="123444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33981481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264762" y="2285086"/>
            <a:ext cx="888796" cy="888796"/>
          </a:xfrm>
          <a:prstGeom prst="rect">
            <a:avLst/>
          </a:prstGeom>
        </p:spPr>
      </p:pic>
      <p:sp>
        <p:nvSpPr>
          <p:cNvPr id="195725788" name="Shape 18"/>
          <p:cNvSpPr/>
          <p:nvPr/>
        </p:nvSpPr>
        <p:spPr bwMode="auto">
          <a:xfrm>
            <a:off x="3538728" y="3410712"/>
            <a:ext cx="2340864" cy="502920"/>
          </a:xfrm>
          <a:prstGeom prst="roundRect">
            <a:avLst>
              <a:gd name="adj" fmla="val 12727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44945181" name="Text 19"/>
          <p:cNvSpPr txBox="1"/>
          <p:nvPr/>
        </p:nvSpPr>
        <p:spPr bwMode="auto">
          <a:xfrm>
            <a:off x="3630168" y="34107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Categoría especial — Ley 19.628, art. 16 quáter</a:t>
            </a:r>
            <a:endParaRPr lang="en-US" sz="1000"/>
          </a:p>
        </p:txBody>
      </p:sp>
      <p:sp>
        <p:nvSpPr>
          <p:cNvPr id="309281739" name="Shape 20"/>
          <p:cNvSpPr/>
          <p:nvPr/>
        </p:nvSpPr>
        <p:spPr bwMode="auto">
          <a:xfrm>
            <a:off x="3593592" y="3977640"/>
            <a:ext cx="2231136" cy="214884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812383313" name="Text 21"/>
          <p:cNvSpPr txBox="1"/>
          <p:nvPr/>
        </p:nvSpPr>
        <p:spPr bwMode="auto">
          <a:xfrm>
            <a:off x="3685032" y="4050792"/>
            <a:ext cx="204825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Interés superior del menor; bajo 14 años, </a:t>
            </a:r>
            <a:r>
              <a:rPr lang="en-US" sz="14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consentimiento</a:t>
            </a: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de padres o representantes.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 i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Magic tiene jugadores niños y adolescentes, la app no pregunta la edad.</a:t>
            </a:r>
            <a:endParaRPr lang="en-US" sz="1400"/>
          </a:p>
        </p:txBody>
      </p:sp>
      <p:sp>
        <p:nvSpPr>
          <p:cNvPr id="68099644" name="Shape 22"/>
          <p:cNvSpPr/>
          <p:nvPr/>
        </p:nvSpPr>
        <p:spPr bwMode="auto">
          <a:xfrm>
            <a:off x="6217920" y="1508759"/>
            <a:ext cx="2651760" cy="480060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01600" dist="38100" dir="5400000" sx="100000" sy="100000" kx="0" ky="0" algn="bl" rotWithShape="0">
              <a:srgbClr val="000000">
                <a:alpha val="55000"/>
              </a:srgbClr>
            </a:outerShdw>
          </a:effectLst>
        </p:spPr>
      </p:sp>
      <p:sp>
        <p:nvSpPr>
          <p:cNvPr id="1435231504" name="Shape 23"/>
          <p:cNvSpPr/>
          <p:nvPr/>
        </p:nvSpPr>
        <p:spPr bwMode="auto">
          <a:xfrm>
            <a:off x="6281928" y="1572768"/>
            <a:ext cx="2523744" cy="4672584"/>
          </a:xfrm>
          <a:prstGeom prst="roundRect">
            <a:avLst>
              <a:gd name="adj" fmla="val 362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93629945" name="Shape 24"/>
          <p:cNvSpPr/>
          <p:nvPr/>
        </p:nvSpPr>
        <p:spPr bwMode="auto">
          <a:xfrm>
            <a:off x="6373368" y="1664208"/>
            <a:ext cx="2340864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045627020" name="Text 25"/>
          <p:cNvSpPr txBox="1"/>
          <p:nvPr/>
        </p:nvSpPr>
        <p:spPr bwMode="auto">
          <a:xfrm>
            <a:off x="6464808" y="166420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Colección + compras</a:t>
            </a:r>
            <a:endParaRPr lang="en-US" sz="1500"/>
          </a:p>
        </p:txBody>
      </p:sp>
      <p:sp>
        <p:nvSpPr>
          <p:cNvPr id="2055855071" name="Shape 26"/>
          <p:cNvSpPr/>
          <p:nvPr/>
        </p:nvSpPr>
        <p:spPr bwMode="auto">
          <a:xfrm>
            <a:off x="8394192" y="1741932"/>
            <a:ext cx="228600" cy="22860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5842657" name="Shape 27"/>
          <p:cNvSpPr/>
          <p:nvPr/>
        </p:nvSpPr>
        <p:spPr bwMode="auto">
          <a:xfrm>
            <a:off x="6428232" y="2112264"/>
            <a:ext cx="2231136" cy="123444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143416950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099402" y="2285086"/>
            <a:ext cx="888796" cy="888796"/>
          </a:xfrm>
          <a:prstGeom prst="rect">
            <a:avLst/>
          </a:prstGeom>
        </p:spPr>
      </p:pic>
      <p:sp>
        <p:nvSpPr>
          <p:cNvPr id="616687220" name="Shape 28"/>
          <p:cNvSpPr/>
          <p:nvPr/>
        </p:nvSpPr>
        <p:spPr bwMode="auto">
          <a:xfrm>
            <a:off x="6373368" y="3410712"/>
            <a:ext cx="2340864" cy="502920"/>
          </a:xfrm>
          <a:prstGeom prst="roundRect">
            <a:avLst>
              <a:gd name="adj" fmla="val 12727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16753151" name="Text 29"/>
          <p:cNvSpPr txBox="1"/>
          <p:nvPr/>
        </p:nvSpPr>
        <p:spPr bwMode="auto">
          <a:xfrm>
            <a:off x="6464808" y="34107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Riesgo de sensible — Ley 19.628, art. 2 g</a:t>
            </a:r>
            <a:endParaRPr lang="en-US" sz="1000"/>
          </a:p>
        </p:txBody>
      </p:sp>
      <p:sp>
        <p:nvSpPr>
          <p:cNvPr id="2081561029" name="Shape 30"/>
          <p:cNvSpPr/>
          <p:nvPr/>
        </p:nvSpPr>
        <p:spPr bwMode="auto">
          <a:xfrm>
            <a:off x="6428232" y="3977640"/>
            <a:ext cx="2231136" cy="214884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87630343" name="Text 31"/>
          <p:cNvSpPr txBox="1"/>
          <p:nvPr/>
        </p:nvSpPr>
        <p:spPr bwMode="auto">
          <a:xfrm>
            <a:off x="6519672" y="4050792"/>
            <a:ext cx="204825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Una compra aislada no revela nada; sumadas, podrían revelar la situación socioeconómica.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 i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No se perfilan y se tratan como alto riesgo.</a:t>
            </a:r>
            <a:endParaRPr lang="en-US" sz="1400"/>
          </a:p>
        </p:txBody>
      </p:sp>
      <p:sp>
        <p:nvSpPr>
          <p:cNvPr id="1782974743" name="Shape 32"/>
          <p:cNvSpPr/>
          <p:nvPr/>
        </p:nvSpPr>
        <p:spPr bwMode="auto">
          <a:xfrm>
            <a:off x="9052560" y="1508759"/>
            <a:ext cx="2651760" cy="480060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01600" dist="38100" dir="5400000" sx="100000" sy="100000" kx="0" ky="0" algn="bl" rotWithShape="0">
              <a:srgbClr val="000000">
                <a:alpha val="55000"/>
              </a:srgbClr>
            </a:outerShdw>
          </a:effectLst>
        </p:spPr>
      </p:sp>
      <p:sp>
        <p:nvSpPr>
          <p:cNvPr id="1341612230" name="Shape 33"/>
          <p:cNvSpPr/>
          <p:nvPr/>
        </p:nvSpPr>
        <p:spPr bwMode="auto">
          <a:xfrm>
            <a:off x="9116568" y="1572768"/>
            <a:ext cx="2523744" cy="4672584"/>
          </a:xfrm>
          <a:prstGeom prst="roundRect">
            <a:avLst>
              <a:gd name="adj" fmla="val 362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46527293" name="Shape 34"/>
          <p:cNvSpPr/>
          <p:nvPr/>
        </p:nvSpPr>
        <p:spPr bwMode="auto">
          <a:xfrm>
            <a:off x="9208008" y="1664208"/>
            <a:ext cx="2340864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91142079" name="Text 35"/>
          <p:cNvSpPr txBox="1"/>
          <p:nvPr/>
        </p:nvSpPr>
        <p:spPr bwMode="auto">
          <a:xfrm>
            <a:off x="9299448" y="166420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5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Fotogramas</a:t>
            </a:r>
            <a:endParaRPr lang="en-US" sz="1500"/>
          </a:p>
        </p:txBody>
      </p:sp>
      <p:sp>
        <p:nvSpPr>
          <p:cNvPr id="1474848371" name="Shape 36"/>
          <p:cNvSpPr/>
          <p:nvPr/>
        </p:nvSpPr>
        <p:spPr bwMode="auto">
          <a:xfrm>
            <a:off x="11228832" y="1741932"/>
            <a:ext cx="2286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92599879" name="Shape 37"/>
          <p:cNvSpPr/>
          <p:nvPr/>
        </p:nvSpPr>
        <p:spPr bwMode="auto">
          <a:xfrm>
            <a:off x="9262872" y="2112264"/>
            <a:ext cx="2231136" cy="123444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874983594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934042" y="2285086"/>
            <a:ext cx="888796" cy="888796"/>
          </a:xfrm>
          <a:prstGeom prst="rect">
            <a:avLst/>
          </a:prstGeom>
        </p:spPr>
      </p:pic>
      <p:sp>
        <p:nvSpPr>
          <p:cNvPr id="758606508" name="Shape 38"/>
          <p:cNvSpPr/>
          <p:nvPr/>
        </p:nvSpPr>
        <p:spPr bwMode="auto">
          <a:xfrm>
            <a:off x="9208008" y="3410712"/>
            <a:ext cx="2340864" cy="502920"/>
          </a:xfrm>
          <a:prstGeom prst="roundRect">
            <a:avLst>
              <a:gd name="adj" fmla="val 12727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41485271" name="Text 39"/>
          <p:cNvSpPr txBox="1"/>
          <p:nvPr/>
        </p:nvSpPr>
        <p:spPr bwMode="auto">
          <a:xfrm>
            <a:off x="9299448" y="3410712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Personal, no biométrico — Ley 19.628, art. 16 ter</a:t>
            </a:r>
            <a:endParaRPr lang="en-US" sz="1000"/>
          </a:p>
        </p:txBody>
      </p:sp>
      <p:sp>
        <p:nvSpPr>
          <p:cNvPr id="250468186" name="Shape 40"/>
          <p:cNvSpPr/>
          <p:nvPr/>
        </p:nvSpPr>
        <p:spPr bwMode="auto">
          <a:xfrm>
            <a:off x="9262872" y="3977640"/>
            <a:ext cx="2231136" cy="214884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56256332" name="Text 41"/>
          <p:cNvSpPr txBox="1"/>
          <p:nvPr/>
        </p:nvSpPr>
        <p:spPr bwMode="auto">
          <a:xfrm>
            <a:off x="9354312" y="4050792"/>
            <a:ext cx="204825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Pueden captar manos o rostros, pero lo biométrico exige un tratamiento técnico que identifique a la persona.</a:t>
            </a:r>
            <a:endParaRPr lang="en-US" sz="1400"/>
          </a:p>
          <a:p>
            <a:pPr marL="0" indent="0">
              <a:buNone/>
              <a:defRPr/>
            </a:pPr>
            <a:r>
              <a:rPr lang="en-US" sz="1400" i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La IA solo reconoce cartas.</a:t>
            </a:r>
            <a:endParaRPr lang="en-US" sz="1400"/>
          </a:p>
        </p:txBody>
      </p:sp>
      <p:sp>
        <p:nvSpPr>
          <p:cNvPr id="113072668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201400" y="641908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446348" name="Text 0"/>
          <p:cNvSpPr/>
          <p:nvPr>
            <p:ph type="title" idx="100" hasCustomPrompt="1"/>
          </p:nvPr>
        </p:nvSpPr>
        <p:spPr bwMode="auto"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Finalidad y base de licitud por flujo</a:t>
            </a:r>
            <a:endParaRPr lang="en-US" sz="3000"/>
          </a:p>
        </p:txBody>
      </p:sp>
      <p:sp>
        <p:nvSpPr>
          <p:cNvPr id="1600426050" name="Text 0"/>
          <p:cNvSpPr/>
          <p:nvPr>
            <p:ph type="body" idx="101" hasCustomPrompt="1"/>
          </p:nvPr>
        </p:nvSpPr>
        <p:spPr bwMode="auto"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Contrato para lo indispensable; consentimiento solo para lo opcional (Ley 19.628, art. 12)</a:t>
            </a:r>
            <a:endParaRPr lang="en-US" sz="1400"/>
          </a:p>
        </p:txBody>
      </p:sp>
      <p:sp>
        <p:nvSpPr>
          <p:cNvPr id="1306537227" name="Text 2"/>
          <p:cNvSpPr txBox="1"/>
          <p:nvPr/>
        </p:nvSpPr>
        <p:spPr bwMode="auto">
          <a:xfrm>
            <a:off x="548640" y="1508759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Flujo</a:t>
            </a:r>
            <a:endParaRPr lang="en-US" sz="1300"/>
          </a:p>
        </p:txBody>
      </p:sp>
      <p:sp>
        <p:nvSpPr>
          <p:cNvPr id="1737578626" name="Text 3"/>
          <p:cNvSpPr txBox="1"/>
          <p:nvPr/>
        </p:nvSpPr>
        <p:spPr bwMode="auto">
          <a:xfrm>
            <a:off x="2606040" y="1508759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Finalidad</a:t>
            </a:r>
            <a:endParaRPr lang="en-US" sz="1300"/>
          </a:p>
        </p:txBody>
      </p:sp>
      <p:sp>
        <p:nvSpPr>
          <p:cNvPr id="1940600362" name="Text 4"/>
          <p:cNvSpPr txBox="1"/>
          <p:nvPr/>
        </p:nvSpPr>
        <p:spPr bwMode="auto">
          <a:xfrm>
            <a:off x="4937760" y="1508759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Base de licitud</a:t>
            </a:r>
            <a:endParaRPr lang="en-US" sz="1300"/>
          </a:p>
        </p:txBody>
      </p:sp>
      <p:sp>
        <p:nvSpPr>
          <p:cNvPr id="901232985" name="Text 5"/>
          <p:cNvSpPr txBox="1"/>
          <p:nvPr/>
        </p:nvSpPr>
        <p:spPr bwMode="auto">
          <a:xfrm>
            <a:off x="8138160" y="1508759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Por qué esa base</a:t>
            </a:r>
            <a:endParaRPr lang="en-US" sz="1300"/>
          </a:p>
        </p:txBody>
      </p:sp>
      <p:sp>
        <p:nvSpPr>
          <p:cNvPr id="1228186618" name="Shape 6"/>
          <p:cNvSpPr/>
          <p:nvPr/>
        </p:nvSpPr>
        <p:spPr bwMode="auto">
          <a:xfrm>
            <a:off x="457200" y="1892808"/>
            <a:ext cx="11274552" cy="1024128"/>
          </a:xfrm>
          <a:prstGeom prst="roundRect">
            <a:avLst>
              <a:gd name="adj" fmla="val 7143"/>
            </a:avLst>
          </a:prstGeom>
          <a:solidFill>
            <a:schemeClr val="tx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22977488" name="Text 7"/>
          <p:cNvSpPr txBox="1"/>
          <p:nvPr/>
        </p:nvSpPr>
        <p:spPr bwMode="auto">
          <a:xfrm>
            <a:off x="548640" y="198424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F1 Registro y autenticación</a:t>
            </a:r>
            <a:endParaRPr lang="en-US" sz="1300"/>
          </a:p>
        </p:txBody>
      </p:sp>
      <p:sp>
        <p:nvSpPr>
          <p:cNvPr id="1714047258" name="Text 8"/>
          <p:cNvSpPr txBox="1"/>
          <p:nvPr/>
        </p:nvSpPr>
        <p:spPr bwMode="auto">
          <a:xfrm>
            <a:off x="2606040" y="198424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Crear y proteger la cuenta</a:t>
            </a:r>
            <a:endParaRPr lang="en-US" sz="1300"/>
          </a:p>
        </p:txBody>
      </p:sp>
      <p:sp>
        <p:nvSpPr>
          <p:cNvPr id="1339183876" name="Shape 9"/>
          <p:cNvSpPr/>
          <p:nvPr/>
        </p:nvSpPr>
        <p:spPr bwMode="auto">
          <a:xfrm>
            <a:off x="4937760" y="2075688"/>
            <a:ext cx="219456" cy="21945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95702563" name="Text 10"/>
          <p:cNvSpPr txBox="1"/>
          <p:nvPr/>
        </p:nvSpPr>
        <p:spPr bwMode="auto">
          <a:xfrm>
            <a:off x="5248656" y="1965960"/>
            <a:ext cx="27523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Contrato (Ley 19.628, art. 13 c)</a:t>
            </a:r>
            <a:endParaRPr lang="en-US" sz="1200"/>
          </a:p>
        </p:txBody>
      </p:sp>
      <p:sp>
        <p:nvSpPr>
          <p:cNvPr id="942179052" name="Shape 11"/>
          <p:cNvSpPr/>
          <p:nvPr/>
        </p:nvSpPr>
        <p:spPr bwMode="auto">
          <a:xfrm>
            <a:off x="4937760" y="2514600"/>
            <a:ext cx="219456" cy="219456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66105304" name="Text 12"/>
          <p:cNvSpPr txBox="1"/>
          <p:nvPr/>
        </p:nvSpPr>
        <p:spPr bwMode="auto">
          <a:xfrm>
            <a:off x="5248656" y="2404872"/>
            <a:ext cx="27523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2FA: consentimiento (Ley 19.628, art. 12)</a:t>
            </a:r>
            <a:endParaRPr lang="en-US" sz="1200"/>
          </a:p>
        </p:txBody>
      </p:sp>
      <p:sp>
        <p:nvSpPr>
          <p:cNvPr id="588794107" name="Text 13"/>
          <p:cNvSpPr txBox="1"/>
          <p:nvPr/>
        </p:nvSpPr>
        <p:spPr bwMode="auto">
          <a:xfrm>
            <a:off x="8138160" y="1965960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Sin correo, contraseña y tokens no existe la cuenta pedida. El 2FA es opcional y se revoca desactivándolo, lo que borra el secreto.</a:t>
            </a:r>
            <a:endParaRPr lang="en-US" sz="1200"/>
          </a:p>
        </p:txBody>
      </p:sp>
      <p:sp>
        <p:nvSpPr>
          <p:cNvPr id="1225131849" name="Shape 14"/>
          <p:cNvSpPr/>
          <p:nvPr/>
        </p:nvSpPr>
        <p:spPr bwMode="auto">
          <a:xfrm>
            <a:off x="457200" y="2990088"/>
            <a:ext cx="11274552" cy="1024128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488572229" name="Text 15"/>
          <p:cNvSpPr txBox="1"/>
          <p:nvPr/>
        </p:nvSpPr>
        <p:spPr bwMode="auto">
          <a:xfrm>
            <a:off x="548640" y="308152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F2 Escaneo y publicación</a:t>
            </a:r>
            <a:endParaRPr lang="en-US" sz="1300"/>
          </a:p>
        </p:txBody>
      </p:sp>
      <p:sp>
        <p:nvSpPr>
          <p:cNvPr id="1319113417" name="Text 16"/>
          <p:cNvSpPr txBox="1"/>
          <p:nvPr/>
        </p:nvSpPr>
        <p:spPr bwMode="auto">
          <a:xfrm>
            <a:off x="2606040" y="308152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Identificar la carta y publicarla</a:t>
            </a:r>
            <a:endParaRPr lang="en-US" sz="1300"/>
          </a:p>
        </p:txBody>
      </p:sp>
      <p:sp>
        <p:nvSpPr>
          <p:cNvPr id="415796273" name="Shape 17"/>
          <p:cNvSpPr/>
          <p:nvPr/>
        </p:nvSpPr>
        <p:spPr bwMode="auto">
          <a:xfrm>
            <a:off x="4937760" y="3172968"/>
            <a:ext cx="219456" cy="21945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90923941" name="Text 18"/>
          <p:cNvSpPr txBox="1"/>
          <p:nvPr/>
        </p:nvSpPr>
        <p:spPr bwMode="auto">
          <a:xfrm>
            <a:off x="5248656" y="3063240"/>
            <a:ext cx="27523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Fotogramas: no hay tratamiento (Ley 19.628, art. 2 o)</a:t>
            </a:r>
            <a:endParaRPr lang="en-US" sz="1200"/>
          </a:p>
        </p:txBody>
      </p:sp>
      <p:sp>
        <p:nvSpPr>
          <p:cNvPr id="1186448197" name="Shape 19"/>
          <p:cNvSpPr/>
          <p:nvPr/>
        </p:nvSpPr>
        <p:spPr bwMode="auto">
          <a:xfrm>
            <a:off x="4937760" y="3611880"/>
            <a:ext cx="219456" cy="21945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29104851" name="Text 20"/>
          <p:cNvSpPr txBox="1"/>
          <p:nvPr/>
        </p:nvSpPr>
        <p:spPr bwMode="auto">
          <a:xfrm>
            <a:off x="5248656" y="3502152"/>
            <a:ext cx="27523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Foto publicada: contrato (Ley 19.628, art. 13 c)</a:t>
            </a:r>
            <a:endParaRPr lang="en-US" sz="1200"/>
          </a:p>
        </p:txBody>
      </p:sp>
      <p:sp>
        <p:nvSpPr>
          <p:cNvPr id="1145851760" name="Text 21"/>
          <p:cNvSpPr txBox="1"/>
          <p:nvPr/>
        </p:nvSpPr>
        <p:spPr bwMode="auto">
          <a:xfrm>
            <a:off x="8138160" y="3063240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Los fotogramas se procesan y descartan en el teléfono: el responsable no los recibe. Publicar es el servicio pedido.</a:t>
            </a:r>
            <a:endParaRPr lang="en-US" sz="1200"/>
          </a:p>
        </p:txBody>
      </p:sp>
      <p:sp>
        <p:nvSpPr>
          <p:cNvPr id="181519781" name="Shape 22"/>
          <p:cNvSpPr/>
          <p:nvPr/>
        </p:nvSpPr>
        <p:spPr bwMode="auto">
          <a:xfrm>
            <a:off x="457200" y="4087368"/>
            <a:ext cx="11274552" cy="1024128"/>
          </a:xfrm>
          <a:prstGeom prst="roundRect">
            <a:avLst>
              <a:gd name="adj" fmla="val 7143"/>
            </a:avLst>
          </a:prstGeom>
          <a:solidFill>
            <a:schemeClr val="tx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09337277" name="Text 23"/>
          <p:cNvSpPr txBox="1"/>
          <p:nvPr/>
        </p:nvSpPr>
        <p:spPr bwMode="auto">
          <a:xfrm>
            <a:off x="548640" y="417880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F3 Búsqueda con ubicación</a:t>
            </a:r>
            <a:endParaRPr lang="en-US" sz="1300"/>
          </a:p>
        </p:txBody>
      </p:sp>
      <p:sp>
        <p:nvSpPr>
          <p:cNvPr id="1070030862" name="Text 24"/>
          <p:cNvSpPr txBox="1"/>
          <p:nvPr/>
        </p:nvSpPr>
        <p:spPr bwMode="auto">
          <a:xfrm>
            <a:off x="2606040" y="417880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Mostrar la distancia al vendedor</a:t>
            </a:r>
            <a:endParaRPr lang="en-US" sz="1300"/>
          </a:p>
        </p:txBody>
      </p:sp>
      <p:sp>
        <p:nvSpPr>
          <p:cNvPr id="1270963554" name="Shape 25"/>
          <p:cNvSpPr/>
          <p:nvPr/>
        </p:nvSpPr>
        <p:spPr bwMode="auto">
          <a:xfrm>
            <a:off x="4937760" y="4489704"/>
            <a:ext cx="219456" cy="219456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61893950" name="Text 26"/>
          <p:cNvSpPr txBox="1"/>
          <p:nvPr/>
        </p:nvSpPr>
        <p:spPr bwMode="auto">
          <a:xfrm>
            <a:off x="5248656" y="4160519"/>
            <a:ext cx="2752343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Consentimiento (Ley 19.628, arts. 12 y 16 sexies)</a:t>
            </a:r>
            <a:endParaRPr lang="en-US" sz="1200"/>
          </a:p>
        </p:txBody>
      </p:sp>
      <p:sp>
        <p:nvSpPr>
          <p:cNvPr id="1205437729" name="Text 27"/>
          <p:cNvSpPr txBox="1"/>
          <p:nvPr/>
        </p:nvSpPr>
        <p:spPr bwMode="auto">
          <a:xfrm>
            <a:off x="8138160" y="4160519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La búsqueda funciona sin ubicación: exigirla haría el consentimiento no libre. Debe ser informado y revocable.</a:t>
            </a:r>
            <a:endParaRPr lang="en-US" sz="1200"/>
          </a:p>
        </p:txBody>
      </p:sp>
      <p:sp>
        <p:nvSpPr>
          <p:cNvPr id="1508856923" name="Shape 28"/>
          <p:cNvSpPr/>
          <p:nvPr/>
        </p:nvSpPr>
        <p:spPr bwMode="auto">
          <a:xfrm>
            <a:off x="457200" y="5184648"/>
            <a:ext cx="11274552" cy="1024128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46159093" name="Text 29"/>
          <p:cNvSpPr txBox="1"/>
          <p:nvPr/>
        </p:nvSpPr>
        <p:spPr bwMode="auto">
          <a:xfrm>
            <a:off x="548640" y="527608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F4 Compraventa y pago</a:t>
            </a:r>
            <a:endParaRPr lang="en-US" sz="1300"/>
          </a:p>
        </p:txBody>
      </p:sp>
      <p:sp>
        <p:nvSpPr>
          <p:cNvPr id="1494504159" name="Text 30"/>
          <p:cNvSpPr txBox="1"/>
          <p:nvPr/>
        </p:nvSpPr>
        <p:spPr bwMode="auto">
          <a:xfrm>
            <a:off x="2606040" y="5276088"/>
            <a:ext cx="2194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Cobrar y dejar respaldo</a:t>
            </a:r>
            <a:endParaRPr lang="en-US" sz="1300"/>
          </a:p>
        </p:txBody>
      </p:sp>
      <p:sp>
        <p:nvSpPr>
          <p:cNvPr id="414327771" name="Shape 31"/>
          <p:cNvSpPr/>
          <p:nvPr/>
        </p:nvSpPr>
        <p:spPr bwMode="auto">
          <a:xfrm>
            <a:off x="4937760" y="5367528"/>
            <a:ext cx="219456" cy="219456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801023612" name="Text 32"/>
          <p:cNvSpPr txBox="1"/>
          <p:nvPr/>
        </p:nvSpPr>
        <p:spPr bwMode="auto">
          <a:xfrm>
            <a:off x="5248656" y="5257800"/>
            <a:ext cx="27523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Contrato (Ley 19.628, art. 13 c)</a:t>
            </a:r>
            <a:endParaRPr lang="en-US" sz="1200"/>
          </a:p>
        </p:txBody>
      </p:sp>
      <p:sp>
        <p:nvSpPr>
          <p:cNvPr id="1403090995" name="Shape 33"/>
          <p:cNvSpPr/>
          <p:nvPr/>
        </p:nvSpPr>
        <p:spPr bwMode="auto">
          <a:xfrm>
            <a:off x="4937760" y="5806440"/>
            <a:ext cx="219456" cy="219456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223478873" name="Text 34"/>
          <p:cNvSpPr txBox="1"/>
          <p:nvPr/>
        </p:nvSpPr>
        <p:spPr bwMode="auto">
          <a:xfrm>
            <a:off x="5248656" y="5696712"/>
            <a:ext cx="275234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Obligación legal a confirmar (Ley 19.628, art. 13 b; DL 830, arts. 17 y 200)</a:t>
            </a:r>
            <a:endParaRPr lang="en-US" sz="1200"/>
          </a:p>
        </p:txBody>
      </p:sp>
      <p:sp>
        <p:nvSpPr>
          <p:cNvPr id="2083948935" name="Text 35"/>
          <p:cNvSpPr txBox="1"/>
          <p:nvPr/>
        </p:nvSpPr>
        <p:spPr bwMode="auto">
          <a:xfrm>
            <a:off x="8138160" y="5257800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Son pasos necesarios de la compra. Si MercadoPago recauda por el vendedor, la contabilidad se guarda hasta 6 años.</a:t>
            </a:r>
            <a:endParaRPr lang="en-US" sz="1200"/>
          </a:p>
        </p:txBody>
      </p:sp>
      <p:sp>
        <p:nvSpPr>
          <p:cNvPr id="1026461786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201400" y="641908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226981" name="Text 0"/>
          <p:cNvSpPr/>
          <p:nvPr>
            <p:ph type="title" idx="100" hasCustomPrompt="1"/>
          </p:nvPr>
        </p:nvSpPr>
        <p:spPr bwMode="auto"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Cifrado: qué técnica protege cada dato</a:t>
            </a:r>
            <a:endParaRPr lang="en-US" sz="3000"/>
          </a:p>
        </p:txBody>
      </p:sp>
      <p:sp>
        <p:nvSpPr>
          <p:cNvPr id="988687750" name="Text 0"/>
          <p:cNvSpPr/>
          <p:nvPr>
            <p:ph type="body" idx="101" hasCustomPrompt="1"/>
          </p:nvPr>
        </p:nvSpPr>
        <p:spPr bwMode="auto"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Medidas de seguridad apropiadas al riesgo (Ley 19.628, art. 14 quinquies)</a:t>
            </a:r>
            <a:endParaRPr lang="en-US" sz="1400"/>
          </a:p>
        </p:txBody>
      </p:sp>
      <p:sp>
        <p:nvSpPr>
          <p:cNvPr id="1407749221" name="Shape 2"/>
          <p:cNvSpPr/>
          <p:nvPr/>
        </p:nvSpPr>
        <p:spPr bwMode="auto">
          <a:xfrm>
            <a:off x="548640" y="1508759"/>
            <a:ext cx="2130552" cy="4160519"/>
          </a:xfrm>
          <a:prstGeom prst="roundRect">
            <a:avLst>
              <a:gd name="adj" fmla="val 515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01600" dist="38100" dir="5400000" sx="100000" sy="100000" kx="0" ky="0" algn="bl" rotWithShape="0">
              <a:srgbClr val="000000">
                <a:alpha val="55000"/>
              </a:srgbClr>
            </a:outerShdw>
          </a:effectLst>
        </p:spPr>
      </p:sp>
      <p:sp>
        <p:nvSpPr>
          <p:cNvPr id="1444993112" name="Shape 3"/>
          <p:cNvSpPr/>
          <p:nvPr/>
        </p:nvSpPr>
        <p:spPr bwMode="auto">
          <a:xfrm>
            <a:off x="612648" y="1572768"/>
            <a:ext cx="2002536" cy="4032504"/>
          </a:xfrm>
          <a:prstGeom prst="roundRect">
            <a:avLst>
              <a:gd name="adj" fmla="val 456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90894581" name="Shape 4"/>
          <p:cNvSpPr/>
          <p:nvPr/>
        </p:nvSpPr>
        <p:spPr bwMode="auto">
          <a:xfrm>
            <a:off x="704088" y="1664208"/>
            <a:ext cx="1819656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60912370" name="Text 5"/>
          <p:cNvSpPr txBox="1"/>
          <p:nvPr/>
        </p:nvSpPr>
        <p:spPr bwMode="auto">
          <a:xfrm>
            <a:off x="795528" y="16642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bcrypt</a:t>
            </a:r>
            <a:endParaRPr lang="en-US" sz="1400"/>
          </a:p>
        </p:txBody>
      </p:sp>
      <p:sp>
        <p:nvSpPr>
          <p:cNvPr id="876719495" name="Shape 6"/>
          <p:cNvSpPr/>
          <p:nvPr/>
        </p:nvSpPr>
        <p:spPr bwMode="auto">
          <a:xfrm>
            <a:off x="2203704" y="1741932"/>
            <a:ext cx="228600" cy="228600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919673581" name="Shape 7"/>
          <p:cNvSpPr/>
          <p:nvPr/>
        </p:nvSpPr>
        <p:spPr bwMode="auto">
          <a:xfrm>
            <a:off x="758952" y="2112264"/>
            <a:ext cx="1709928" cy="914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53820162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4732" y="2240280"/>
            <a:ext cx="658368" cy="658368"/>
          </a:xfrm>
          <a:prstGeom prst="rect">
            <a:avLst/>
          </a:prstGeom>
        </p:spPr>
      </p:pic>
      <p:sp>
        <p:nvSpPr>
          <p:cNvPr id="131084962" name="Shape 8"/>
          <p:cNvSpPr/>
          <p:nvPr/>
        </p:nvSpPr>
        <p:spPr bwMode="auto">
          <a:xfrm>
            <a:off x="704088" y="3090672"/>
            <a:ext cx="1819656" cy="329184"/>
          </a:xfrm>
          <a:prstGeom prst="roundRect">
            <a:avLst>
              <a:gd name="adj" fmla="val 19444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64141907" name="Text 9"/>
          <p:cNvSpPr txBox="1"/>
          <p:nvPr/>
        </p:nvSpPr>
        <p:spPr bwMode="auto">
          <a:xfrm>
            <a:off x="795528" y="3090672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Hashing — costo 12</a:t>
            </a:r>
            <a:endParaRPr lang="en-US" sz="1000"/>
          </a:p>
        </p:txBody>
      </p:sp>
      <p:sp>
        <p:nvSpPr>
          <p:cNvPr id="385856428" name="Shape 10"/>
          <p:cNvSpPr/>
          <p:nvPr/>
        </p:nvSpPr>
        <p:spPr bwMode="auto">
          <a:xfrm>
            <a:off x="758952" y="3483864"/>
            <a:ext cx="1709928" cy="2002536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33937444" name="Text 11"/>
          <p:cNvSpPr txBox="1"/>
          <p:nvPr/>
        </p:nvSpPr>
        <p:spPr bwMode="auto">
          <a:xfrm>
            <a:off x="850392" y="3557016"/>
            <a:ext cx="15270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Protege: contraseña.</a:t>
            </a:r>
            <a:endParaRPr lang="en-US" sz="13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Baja entropía: hash lento y con “salt” contra fuerza bruta si se filtra la base.</a:t>
            </a:r>
            <a:endParaRPr lang="en-US" sz="1300"/>
          </a:p>
        </p:txBody>
      </p:sp>
      <p:sp>
        <p:nvSpPr>
          <p:cNvPr id="1006251722" name="Shape 12"/>
          <p:cNvSpPr/>
          <p:nvPr/>
        </p:nvSpPr>
        <p:spPr bwMode="auto">
          <a:xfrm>
            <a:off x="2816352" y="1508759"/>
            <a:ext cx="2130552" cy="4160519"/>
          </a:xfrm>
          <a:prstGeom prst="roundRect">
            <a:avLst>
              <a:gd name="adj" fmla="val 515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01600" dist="38100" dir="5400000" sx="100000" sy="100000" kx="0" ky="0" algn="bl" rotWithShape="0">
              <a:srgbClr val="000000">
                <a:alpha val="55000"/>
              </a:srgbClr>
            </a:outerShdw>
          </a:effectLst>
        </p:spPr>
      </p:sp>
      <p:sp>
        <p:nvSpPr>
          <p:cNvPr id="1196181710" name="Shape 13"/>
          <p:cNvSpPr/>
          <p:nvPr/>
        </p:nvSpPr>
        <p:spPr bwMode="auto">
          <a:xfrm>
            <a:off x="2880360" y="1572768"/>
            <a:ext cx="2002536" cy="4032504"/>
          </a:xfrm>
          <a:prstGeom prst="roundRect">
            <a:avLst>
              <a:gd name="adj" fmla="val 456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695701" name="Shape 14"/>
          <p:cNvSpPr/>
          <p:nvPr/>
        </p:nvSpPr>
        <p:spPr bwMode="auto">
          <a:xfrm>
            <a:off x="2971800" y="1664208"/>
            <a:ext cx="1819656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26249757" name="Text 15"/>
          <p:cNvSpPr txBox="1"/>
          <p:nvPr/>
        </p:nvSpPr>
        <p:spPr bwMode="auto">
          <a:xfrm>
            <a:off x="3063240" y="16642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SHA-256</a:t>
            </a:r>
            <a:endParaRPr lang="en-US" sz="1400"/>
          </a:p>
        </p:txBody>
      </p:sp>
      <p:sp>
        <p:nvSpPr>
          <p:cNvPr id="1120401471" name="Shape 16"/>
          <p:cNvSpPr/>
          <p:nvPr/>
        </p:nvSpPr>
        <p:spPr bwMode="auto">
          <a:xfrm>
            <a:off x="4471416" y="1741932"/>
            <a:ext cx="228600" cy="2286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839213044" name="Shape 17"/>
          <p:cNvSpPr/>
          <p:nvPr/>
        </p:nvSpPr>
        <p:spPr bwMode="auto">
          <a:xfrm>
            <a:off x="3026664" y="2112264"/>
            <a:ext cx="1709928" cy="914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753142893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52444" y="2240280"/>
            <a:ext cx="658368" cy="658368"/>
          </a:xfrm>
          <a:prstGeom prst="rect">
            <a:avLst/>
          </a:prstGeom>
        </p:spPr>
      </p:pic>
      <p:sp>
        <p:nvSpPr>
          <p:cNvPr id="698551177" name="Shape 18"/>
          <p:cNvSpPr/>
          <p:nvPr/>
        </p:nvSpPr>
        <p:spPr bwMode="auto">
          <a:xfrm>
            <a:off x="2971800" y="3090672"/>
            <a:ext cx="1819656" cy="329184"/>
          </a:xfrm>
          <a:prstGeom prst="roundRect">
            <a:avLst>
              <a:gd name="adj" fmla="val 19444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345016373" name="Text 19"/>
          <p:cNvSpPr txBox="1"/>
          <p:nvPr/>
        </p:nvSpPr>
        <p:spPr bwMode="auto">
          <a:xfrm>
            <a:off x="3063240" y="3090672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Hashing</a:t>
            </a:r>
            <a:endParaRPr lang="en-US" sz="1000"/>
          </a:p>
        </p:txBody>
      </p:sp>
      <p:sp>
        <p:nvSpPr>
          <p:cNvPr id="734279891" name="Shape 20"/>
          <p:cNvSpPr/>
          <p:nvPr/>
        </p:nvSpPr>
        <p:spPr bwMode="auto">
          <a:xfrm>
            <a:off x="3026664" y="3483864"/>
            <a:ext cx="1709928" cy="2002536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039190033" name="Text 21"/>
          <p:cNvSpPr txBox="1"/>
          <p:nvPr/>
        </p:nvSpPr>
        <p:spPr bwMode="auto">
          <a:xfrm>
            <a:off x="3118104" y="3557016"/>
            <a:ext cx="15270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Protege: token de renovación.</a:t>
            </a:r>
            <a:endParaRPr lang="en-US" sz="13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Aleatorio de 512 bits: basta un hash rápido. Se rota en cada uso.</a:t>
            </a:r>
            <a:endParaRPr lang="en-US" sz="1300"/>
          </a:p>
        </p:txBody>
      </p:sp>
      <p:sp>
        <p:nvSpPr>
          <p:cNvPr id="679318025" name="Shape 22"/>
          <p:cNvSpPr/>
          <p:nvPr/>
        </p:nvSpPr>
        <p:spPr bwMode="auto">
          <a:xfrm>
            <a:off x="5084064" y="1508759"/>
            <a:ext cx="2130552" cy="4160519"/>
          </a:xfrm>
          <a:prstGeom prst="roundRect">
            <a:avLst>
              <a:gd name="adj" fmla="val 515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01600" dist="38100" dir="5400000" sx="100000" sy="100000" kx="0" ky="0" algn="bl" rotWithShape="0">
              <a:srgbClr val="000000">
                <a:alpha val="55000"/>
              </a:srgbClr>
            </a:outerShdw>
          </a:effectLst>
        </p:spPr>
      </p:sp>
      <p:sp>
        <p:nvSpPr>
          <p:cNvPr id="2085014063" name="Shape 23"/>
          <p:cNvSpPr/>
          <p:nvPr/>
        </p:nvSpPr>
        <p:spPr bwMode="auto">
          <a:xfrm>
            <a:off x="5148072" y="1572768"/>
            <a:ext cx="2002536" cy="4032504"/>
          </a:xfrm>
          <a:prstGeom prst="roundRect">
            <a:avLst>
              <a:gd name="adj" fmla="val 456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19340702" name="Shape 24"/>
          <p:cNvSpPr/>
          <p:nvPr/>
        </p:nvSpPr>
        <p:spPr bwMode="auto">
          <a:xfrm>
            <a:off x="5239512" y="1664208"/>
            <a:ext cx="1819656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031852260" name="Text 25"/>
          <p:cNvSpPr txBox="1"/>
          <p:nvPr/>
        </p:nvSpPr>
        <p:spPr bwMode="auto">
          <a:xfrm>
            <a:off x="5330952" y="16642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AES-256-GCM</a:t>
            </a:r>
            <a:endParaRPr lang="en-US" sz="1400"/>
          </a:p>
        </p:txBody>
      </p:sp>
      <p:sp>
        <p:nvSpPr>
          <p:cNvPr id="603617752" name="Shape 26"/>
          <p:cNvSpPr/>
          <p:nvPr/>
        </p:nvSpPr>
        <p:spPr bwMode="auto">
          <a:xfrm>
            <a:off x="6739128" y="1741932"/>
            <a:ext cx="228600" cy="22860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44151607" name="Shape 27"/>
          <p:cNvSpPr/>
          <p:nvPr/>
        </p:nvSpPr>
        <p:spPr bwMode="auto">
          <a:xfrm>
            <a:off x="5294376" y="2112264"/>
            <a:ext cx="1709928" cy="914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1953978086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820156" y="2240280"/>
            <a:ext cx="658368" cy="658368"/>
          </a:xfrm>
          <a:prstGeom prst="rect">
            <a:avLst/>
          </a:prstGeom>
        </p:spPr>
      </p:pic>
      <p:sp>
        <p:nvSpPr>
          <p:cNvPr id="1663429273" name="Shape 28"/>
          <p:cNvSpPr/>
          <p:nvPr/>
        </p:nvSpPr>
        <p:spPr bwMode="auto">
          <a:xfrm>
            <a:off x="5239512" y="3090672"/>
            <a:ext cx="1819656" cy="329184"/>
          </a:xfrm>
          <a:prstGeom prst="roundRect">
            <a:avLst>
              <a:gd name="adj" fmla="val 19444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766789845" name="Text 29"/>
          <p:cNvSpPr txBox="1"/>
          <p:nvPr/>
        </p:nvSpPr>
        <p:spPr bwMode="auto">
          <a:xfrm>
            <a:off x="5330952" y="3090672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Cifrado simétrico</a:t>
            </a:r>
            <a:endParaRPr lang="en-US" sz="1000"/>
          </a:p>
        </p:txBody>
      </p:sp>
      <p:sp>
        <p:nvSpPr>
          <p:cNvPr id="330245774" name="Shape 30"/>
          <p:cNvSpPr/>
          <p:nvPr/>
        </p:nvSpPr>
        <p:spPr bwMode="auto">
          <a:xfrm>
            <a:off x="5294376" y="3483864"/>
            <a:ext cx="1709928" cy="2002536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56784711" name="Text 31"/>
          <p:cNvSpPr txBox="1"/>
          <p:nvPr/>
        </p:nvSpPr>
        <p:spPr bwMode="auto">
          <a:xfrm>
            <a:off x="5385816" y="3557016"/>
            <a:ext cx="15270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Protege: secreto 2FA y ubicación.</a:t>
            </a:r>
            <a:endParaRPr lang="en-US" sz="13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Hay que recuperarlos. GCM detecta alteraciones.</a:t>
            </a:r>
            <a:endParaRPr lang="en-US" sz="1300"/>
          </a:p>
        </p:txBody>
      </p:sp>
      <p:sp>
        <p:nvSpPr>
          <p:cNvPr id="1213356699" name="Shape 32"/>
          <p:cNvSpPr/>
          <p:nvPr/>
        </p:nvSpPr>
        <p:spPr bwMode="auto">
          <a:xfrm>
            <a:off x="7351776" y="1508759"/>
            <a:ext cx="2130552" cy="4160519"/>
          </a:xfrm>
          <a:prstGeom prst="roundRect">
            <a:avLst>
              <a:gd name="adj" fmla="val 515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01600" dist="38100" dir="5400000" sx="100000" sy="100000" kx="0" ky="0" algn="bl" rotWithShape="0">
              <a:srgbClr val="000000">
                <a:alpha val="55000"/>
              </a:srgbClr>
            </a:outerShdw>
          </a:effectLst>
        </p:spPr>
      </p:sp>
      <p:sp>
        <p:nvSpPr>
          <p:cNvPr id="352606018" name="Shape 33"/>
          <p:cNvSpPr/>
          <p:nvPr/>
        </p:nvSpPr>
        <p:spPr bwMode="auto">
          <a:xfrm>
            <a:off x="7415784" y="1572768"/>
            <a:ext cx="2002536" cy="4032504"/>
          </a:xfrm>
          <a:prstGeom prst="roundRect">
            <a:avLst>
              <a:gd name="adj" fmla="val 456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84537" name="Shape 34"/>
          <p:cNvSpPr/>
          <p:nvPr/>
        </p:nvSpPr>
        <p:spPr bwMode="auto">
          <a:xfrm>
            <a:off x="7507224" y="1664208"/>
            <a:ext cx="1819656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73503526" name="Text 35"/>
          <p:cNvSpPr txBox="1"/>
          <p:nvPr/>
        </p:nvSpPr>
        <p:spPr bwMode="auto">
          <a:xfrm>
            <a:off x="7598664" y="16642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Tokenización</a:t>
            </a:r>
            <a:endParaRPr lang="en-US" sz="1400"/>
          </a:p>
        </p:txBody>
      </p:sp>
      <p:sp>
        <p:nvSpPr>
          <p:cNvPr id="700857935" name="Shape 36"/>
          <p:cNvSpPr/>
          <p:nvPr/>
        </p:nvSpPr>
        <p:spPr bwMode="auto">
          <a:xfrm>
            <a:off x="9006840" y="1741932"/>
            <a:ext cx="228600" cy="228600"/>
          </a:xfrm>
          <a:prstGeom prst="ellipse">
            <a:avLst/>
          </a:prstGeom>
          <a:solidFill>
            <a:schemeClr val="accent3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936707170" name="Shape 37"/>
          <p:cNvSpPr/>
          <p:nvPr/>
        </p:nvSpPr>
        <p:spPr bwMode="auto">
          <a:xfrm>
            <a:off x="7562088" y="2112264"/>
            <a:ext cx="1709928" cy="914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1401456930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087868" y="2240280"/>
            <a:ext cx="658368" cy="658368"/>
          </a:xfrm>
          <a:prstGeom prst="rect">
            <a:avLst/>
          </a:prstGeom>
        </p:spPr>
      </p:pic>
      <p:sp>
        <p:nvSpPr>
          <p:cNvPr id="1012353484" name="Shape 38"/>
          <p:cNvSpPr/>
          <p:nvPr/>
        </p:nvSpPr>
        <p:spPr bwMode="auto">
          <a:xfrm>
            <a:off x="7507224" y="3090672"/>
            <a:ext cx="1819656" cy="329184"/>
          </a:xfrm>
          <a:prstGeom prst="roundRect">
            <a:avLst>
              <a:gd name="adj" fmla="val 19444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68247392" name="Text 39"/>
          <p:cNvSpPr txBox="1"/>
          <p:nvPr/>
        </p:nvSpPr>
        <p:spPr bwMode="auto">
          <a:xfrm>
            <a:off x="7598664" y="3090672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Bóveda — MercadoPago</a:t>
            </a:r>
            <a:endParaRPr lang="en-US" sz="1000"/>
          </a:p>
        </p:txBody>
      </p:sp>
      <p:sp>
        <p:nvSpPr>
          <p:cNvPr id="380305495" name="Shape 40"/>
          <p:cNvSpPr/>
          <p:nvPr/>
        </p:nvSpPr>
        <p:spPr bwMode="auto">
          <a:xfrm>
            <a:off x="7562088" y="3483864"/>
            <a:ext cx="1709928" cy="2002536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101427546" name="Text 41"/>
          <p:cNvSpPr txBox="1"/>
          <p:nvPr/>
        </p:nvSpPr>
        <p:spPr bwMode="auto">
          <a:xfrm>
            <a:off x="7653528" y="3557016"/>
            <a:ext cx="15270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Protege: datos de tarjeta.</a:t>
            </a:r>
            <a:endParaRPr lang="en-US" sz="13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La tarjeta nunca entra al sistema: solo se guarda la referencia del pago.</a:t>
            </a:r>
            <a:endParaRPr lang="en-US" sz="1300"/>
          </a:p>
        </p:txBody>
      </p:sp>
      <p:sp>
        <p:nvSpPr>
          <p:cNvPr id="1138467271" name="Shape 42"/>
          <p:cNvSpPr/>
          <p:nvPr/>
        </p:nvSpPr>
        <p:spPr bwMode="auto">
          <a:xfrm>
            <a:off x="9619488" y="1508759"/>
            <a:ext cx="2130552" cy="4160519"/>
          </a:xfrm>
          <a:prstGeom prst="roundRect">
            <a:avLst>
              <a:gd name="adj" fmla="val 515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01600" dist="38100" dir="5400000" sx="100000" sy="100000" kx="0" ky="0" algn="bl" rotWithShape="0">
              <a:srgbClr val="000000">
                <a:alpha val="55000"/>
              </a:srgbClr>
            </a:outerShdw>
          </a:effectLst>
        </p:spPr>
      </p:sp>
      <p:sp>
        <p:nvSpPr>
          <p:cNvPr id="168035204" name="Shape 43"/>
          <p:cNvSpPr/>
          <p:nvPr/>
        </p:nvSpPr>
        <p:spPr bwMode="auto">
          <a:xfrm>
            <a:off x="9683496" y="1572768"/>
            <a:ext cx="2002536" cy="4032504"/>
          </a:xfrm>
          <a:prstGeom prst="roundRect">
            <a:avLst>
              <a:gd name="adj" fmla="val 456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575372" name="Shape 44"/>
          <p:cNvSpPr/>
          <p:nvPr/>
        </p:nvSpPr>
        <p:spPr bwMode="auto">
          <a:xfrm>
            <a:off x="9774936" y="1664208"/>
            <a:ext cx="1819656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692107321" name="Text 45"/>
          <p:cNvSpPr txBox="1"/>
          <p:nvPr/>
        </p:nvSpPr>
        <p:spPr bwMode="auto">
          <a:xfrm>
            <a:off x="9866375" y="1664208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400" b="1">
                <a:solidFill>
                  <a:schemeClr val="tx1"/>
                </a:solidFill>
                <a:latin typeface="Cambria"/>
                <a:ea typeface="Cambria"/>
                <a:cs typeface="Cambria"/>
              </a:rPr>
              <a:t>HMAC-SHA256</a:t>
            </a:r>
            <a:endParaRPr lang="en-US" sz="1400"/>
          </a:p>
        </p:txBody>
      </p:sp>
      <p:sp>
        <p:nvSpPr>
          <p:cNvPr id="1334922454" name="Shape 46"/>
          <p:cNvSpPr/>
          <p:nvPr/>
        </p:nvSpPr>
        <p:spPr bwMode="auto">
          <a:xfrm>
            <a:off x="11274552" y="1741932"/>
            <a:ext cx="228600" cy="228600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7726642" name="Shape 47"/>
          <p:cNvSpPr/>
          <p:nvPr/>
        </p:nvSpPr>
        <p:spPr bwMode="auto">
          <a:xfrm>
            <a:off x="9829800" y="2112264"/>
            <a:ext cx="1709928" cy="914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pic>
        <p:nvPicPr>
          <p:cNvPr id="926284125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0355579" y="2240280"/>
            <a:ext cx="658368" cy="658368"/>
          </a:xfrm>
          <a:prstGeom prst="rect">
            <a:avLst/>
          </a:prstGeom>
        </p:spPr>
      </p:pic>
      <p:sp>
        <p:nvSpPr>
          <p:cNvPr id="55093755" name="Shape 48"/>
          <p:cNvSpPr/>
          <p:nvPr/>
        </p:nvSpPr>
        <p:spPr bwMode="auto">
          <a:xfrm>
            <a:off x="9774936" y="3090672"/>
            <a:ext cx="1819656" cy="329184"/>
          </a:xfrm>
          <a:prstGeom prst="roundRect">
            <a:avLst>
              <a:gd name="adj" fmla="val 19444"/>
            </a:avLst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244609799" name="Text 49"/>
          <p:cNvSpPr txBox="1"/>
          <p:nvPr/>
        </p:nvSpPr>
        <p:spPr bwMode="auto">
          <a:xfrm>
            <a:off x="9866375" y="3090672"/>
            <a:ext cx="1636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Firma</a:t>
            </a:r>
            <a:endParaRPr lang="en-US" sz="1000"/>
          </a:p>
        </p:txBody>
      </p:sp>
      <p:sp>
        <p:nvSpPr>
          <p:cNvPr id="251566169" name="Shape 50"/>
          <p:cNvSpPr/>
          <p:nvPr/>
        </p:nvSpPr>
        <p:spPr bwMode="auto">
          <a:xfrm>
            <a:off x="9829800" y="3483864"/>
            <a:ext cx="1709928" cy="2002536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075838634" name="Text 51"/>
          <p:cNvSpPr txBox="1"/>
          <p:nvPr/>
        </p:nvSpPr>
        <p:spPr bwMode="auto">
          <a:xfrm>
            <a:off x="9921240" y="3557016"/>
            <a:ext cx="152704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Protege: sesión, QR temporal y aviso de pago.</a:t>
            </a:r>
            <a:endParaRPr lang="en-US" sz="1300"/>
          </a:p>
          <a:p>
            <a:pPr marL="0" indent="0">
              <a:spcAft>
                <a:spcPts val="400"/>
              </a:spcAft>
              <a:buNone/>
              <a:defRPr/>
            </a:pPr>
            <a:r>
              <a:rPr lang="en-US" sz="13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No se oculta: se verifica quién lo emitió.</a:t>
            </a:r>
            <a:endParaRPr lang="en-US" sz="1300"/>
          </a:p>
        </p:txBody>
      </p:sp>
      <p:sp>
        <p:nvSpPr>
          <p:cNvPr id="1605897512" name="Shape 52"/>
          <p:cNvSpPr/>
          <p:nvPr/>
        </p:nvSpPr>
        <p:spPr bwMode="auto">
          <a:xfrm>
            <a:off x="548640" y="5788152"/>
            <a:ext cx="11091672" cy="566928"/>
          </a:xfrm>
          <a:prstGeom prst="roundRect">
            <a:avLst>
              <a:gd name="adj" fmla="val 12903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52735196" name="Text 53"/>
          <p:cNvSpPr txBox="1"/>
          <p:nvPr/>
        </p:nvSpPr>
        <p:spPr bwMode="auto">
          <a:xfrm>
            <a:off x="731520" y="57881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5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Sin cifrar a propósito: </a:t>
            </a:r>
            <a:r>
              <a:rPr lang="en-US" sz="12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el correo (se busca por igualdad al iniciar sesión) y el nombre visible (es público por diseño). Se protegen en tránsito y a nivel de disco.</a:t>
            </a:r>
            <a:endParaRPr lang="en-US" sz="1250"/>
          </a:p>
        </p:txBody>
      </p:sp>
      <p:sp>
        <p:nvSpPr>
          <p:cNvPr id="1368926952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201400" y="641908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611143" name="Text 0"/>
          <p:cNvSpPr/>
          <p:nvPr>
            <p:ph type="title" idx="100" hasCustomPrompt="1"/>
          </p:nvPr>
        </p:nvSpPr>
        <p:spPr bwMode="auto">
          <a:xfrm>
            <a:off x="548640" y="3200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/>
            </a:pPr>
            <a:r>
              <a:rPr lang="en-US" sz="30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Conclusiones</a:t>
            </a:r>
            <a:endParaRPr lang="en-US" sz="3000"/>
          </a:p>
        </p:txBody>
      </p:sp>
      <p:sp>
        <p:nvSpPr>
          <p:cNvPr id="1265248467" name="Text 0"/>
          <p:cNvSpPr/>
          <p:nvPr>
            <p:ph type="body" idx="101" hasCustomPrompt="1"/>
          </p:nvPr>
        </p:nvSpPr>
        <p:spPr bwMode="auto"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400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Lo que encontramos al inventariar MTG Companion</a:t>
            </a:r>
            <a:endParaRPr lang="en-US" sz="1400"/>
          </a:p>
        </p:txBody>
      </p:sp>
      <p:sp>
        <p:nvSpPr>
          <p:cNvPr id="1025540066" name="Shape 2"/>
          <p:cNvSpPr/>
          <p:nvPr/>
        </p:nvSpPr>
        <p:spPr bwMode="auto">
          <a:xfrm>
            <a:off x="548640" y="1508759"/>
            <a:ext cx="3566160" cy="4297680"/>
          </a:xfrm>
          <a:prstGeom prst="roundRect">
            <a:avLst>
              <a:gd name="adj" fmla="val 2564"/>
            </a:avLst>
          </a:prstGeom>
          <a:solidFill>
            <a:schemeClr val="tx2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909076109" name="Shape 3"/>
          <p:cNvSpPr/>
          <p:nvPr/>
        </p:nvSpPr>
        <p:spPr bwMode="auto">
          <a:xfrm>
            <a:off x="731520" y="1691640"/>
            <a:ext cx="594360" cy="59436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/>
            </a:solidFill>
            <a:prstDash val="solid"/>
          </a:ln>
        </p:spPr>
      </p:sp>
      <p:pic>
        <p:nvPicPr>
          <p:cNvPr id="203863071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2960" y="1783080"/>
            <a:ext cx="411480" cy="411480"/>
          </a:xfrm>
          <a:prstGeom prst="rect">
            <a:avLst/>
          </a:prstGeom>
        </p:spPr>
      </p:pic>
      <p:sp>
        <p:nvSpPr>
          <p:cNvPr id="1254868767" name="Text 4"/>
          <p:cNvSpPr txBox="1"/>
          <p:nvPr/>
        </p:nvSpPr>
        <p:spPr bwMode="auto">
          <a:xfrm>
            <a:off x="1463040" y="1691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Datos más críticos</a:t>
            </a:r>
            <a:endParaRPr lang="en-US" sz="1700"/>
          </a:p>
        </p:txBody>
      </p:sp>
      <p:sp>
        <p:nvSpPr>
          <p:cNvPr id="661078746" name="Text 5"/>
          <p:cNvSpPr txBox="1"/>
          <p:nvPr/>
        </p:nvSpPr>
        <p:spPr bwMode="auto">
          <a:xfrm>
            <a:off x="731520" y="24688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Geolocalización: categoría especial, revela el domicilio.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Credenciales: su filtración permite suplantar al jugador.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Colección y compras: podrían revelar la situación socioeconómica.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Datos de posibles menores de edad.</a:t>
            </a:r>
            <a:endParaRPr lang="en-US" sz="1450"/>
          </a:p>
        </p:txBody>
      </p:sp>
      <p:sp>
        <p:nvSpPr>
          <p:cNvPr id="1558944493" name="Shape 6"/>
          <p:cNvSpPr/>
          <p:nvPr/>
        </p:nvSpPr>
        <p:spPr bwMode="auto">
          <a:xfrm>
            <a:off x="4297680" y="1508759"/>
            <a:ext cx="3566160" cy="4297680"/>
          </a:xfrm>
          <a:prstGeom prst="roundRect">
            <a:avLst>
              <a:gd name="adj" fmla="val 2564"/>
            </a:avLst>
          </a:prstGeom>
          <a:solidFill>
            <a:schemeClr val="tx2"/>
          </a:solidFill>
          <a:ln w="25400">
            <a:solidFill>
              <a:schemeClr val="accent6"/>
            </a:solidFill>
            <a:prstDash val="solid"/>
          </a:ln>
        </p:spPr>
      </p:sp>
      <p:sp>
        <p:nvSpPr>
          <p:cNvPr id="1703088652" name="Shape 7"/>
          <p:cNvSpPr/>
          <p:nvPr/>
        </p:nvSpPr>
        <p:spPr bwMode="auto">
          <a:xfrm>
            <a:off x="4480560" y="1691640"/>
            <a:ext cx="594360" cy="59436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6"/>
            </a:solidFill>
            <a:prstDash val="solid"/>
          </a:ln>
        </p:spPr>
      </p:sp>
      <p:pic>
        <p:nvPicPr>
          <p:cNvPr id="78909483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72000" y="1783080"/>
            <a:ext cx="411480" cy="411480"/>
          </a:xfrm>
          <a:prstGeom prst="rect">
            <a:avLst/>
          </a:prstGeom>
        </p:spPr>
      </p:pic>
      <p:sp>
        <p:nvSpPr>
          <p:cNvPr id="907698009" name="Text 8"/>
          <p:cNvSpPr txBox="1"/>
          <p:nvPr/>
        </p:nvSpPr>
        <p:spPr bwMode="auto">
          <a:xfrm>
            <a:off x="5212080" y="1691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Brechas y propuestas</a:t>
            </a:r>
            <a:endParaRPr lang="en-US" sz="1700"/>
          </a:p>
        </p:txBody>
      </p:sp>
      <p:sp>
        <p:nvSpPr>
          <p:cNvPr id="874262481" name="Text 9"/>
          <p:cNvSpPr txBox="1"/>
          <p:nvPr/>
        </p:nvSpPr>
        <p:spPr bwMode="auto">
          <a:xfrm>
            <a:off x="4480560" y="24688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Conservación indefinida → cierre de cuenta y limpieza (Ley 19.628, arts. 3 c y 7).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Ubicación → guardarla solo de vendedores, aviso propio, botón para revocar y redondeo (Ley 19.628, arts. 3 c y 16 sexies).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Sin edad → pedirla y autorización parental bajo 14 años (Ley 19.628, art. 16 quáter).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Sin política de privacidad (Ley 19.628, art. 14 ter) ni garantías para AWS en EE.UU. (Ley 19.628, art. 27).</a:t>
            </a:r>
            <a:endParaRPr lang="en-US" sz="1450"/>
          </a:p>
        </p:txBody>
      </p:sp>
      <p:sp>
        <p:nvSpPr>
          <p:cNvPr id="1875855067" name="Shape 10"/>
          <p:cNvSpPr/>
          <p:nvPr/>
        </p:nvSpPr>
        <p:spPr bwMode="auto">
          <a:xfrm>
            <a:off x="8046720" y="1508759"/>
            <a:ext cx="3566160" cy="4297680"/>
          </a:xfrm>
          <a:prstGeom prst="roundRect">
            <a:avLst>
              <a:gd name="adj" fmla="val 2564"/>
            </a:avLst>
          </a:prstGeom>
          <a:solidFill>
            <a:schemeClr val="tx2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48840013" name="Shape 11"/>
          <p:cNvSpPr/>
          <p:nvPr/>
        </p:nvSpPr>
        <p:spPr bwMode="auto">
          <a:xfrm>
            <a:off x="8229600" y="1691640"/>
            <a:ext cx="594360" cy="59436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5"/>
            </a:solidFill>
            <a:prstDash val="solid"/>
          </a:ln>
        </p:spPr>
      </p:sp>
      <p:pic>
        <p:nvPicPr>
          <p:cNvPr id="446215811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321039" y="1783080"/>
            <a:ext cx="411480" cy="411480"/>
          </a:xfrm>
          <a:prstGeom prst="rect">
            <a:avLst/>
          </a:prstGeom>
        </p:spPr>
      </p:pic>
      <p:sp>
        <p:nvSpPr>
          <p:cNvPr id="204236595" name="Text 12"/>
          <p:cNvSpPr txBox="1"/>
          <p:nvPr/>
        </p:nvSpPr>
        <p:spPr bwMode="auto">
          <a:xfrm>
            <a:off x="8961120" y="1691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chemeClr val="bg2"/>
                </a:solidFill>
                <a:latin typeface="Cambria"/>
                <a:ea typeface="Cambria"/>
                <a:cs typeface="Cambria"/>
              </a:rPr>
              <a:t>Dudas abiertas</a:t>
            </a:r>
            <a:endParaRPr lang="en-US" sz="1700"/>
          </a:p>
        </p:txBody>
      </p:sp>
      <p:sp>
        <p:nvSpPr>
          <p:cNvPr id="66050047" name="Text 13"/>
          <p:cNvSpPr txBox="1"/>
          <p:nvPr/>
        </p:nvSpPr>
        <p:spPr bwMode="auto">
          <a:xfrm>
            <a:off x="8229600" y="24688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¿El valor de una colección es "situación socioeconómica"?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¿Cómo acreditar la transferencia a AWS sin lista oficial de países adecuados?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¿MercadoPago es responsable independiente o encargado?</a:t>
            </a:r>
            <a:endParaRPr lang="en-US" sz="145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45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¿Qué edad mínima exigir?</a:t>
            </a:r>
            <a:endParaRPr lang="en-US" sz="1450"/>
          </a:p>
        </p:txBody>
      </p:sp>
      <p:sp>
        <p:nvSpPr>
          <p:cNvPr id="179185675" name="Text 14"/>
          <p:cNvSpPr txBox="1"/>
          <p:nvPr/>
        </p:nvSpPr>
        <p:spPr bwMode="auto"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 i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¿Preguntas?</a:t>
            </a:r>
            <a:endParaRPr lang="en-US" sz="2000"/>
          </a:p>
        </p:txBody>
      </p:sp>
      <p:sp>
        <p:nvSpPr>
          <p:cNvPr id="1610897620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201400" y="641908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>
              <a:defRPr/>
            </a:pPr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020503" name="Text 14"/>
          <p:cNvSpPr txBox="1"/>
          <p:nvPr/>
        </p:nvSpPr>
        <p:spPr bwMode="auto">
          <a:xfrm flipH="0" flipV="0">
            <a:off x="6635029" y="3429000"/>
            <a:ext cx="44935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800" b="1" i="1">
                <a:solidFill>
                  <a:schemeClr val="accent1"/>
                </a:solidFill>
                <a:latin typeface="Cambria"/>
                <a:ea typeface="Cambria"/>
                <a:cs typeface="Cambria"/>
              </a:rPr>
              <a:t>Muchas gracias por su atención</a:t>
            </a:r>
            <a:endParaRPr lang="en-US" sz="4800"/>
          </a:p>
        </p:txBody>
      </p:sp>
      <p:sp>
        <p:nvSpPr>
          <p:cNvPr id="42111993" name="Slide Number Placeholder 0"/>
          <p:cNvSpPr>
            <a:spLocks noGrp="1"/>
          </p:cNvSpPr>
          <p:nvPr>
            <p:ph type="sldNum" sz="quarter" idx="4294967295"/>
          </p:nvPr>
        </p:nvSpPr>
        <p:spPr bwMode="auto">
          <a:xfrm>
            <a:off x="11201399" y="6419088"/>
            <a:ext cx="45720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accent1"/>
                </a:solidFill>
                <a:latin typeface="Cambria"/>
                <a:ea typeface="Cambria"/>
                <a:cs typeface="Cambria"/>
              </a:defRPr>
            </a:lvl1pPr>
          </a:lstStyle>
          <a:p>
            <a:pPr algn="r">
              <a:defRPr/>
            </a:pPr>
            <a:fld id="{0499FFE0-FFE4-CB20-85F0-7A86B0D8922B}" type="slidenum">
              <a:rPr lang="en-US" b="0"/>
              <a:t>9</a:t>
            </a:fld>
            <a:endParaRPr lang="en-US"/>
          </a:p>
        </p:txBody>
      </p:sp>
      <p:pic>
        <p:nvPicPr>
          <p:cNvPr id="4053147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89365" y="814235"/>
            <a:ext cx="4342126" cy="5025609"/>
          </a:xfrm>
          <a:prstGeom prst="rect">
            <a:avLst/>
          </a:prstGeom>
        </p:spPr>
      </p:pic>
      <p:pic>
        <p:nvPicPr>
          <p:cNvPr id="2024930871" name=""/>
          <p:cNvPicPr>
            <a:picLocks noChangeAspect="1"/>
          </p:cNvPicPr>
          <p:nvPr/>
        </p:nvPicPr>
        <p:blipFill rotWithShape="1">
          <a:blip r:embed="rId4"/>
          <a:srcRect l="4628" t="4272" r="4861" b="4315"/>
          <a:stretch/>
        </p:blipFill>
        <p:spPr bwMode="auto">
          <a:xfrm flipH="0" flipV="0">
            <a:off x="3957283" y="3013603"/>
            <a:ext cx="2004591" cy="2826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ey y Magic">
  <a:themeElements>
    <a:clrScheme name="Ley y Magic">
      <a:dk1>
        <a:srgbClr val="120D09"/>
      </a:dk1>
      <a:lt1>
        <a:srgbClr val="FFFFFF"/>
      </a:lt1>
      <a:dk2>
        <a:srgbClr val="2B1F17"/>
      </a:dk2>
      <a:lt2>
        <a:srgbClr val="EFE4CC"/>
      </a:lt2>
      <a:accent1>
        <a:srgbClr val="C9A227"/>
      </a:accent1>
      <a:accent2>
        <a:srgbClr val="0E68AB"/>
      </a:accent2>
      <a:accent3>
        <a:srgbClr val="00733E"/>
      </a:accent3>
      <a:accent4>
        <a:srgbClr val="C8202A"/>
      </a:accent4>
      <a:accent5>
        <a:srgbClr val="E9DDB4"/>
      </a:accent5>
      <a:accent6>
        <a:srgbClr val="A79E94"/>
      </a:accent6>
      <a:hlink>
        <a:srgbClr val="0E68AB"/>
      </a:hlink>
      <a:folHlink>
        <a:srgbClr val="A79E94"/>
      </a:folHlink>
    </a:clrScheme>
    <a:fontScheme name="Ley y Magic">
      <a:majorFont>
        <a:latin typeface="Cambria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Hito 1 — Inventario y Clasificación de Datos Personales</dc:title>
  <dc:subject>PptxGenJS Presentation</dc:subject>
  <dc:creator>Vicente Fuentes · Tomás Rodriguez · Tomás Solano</dc:creator>
  <cp:lastModifiedBy/>
  <cp:revision>2</cp:revision>
  <dcterms:created xsi:type="dcterms:W3CDTF">2026-10-02T16:21:18Z</dcterms:created>
  <dcterms:modified xsi:type="dcterms:W3CDTF">2026-10-04T00:55:33Z</dcterms:modified>
</cp:coreProperties>
</file>