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0a2e0dbf-e230-c27b-9e3d-924c771cce4b}">
          <p14:sldIdLst>
            <p14:sldId id="256"/>
          </p14:sldIdLst>
        </p14:section>
        <p14:section name="Contexto" id="{f80003bd-7a25-3202-09ee-f0898a5c977a}">
          <p14:sldIdLst>
            <p14:sldId id="257"/>
          </p14:sldIdLst>
        </p14:section>
        <p14:section name="Inventario" id="{d544bfb4-0751-1281-9bc1-4d3e6b1e6979}">
          <p14:sldIdLst>
            <p14:sldId id="258"/>
          </p14:sldIdLst>
        </p14:section>
        <p14:section name="Mapa de flujos" id="{72063ace-b9d8-b15c-3d0e-d36aa8db943e}">
          <p14:sldIdLst>
            <p14:sldId id="259"/>
            <p14:sldId id="260"/>
          </p14:sldIdLst>
        </p14:section>
        <p14:section name="Clasificación y licitud" id="{62d0a9f0-5347-914b-6454-9947a7bad502}">
          <p14:sldIdLst>
            <p14:sldId id="261"/>
            <p14:sldId id="262"/>
          </p14:sldIdLst>
        </p14:section>
        <p14:section name="Cifrado" id="{df08310c-8f41-ba1e-5a01-97a074fde773}">
          <p14:sldIdLst>
            <p14:sldId id="263"/>
          </p14:sldIdLst>
        </p14:section>
        <p14:section name="Conclusiones" id="{dcbb8e22-1a73-df19-4211-37414d8c15fc}">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(30 s). Presentar al equipo y el caso: MTG Companion, una app móvil para jugadores de Magic que escanea cartas, las guarda en una colección y permite venderlas entre jugadores. En esta presentación mostramos qué datos personales trata, cómo fluyen, qué tan sensibles son, con qué base legal y cómo los protegemos.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Contexto (40 s). La app reconoce cartas con IA que corre en el teléfono, así que las imágenes de la cámara no llegan al servidor salvo que el usuario publique una foto. El servidor está en AWS, en Estados Unidos. Actores: el jugador es el titular; nosotros somos responsables; AWS y el proveedor de correo son encargados; MercadoPago es responsable de su propio tratamiento; otros jugadores son destinatarios. Usamos el texto de la Ley 19.628 modificado por la Ley 21.719, que rige desde el 1 de diciembre de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Inventario (40 s). 12 filas en 9 categorías, sacadas del esquema real de la base de datos. Los destacados: la geolocalización, que es categoría especial; las credenciales, porque permiten suplantar al jugador; y el patrimonio y lo financiero, que juntos podrían revelar la situación socioeconómica. Casi todo se basa en el contrato, porque es lo necesario para dar el servicio. Hallazgo: hoy nada se borra, porque no existe cierre de cuenta ni limpieza periódica.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Mapa de flujos (30 s). A la izquierda el teléfono, a la derecha la nube de AWS, abajo los terceros. F1 registro: la contraseña se guarda como hash y el 2FA cifrado. F2 escaneo: los fotogramas no salen del teléfono; solo sube la foto que se publica. F3 ubicación: llega cifrada y a otros jugadores solo sale la distancia. F4 pago: a MercadoPago solo va id, título y monto; la tarjeta se ingresa en su sitio.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F3 en detalle (45 s). Al abrir el Bazaar se pide el permiso de ubicación; el servidor cifra la latitud y longitud. Cuando alguien busca, se descifran solo en memoria para calcular la distancia y se responde en kilómetros. La base es el consentimiento, porque la búsqueda funciona sin ubicación. Riesgo: triangulación, que se mitiga redondeando. Brecha: hoy se guarda la ubicación de todo jugador con sesión que abre el Bazaar, aunque no venda; además el consentimiento no está bien informado ni se puede revocar desde la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Clasificación (40 s). Dos categorías especiales: la geolocalización, que exige informar finalidad y duración y permite inferir el domicilio; y los menores, porque Magic tiene jugadores adolescentes y la app no pregunta la edad. La colección y las compras, sumadas, podrían revelar la situación socioeconómica, que es dato sensible. Y los fotogramas de la cámara no son biométricos, porque la IA solo reconoce cartas, no personas. Las credenciales no son sensibles por ley, pero son las más críticas técnicamente.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de licitud (45 s). Criterio: contrato cuando el dato es indispensable para el servicio que el jugador pide, y consentimiento solo para lo opcional, porque la ley presume que no es libre un consentimiento exigido para algo innecesario. F1 es contrato, salvo el 2FA, que es opcional. En F2 los fotogramas ni siquiera son tratamiento del responsable, porque nunca salen del teléfono. F3 es consentimiento. En F4 el contrato cubre la compra, y si MercadoPago recauda por el vendedor, guardar la contabilidad podría ser obligación legal; eso quedó a confirmar.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Cifrado (40 s). Elegimos la técnica según lo que hay que hacer con el dato. La contraseña solo se compara, así que va con hash lento, bcrypt. El token de renovación es aleatorio, basta SHA-256. El secreto 2FA y la ubicación hay que recuperarlos, por eso van cifrados con AES-256-GCM y la llave está en Secrets Manager. La tarjeta se tokeniza: la tiene MercadoPago. La sesión, el QR y el aviso de pago van firmados con HMAC. El correo no se cifra porque se busca por igualdad al iniciar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Conclusiones (45 s). Lo más crítico es la ubicación, las credenciales, el patrimonio y los posibles menores. Ya implementamos hash, cifrado, tokenización y firmas, pero quedan brechas: hoy no se borra nada, el consentimiento de ubicación está incompleto, no se verifica la edad y falta la política de privacidad. Dudas abiertas: si una colección cuenta como situación socioeconómica, cómo acreditar la transferencia a AWS y el rol de MercadoPago. Gracias,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NTENIDO-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PORTADA-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DIAGRAMA-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rtlCol="0"/>
          <a:lstStyle>
            <a:lvl1pPr algn="l" indent="0" marL="0">
              <a:buNone/>
              <a:defRPr lang="en-US" sz="3000" b="1" dirty="0">
                <a:solidFill>
                  <a:schemeClr val="bg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ph idx="101" type="body" hasCustomPrompt="1"/>
          </p:nvPr>
        </p:nvSpPr>
        <p:spPr>
          <a:xfrm>
            <a:off x="548640" y="987552"/>
            <a:ext cx="11064240" cy="365760"/>
          </a:xfrm>
          <a:prstGeom prst="rect">
            <a:avLst/>
          </a:prstGeom>
          <a:noFill/>
          <a:ln/>
        </p:spPr>
        <p:txBody>
          <a:bodyPr wrap="square" rtlCol="0"/>
          <a:lstStyle>
            <a:lvl1pPr indent="0" marL="0">
              <a:buNone/>
              <a:defRPr lang="en-US" sz="1400" i="1" dirty="0">
                <a:solidFill>
                  <a:schemeClr val="accent1"/>
                </a:solidFill>
                <a:latin typeface="Calibri" pitchFamily="34" charset="0"/>
                <a:ea typeface="Calibri" pitchFamily="34" charset="-122"/>
                <a:cs typeface="Calibri" pitchFamily="34" charset="-120"/>
              </a:defRPr>
            </a:lvl1pPr>
          </a:lstStyle>
          <a:p>
            <a:pPr indent="0" marL="0">
              <a:buNone/>
            </a:pPr>
            <a:endParaRPr lang="en-US" sz="1400" dirty="0"/>
          </a:p>
        </p:txBody>
      </p:sp>
      <p:sp>
        <p:nvSpPr>
          <p:cNvPr id="4" name="Text 0"/>
          <p:cNvSpPr/>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chemeClr val="accent6"/>
                </a:solidFill>
                <a:latin typeface="Calibri" pitchFamily="34" charset="0"/>
                <a:ea typeface="Calibri" pitchFamily="34" charset="-122"/>
                <a:cs typeface="Calibri" pitchFamily="34" charset="-120"/>
              </a:rPr>
              <a:t>MTG Companion · Hito 1 · Seguridad y Protección de Datos</a:t>
            </a:r>
            <a:endParaRPr lang="en-US" sz="9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ambria"/>
                <a:ea typeface="Cambria"/>
                <a:cs typeface="Cambria"/>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ORTADA">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GRAMA">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411480" y="137160"/>
            <a:ext cx="8229600" cy="548640"/>
          </a:xfrm>
          <a:prstGeom prst="rect">
            <a:avLst/>
          </a:prstGeom>
          <a:noFill/>
          <a:ln/>
        </p:spPr>
        <p:txBody>
          <a:bodyPr wrap="square" rtlCol="0"/>
          <a:lstStyle>
            <a:lvl1pPr algn="l" indent="0" marL="0">
              <a:buNone/>
              <a:defRPr lang="en-US" sz="2600" b="1" dirty="0">
                <a:solidFill>
                  <a:schemeClr val="bg2"/>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ambria"/>
                <a:ea typeface="Cambria"/>
                <a:cs typeface="Cambria"/>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ambria"/>
                <a:ea typeface="Cambria"/>
                <a:cs typeface="Camb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22960" y="640080"/>
            <a:ext cx="3749040" cy="5577840"/>
          </a:xfrm>
          <a:prstGeom prst="roundRect">
            <a:avLst>
              <a:gd name="adj" fmla="val 2927"/>
            </a:avLst>
          </a:prstGeom>
          <a:solidFill>
            <a:schemeClr val="tx1"/>
          </a:solidFill>
          <a:ln w="6350">
            <a:solidFill>
              <a:schemeClr val="tx1"/>
            </a:solidFill>
            <a:prstDash val="solid"/>
          </a:ln>
          <a:effectLst>
            <a:outerShdw sx="100000" sy="100000" kx="0" ky="0" algn="bl" rotWithShape="0" blurRad="101600" dist="38100" dir="5400000">
              <a:srgbClr val="000000">
                <a:alpha val="55000"/>
              </a:srgbClr>
            </a:outerShdw>
          </a:effectLst>
        </p:spPr>
      </p:sp>
      <p:sp>
        <p:nvSpPr>
          <p:cNvPr id="3" name="Shape 1"/>
          <p:cNvSpPr/>
          <p:nvPr/>
        </p:nvSpPr>
        <p:spPr>
          <a:xfrm>
            <a:off x="886968" y="704088"/>
            <a:ext cx="3621024" cy="5449824"/>
          </a:xfrm>
          <a:prstGeom prst="roundRect">
            <a:avLst>
              <a:gd name="adj" fmla="val 2525"/>
            </a:avLst>
          </a:prstGeom>
          <a:solidFill>
            <a:schemeClr val="accent1"/>
          </a:solidFill>
          <a:ln w="12700">
            <a:solidFill>
              <a:schemeClr val="accent1"/>
            </a:solidFill>
            <a:prstDash val="solid"/>
          </a:ln>
        </p:spPr>
      </p:sp>
      <p:sp>
        <p:nvSpPr>
          <p:cNvPr id="4" name="Shape 2"/>
          <p:cNvSpPr/>
          <p:nvPr/>
        </p:nvSpPr>
        <p:spPr>
          <a:xfrm>
            <a:off x="978408" y="795528"/>
            <a:ext cx="3438144" cy="384048"/>
          </a:xfrm>
          <a:prstGeom prst="roundRect">
            <a:avLst>
              <a:gd name="adj" fmla="val 19048"/>
            </a:avLst>
          </a:prstGeom>
          <a:solidFill>
            <a:schemeClr val="bg2"/>
          </a:solidFill>
          <a:ln w="9525">
            <a:solidFill>
              <a:schemeClr val="tx1"/>
            </a:solidFill>
            <a:prstDash val="solid"/>
          </a:ln>
        </p:spPr>
      </p:sp>
      <p:sp>
        <p:nvSpPr>
          <p:cNvPr id="5" name="Text 3"/>
          <p:cNvSpPr txBox="1"/>
          <p:nvPr/>
        </p:nvSpPr>
        <p:spPr>
          <a:xfrm>
            <a:off x="1069848" y="795528"/>
            <a:ext cx="2514600" cy="384048"/>
          </a:xfrm>
          <a:prstGeom prst="rect">
            <a:avLst/>
          </a:prstGeom>
          <a:noFill/>
          <a:ln/>
        </p:spPr>
        <p:txBody>
          <a:bodyPr wrap="square" lIns="0" tIns="0" rIns="0" bIns="0" rtlCol="0" anchor="ctr">
            <a:normAutofit/>
          </a:bodyPr>
          <a:lstStyle/>
          <a:p>
            <a:pPr indent="0" marL="0">
              <a:buNone/>
            </a:pPr>
            <a:r>
              <a:rPr lang="en-US" sz="1600" b="1" dirty="0">
                <a:solidFill>
                  <a:schemeClr val="tx1"/>
                </a:solidFill>
                <a:latin typeface="Cambria" pitchFamily="34" charset="0"/>
                <a:ea typeface="Cambria" pitchFamily="34" charset="-122"/>
                <a:cs typeface="Cambria" pitchFamily="34" charset="-120"/>
              </a:rPr>
              <a:t>MTG Companion</a:t>
            </a:r>
            <a:endParaRPr lang="en-US" sz="1600" dirty="0"/>
          </a:p>
        </p:txBody>
      </p:sp>
      <p:sp>
        <p:nvSpPr>
          <p:cNvPr id="6" name="Shape 4"/>
          <p:cNvSpPr/>
          <p:nvPr/>
        </p:nvSpPr>
        <p:spPr>
          <a:xfrm>
            <a:off x="3602736" y="873252"/>
            <a:ext cx="228600" cy="228600"/>
          </a:xfrm>
          <a:prstGeom prst="ellipse">
            <a:avLst/>
          </a:prstGeom>
          <a:solidFill>
            <a:schemeClr val="accent5"/>
          </a:solidFill>
          <a:ln w="9525">
            <a:solidFill>
              <a:schemeClr val="tx1"/>
            </a:solidFill>
            <a:prstDash val="solid"/>
          </a:ln>
        </p:spPr>
      </p:sp>
      <p:sp>
        <p:nvSpPr>
          <p:cNvPr id="7" name="Text 5"/>
          <p:cNvSpPr txBox="1"/>
          <p:nvPr/>
        </p:nvSpPr>
        <p:spPr>
          <a:xfrm>
            <a:off x="3602736" y="873252"/>
            <a:ext cx="228600" cy="228600"/>
          </a:xfrm>
          <a:prstGeom prst="rect">
            <a:avLst/>
          </a:prstGeom>
          <a:noFill/>
          <a:ln/>
        </p:spPr>
        <p:txBody>
          <a:bodyPr wrap="square" lIns="0" tIns="0" rIns="0" bIns="0" rtlCol="0" anchor="ctr"/>
          <a:lstStyle/>
          <a:p>
            <a:pPr algn="ctr" indent="0" marL="0">
              <a:buNone/>
            </a:pPr>
            <a:r>
              <a:rPr lang="en-US" sz="650" b="1" dirty="0">
                <a:solidFill>
                  <a:schemeClr val="tx1"/>
                </a:solidFill>
                <a:latin typeface="Cambria" pitchFamily="34" charset="0"/>
                <a:ea typeface="Cambria" pitchFamily="34" charset="-122"/>
                <a:cs typeface="Cambria" pitchFamily="34" charset="-120"/>
              </a:rPr>
              <a:t>⚖</a:t>
            </a:r>
            <a:endParaRPr lang="en-US" sz="650" dirty="0"/>
          </a:p>
        </p:txBody>
      </p:sp>
      <p:sp>
        <p:nvSpPr>
          <p:cNvPr id="8" name="Shape 6"/>
          <p:cNvSpPr/>
          <p:nvPr/>
        </p:nvSpPr>
        <p:spPr>
          <a:xfrm>
            <a:off x="3849624" y="873252"/>
            <a:ext cx="228600" cy="228600"/>
          </a:xfrm>
          <a:prstGeom prst="ellipse">
            <a:avLst/>
          </a:prstGeom>
          <a:solidFill>
            <a:schemeClr val="accent2"/>
          </a:solidFill>
          <a:ln w="9525">
            <a:solidFill>
              <a:schemeClr val="tx1"/>
            </a:solidFill>
            <a:prstDash val="solid"/>
          </a:ln>
        </p:spPr>
      </p:sp>
      <p:sp>
        <p:nvSpPr>
          <p:cNvPr id="9" name="Shape 7"/>
          <p:cNvSpPr/>
          <p:nvPr/>
        </p:nvSpPr>
        <p:spPr>
          <a:xfrm>
            <a:off x="4096512" y="873252"/>
            <a:ext cx="228600" cy="228600"/>
          </a:xfrm>
          <a:prstGeom prst="ellipse">
            <a:avLst/>
          </a:prstGeom>
          <a:solidFill>
            <a:schemeClr val="accent3"/>
          </a:solidFill>
          <a:ln w="9525">
            <a:solidFill>
              <a:schemeClr val="tx1"/>
            </a:solidFill>
            <a:prstDash val="solid"/>
          </a:ln>
        </p:spPr>
      </p:sp>
      <p:sp>
        <p:nvSpPr>
          <p:cNvPr id="10" name="Shape 8"/>
          <p:cNvSpPr/>
          <p:nvPr/>
        </p:nvSpPr>
        <p:spPr>
          <a:xfrm>
            <a:off x="1033272" y="1243584"/>
            <a:ext cx="3328416" cy="2468880"/>
          </a:xfrm>
          <a:prstGeom prst="rect">
            <a:avLst/>
          </a:prstGeom>
          <a:solidFill>
            <a:schemeClr val="tx1"/>
          </a:solidFill>
          <a:ln w="9525">
            <a:solidFill>
              <a:schemeClr val="tx1"/>
            </a:solidFill>
            <a:prstDash val="solid"/>
          </a:ln>
        </p:spPr>
      </p:sp>
      <p:pic>
        <p:nvPicPr>
          <p:cNvPr id="11" name="Image 0" descr="preencoded.png">    </p:cNvPr>
          <p:cNvPicPr>
            <a:picLocks noChangeAspect="1"/>
          </p:cNvPicPr>
          <p:nvPr/>
        </p:nvPicPr>
        <p:blipFill>
          <a:blip r:embed="rId1"/>
          <a:stretch>
            <a:fillRect/>
          </a:stretch>
        </p:blipFill>
        <p:spPr>
          <a:xfrm>
            <a:off x="1808683" y="1589227"/>
            <a:ext cx="1777594" cy="1777594"/>
          </a:xfrm>
          <a:prstGeom prst="rect">
            <a:avLst/>
          </a:prstGeom>
        </p:spPr>
      </p:pic>
      <p:sp>
        <p:nvSpPr>
          <p:cNvPr id="12" name="Shape 9"/>
          <p:cNvSpPr/>
          <p:nvPr/>
        </p:nvSpPr>
        <p:spPr>
          <a:xfrm>
            <a:off x="978408" y="3776472"/>
            <a:ext cx="3438144" cy="329184"/>
          </a:xfrm>
          <a:prstGeom prst="roundRect">
            <a:avLst>
              <a:gd name="adj" fmla="val 19444"/>
            </a:avLst>
          </a:prstGeom>
          <a:solidFill>
            <a:schemeClr val="bg2"/>
          </a:solidFill>
          <a:ln w="9525">
            <a:solidFill>
              <a:schemeClr val="tx1"/>
            </a:solidFill>
            <a:prstDash val="solid"/>
          </a:ln>
        </p:spPr>
      </p:sp>
      <p:sp>
        <p:nvSpPr>
          <p:cNvPr id="13" name="Text 10"/>
          <p:cNvSpPr txBox="1"/>
          <p:nvPr/>
        </p:nvSpPr>
        <p:spPr>
          <a:xfrm>
            <a:off x="1069848" y="3776472"/>
            <a:ext cx="3255264" cy="329184"/>
          </a:xfrm>
          <a:prstGeom prst="rect">
            <a:avLst/>
          </a:prstGeom>
          <a:noFill/>
          <a:ln/>
        </p:spPr>
        <p:txBody>
          <a:bodyPr wrap="square" lIns="0" tIns="0" rIns="0" bIns="0" rtlCol="0" anchor="ctr">
            <a:normAutofit/>
          </a:bodyPr>
          <a:lstStyle/>
          <a:p>
            <a:pPr indent="0" marL="0">
              <a:buNone/>
            </a:pPr>
            <a:r>
              <a:rPr lang="en-US" sz="1000" b="1" dirty="0">
                <a:solidFill>
                  <a:schemeClr val="tx1"/>
                </a:solidFill>
                <a:latin typeface="Calibri" pitchFamily="34" charset="0"/>
                <a:ea typeface="Calibri" pitchFamily="34" charset="-122"/>
                <a:cs typeface="Calibri" pitchFamily="34" charset="-120"/>
              </a:rPr>
              <a:t>Artefacto legendario — App de compraventa</a:t>
            </a:r>
            <a:endParaRPr lang="en-US" sz="1000" dirty="0"/>
          </a:p>
        </p:txBody>
      </p:sp>
      <p:sp>
        <p:nvSpPr>
          <p:cNvPr id="14" name="Shape 11"/>
          <p:cNvSpPr/>
          <p:nvPr/>
        </p:nvSpPr>
        <p:spPr>
          <a:xfrm>
            <a:off x="1033272" y="4169664"/>
            <a:ext cx="3328416" cy="1865376"/>
          </a:xfrm>
          <a:prstGeom prst="rect">
            <a:avLst/>
          </a:prstGeom>
          <a:solidFill>
            <a:schemeClr val="bg2"/>
          </a:solidFill>
          <a:ln w="9525">
            <a:solidFill>
              <a:schemeClr val="tx1"/>
            </a:solidFill>
            <a:prstDash val="solid"/>
          </a:ln>
        </p:spPr>
      </p:sp>
      <p:sp>
        <p:nvSpPr>
          <p:cNvPr id="15" name="Text 12"/>
          <p:cNvSpPr txBox="1"/>
          <p:nvPr/>
        </p:nvSpPr>
        <p:spPr>
          <a:xfrm>
            <a:off x="1124712" y="4242816"/>
            <a:ext cx="3145536" cy="173736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Escanea una carta con IA en el teléfono, guárdala en tu Bóveda y véndela en el Bazaar.</a:t>
            </a:r>
            <a:endParaRPr lang="en-US" sz="1400" dirty="0"/>
          </a:p>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Cuando entra en juego, inventaría cada dato personal que toca.</a:t>
            </a:r>
            <a:endParaRPr lang="en-US" sz="1400" dirty="0"/>
          </a:p>
          <a:p>
            <a:pPr indent="0" marL="0">
              <a:buNone/>
            </a:pPr>
            <a:r>
              <a:rPr lang="en-US" sz="1400" i="1" dirty="0">
                <a:solidFill>
                  <a:schemeClr val="tx2"/>
                </a:solidFill>
                <a:latin typeface="Calibri" pitchFamily="34" charset="0"/>
                <a:ea typeface="Calibri" pitchFamily="34" charset="-122"/>
                <a:cs typeface="Calibri" pitchFamily="34" charset="-120"/>
              </a:rPr>
              <a:t>"Ningún dato sin base de licitud." — Ley 19.628, art. 13</a:t>
            </a:r>
            <a:endParaRPr lang="en-US" sz="1400" dirty="0"/>
          </a:p>
        </p:txBody>
      </p:sp>
      <p:sp>
        <p:nvSpPr>
          <p:cNvPr id="16" name="Text 13"/>
          <p:cNvSpPr txBox="1"/>
          <p:nvPr/>
        </p:nvSpPr>
        <p:spPr>
          <a:xfrm>
            <a:off x="5303520" y="1143000"/>
            <a:ext cx="6309360" cy="365760"/>
          </a:xfrm>
          <a:prstGeom prst="rect">
            <a:avLst/>
          </a:prstGeom>
          <a:noFill/>
          <a:ln/>
        </p:spPr>
        <p:txBody>
          <a:bodyPr wrap="square" lIns="0" tIns="0" rIns="0" bIns="0" rtlCol="0" anchor="t"/>
          <a:lstStyle/>
          <a:p>
            <a:pPr indent="0" marL="0">
              <a:buNone/>
            </a:pPr>
            <a:r>
              <a:rPr lang="en-US" sz="1500" i="1" dirty="0">
                <a:solidFill>
                  <a:schemeClr val="accent1"/>
                </a:solidFill>
                <a:latin typeface="Calibri" pitchFamily="34" charset="0"/>
                <a:ea typeface="Calibri" pitchFamily="34" charset="-122"/>
                <a:cs typeface="Calibri" pitchFamily="34" charset="-120"/>
              </a:rPr>
              <a:t>Seguridad y Protección de Datos · Universidad del Desarrollo</a:t>
            </a:r>
            <a:endParaRPr lang="en-US" sz="1500" dirty="0"/>
          </a:p>
        </p:txBody>
      </p:sp>
      <p:sp>
        <p:nvSpPr>
          <p:cNvPr id="17" name="Text 14"/>
          <p:cNvSpPr txBox="1"/>
          <p:nvPr/>
        </p:nvSpPr>
        <p:spPr>
          <a:xfrm>
            <a:off x="5303520" y="1645920"/>
            <a:ext cx="6309360" cy="548640"/>
          </a:xfrm>
          <a:prstGeom prst="rect">
            <a:avLst/>
          </a:prstGeom>
          <a:noFill/>
          <a:ln/>
        </p:spPr>
        <p:txBody>
          <a:bodyPr wrap="square" lIns="0" tIns="0" rIns="0" bIns="0" rtlCol="0" anchor="t"/>
          <a:lstStyle/>
          <a:p>
            <a:pPr indent="0" marL="0">
              <a:buNone/>
            </a:pPr>
            <a:r>
              <a:rPr lang="en-US" sz="2400" b="1" dirty="0">
                <a:solidFill>
                  <a:schemeClr val="accent6"/>
                </a:solidFill>
                <a:latin typeface="Cambria" pitchFamily="34" charset="0"/>
                <a:ea typeface="Cambria" pitchFamily="34" charset="-122"/>
                <a:cs typeface="Cambria" pitchFamily="34" charset="-120"/>
              </a:rPr>
              <a:t>Hito 1</a:t>
            </a:r>
            <a:endParaRPr lang="en-US" sz="2400" dirty="0"/>
          </a:p>
        </p:txBody>
      </p:sp>
      <p:sp>
        <p:nvSpPr>
          <p:cNvPr id="18" name="Text 15"/>
          <p:cNvSpPr txBox="1"/>
          <p:nvPr/>
        </p:nvSpPr>
        <p:spPr>
          <a:xfrm>
            <a:off x="5303520" y="2148840"/>
            <a:ext cx="6309360" cy="1554480"/>
          </a:xfrm>
          <a:prstGeom prst="rect">
            <a:avLst/>
          </a:prstGeom>
          <a:noFill/>
          <a:ln/>
        </p:spPr>
        <p:txBody>
          <a:bodyPr wrap="square" lIns="0" tIns="0" rIns="0" bIns="0" rtlCol="0" anchor="t"/>
          <a:lstStyle/>
          <a:p>
            <a:pPr indent="0" marL="0">
              <a:buNone/>
            </a:pPr>
            <a:r>
              <a:rPr lang="en-US" sz="3800" b="1" dirty="0">
                <a:solidFill>
                  <a:schemeClr val="bg2"/>
                </a:solidFill>
                <a:latin typeface="Cambria" pitchFamily="34" charset="0"/>
                <a:ea typeface="Cambria" pitchFamily="34" charset="-122"/>
                <a:cs typeface="Cambria" pitchFamily="34" charset="-120"/>
              </a:rPr>
              <a:t>Inventario y Clasificación de Datos Personales</a:t>
            </a:r>
            <a:endParaRPr lang="en-US" sz="3800" dirty="0"/>
          </a:p>
        </p:txBody>
      </p:sp>
      <p:sp>
        <p:nvSpPr>
          <p:cNvPr id="19" name="Text 16"/>
          <p:cNvSpPr txBox="1"/>
          <p:nvPr/>
        </p:nvSpPr>
        <p:spPr>
          <a:xfrm>
            <a:off x="5303520" y="3977640"/>
            <a:ext cx="6309360" cy="1737360"/>
          </a:xfrm>
          <a:prstGeom prst="rect">
            <a:avLst/>
          </a:prstGeom>
          <a:noFill/>
          <a:ln/>
        </p:spPr>
        <p:txBody>
          <a:bodyPr wrap="square" lIns="0" tIns="0" rIns="0" bIns="0" rtlCol="0" anchor="t"/>
          <a:lstStyle/>
          <a:p>
            <a:pPr indent="0" marL="0">
              <a:spcAft>
                <a:spcPts val="800"/>
              </a:spcAft>
              <a:buNone/>
            </a:pPr>
            <a:r>
              <a:rPr lang="en-US" sz="1500" b="1" dirty="0">
                <a:solidFill>
                  <a:schemeClr val="accent1"/>
                </a:solidFill>
                <a:latin typeface="Calibri" pitchFamily="34" charset="0"/>
                <a:ea typeface="Calibri" pitchFamily="34" charset="-122"/>
                <a:cs typeface="Calibri" pitchFamily="34" charset="-120"/>
              </a:rPr>
              <a:t>Caso: </a:t>
            </a:r>
            <a:pPr indent="0" marL="0">
              <a:spcAft>
                <a:spcPts val="800"/>
              </a:spcAft>
              <a:buNone/>
            </a:pPr>
            <a:r>
              <a:rPr lang="en-US" sz="1500" dirty="0">
                <a:solidFill>
                  <a:schemeClr val="bg2"/>
                </a:solidFill>
                <a:latin typeface="Calibri" pitchFamily="34" charset="0"/>
                <a:ea typeface="Calibri" pitchFamily="34" charset="-122"/>
                <a:cs typeface="Calibri" pitchFamily="34" charset="-120"/>
              </a:rPr>
              <a:t>MTG Companion — app de intercambio y compraventa de cartas de Magic: The Gathering</a:t>
            </a:r>
            <a:endParaRPr lang="en-US" sz="1500" dirty="0"/>
          </a:p>
          <a:p>
            <a:pPr indent="0" marL="0">
              <a:spcAft>
                <a:spcPts val="800"/>
              </a:spcAft>
              <a:buNone/>
            </a:pPr>
            <a:r>
              <a:rPr lang="en-US" sz="1500" b="1" dirty="0">
                <a:solidFill>
                  <a:schemeClr val="accent1"/>
                </a:solidFill>
                <a:latin typeface="Calibri" pitchFamily="34" charset="0"/>
                <a:ea typeface="Calibri" pitchFamily="34" charset="-122"/>
                <a:cs typeface="Calibri" pitchFamily="34" charset="-120"/>
              </a:rPr>
              <a:t>Grupo: </a:t>
            </a:r>
            <a:pPr indent="0" marL="0">
              <a:spcAft>
                <a:spcPts val="800"/>
              </a:spcAft>
              <a:buNone/>
            </a:pPr>
            <a:r>
              <a:rPr lang="en-US" sz="1500" dirty="0">
                <a:solidFill>
                  <a:schemeClr val="bg2"/>
                </a:solidFill>
                <a:latin typeface="Calibri" pitchFamily="34" charset="0"/>
                <a:ea typeface="Calibri" pitchFamily="34" charset="-122"/>
                <a:cs typeface="Calibri" pitchFamily="34" charset="-120"/>
              </a:rPr>
              <a:t>MTG Companion</a:t>
            </a:r>
            <a:endParaRPr lang="en-US" sz="1500" dirty="0"/>
          </a:p>
          <a:p>
            <a:pPr indent="0" marL="0">
              <a:spcAft>
                <a:spcPts val="800"/>
              </a:spcAft>
              <a:buNone/>
            </a:pPr>
            <a:r>
              <a:rPr lang="en-US" sz="1500" b="1" dirty="0">
                <a:solidFill>
                  <a:schemeClr val="accent1"/>
                </a:solidFill>
                <a:latin typeface="Calibri" pitchFamily="34" charset="0"/>
                <a:ea typeface="Calibri" pitchFamily="34" charset="-122"/>
                <a:cs typeface="Calibri" pitchFamily="34" charset="-120"/>
              </a:rPr>
              <a:t>Integrantes: </a:t>
            </a:r>
            <a:pPr indent="0" marL="0">
              <a:spcAft>
                <a:spcPts val="800"/>
              </a:spcAft>
              <a:buNone/>
            </a:pPr>
            <a:r>
              <a:rPr lang="en-US" sz="1500" dirty="0">
                <a:solidFill>
                  <a:schemeClr val="bg2"/>
                </a:solidFill>
                <a:latin typeface="Calibri" pitchFamily="34" charset="0"/>
                <a:ea typeface="Calibri" pitchFamily="34" charset="-122"/>
                <a:cs typeface="Calibri" pitchFamily="34" charset="-120"/>
              </a:rPr>
              <a:t>Vicente Fuentes · Tomás Rodriguez · Tomás Solano</a:t>
            </a:r>
            <a:endParaRPr lang="en-US" sz="1500" dirty="0"/>
          </a:p>
          <a:p>
            <a:pPr indent="0" marL="0">
              <a:spcAft>
                <a:spcPts val="800"/>
              </a:spcAft>
              <a:buNone/>
            </a:pPr>
            <a:r>
              <a:rPr lang="en-US" sz="1500" b="1" dirty="0">
                <a:solidFill>
                  <a:schemeClr val="accent1"/>
                </a:solidFill>
                <a:latin typeface="Calibri" pitchFamily="34" charset="0"/>
                <a:ea typeface="Calibri" pitchFamily="34" charset="-122"/>
                <a:cs typeface="Calibri" pitchFamily="34" charset="-120"/>
              </a:rPr>
              <a:t>Fecha: </a:t>
            </a:r>
            <a:pPr indent="0" marL="0">
              <a:spcAft>
                <a:spcPts val="800"/>
              </a:spcAft>
              <a:buNone/>
            </a:pPr>
            <a:r>
              <a:rPr lang="en-US" sz="1500" dirty="0">
                <a:solidFill>
                  <a:schemeClr val="bg2"/>
                </a:solidFill>
                <a:latin typeface="Calibri" pitchFamily="34" charset="0"/>
                <a:ea typeface="Calibri" pitchFamily="34" charset="-122"/>
                <a:cs typeface="Calibri" pitchFamily="34" charset="-120"/>
              </a:rPr>
              <a:t>2 de octubre de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3000" b="1" dirty="0">
                <a:solidFill>
                  <a:schemeClr val="bg2"/>
                </a:solidFill>
                <a:latin typeface="Cambria" pitchFamily="34" charset="0"/>
                <a:ea typeface="Cambria" pitchFamily="34" charset="-122"/>
                <a:cs typeface="Cambria" pitchFamily="34" charset="-120"/>
              </a:rPr>
              <a:t>Contexto: el sistema y sus actores</a:t>
            </a:r>
            <a:endParaRPr lang="en-US" sz="3000" dirty="0"/>
          </a:p>
        </p:txBody>
      </p:sp>
      <p:sp>
        <p:nvSpPr>
          <p:cNvPr id="3" name="Text 0"/>
          <p:cNvSpPr/>
          <p:nvPr>
            <p:ph idx="101" type="body" hasCustomPrompt="1"/>
          </p:nvPr>
        </p:nvSpPr>
        <p:spPr>
          <a:xfrm>
            <a:off x="548640" y="987552"/>
            <a:ext cx="11064240" cy="365760"/>
          </a:xfrm>
          <a:prstGeom prst="rect">
            <a:avLst/>
          </a:prstGeom>
          <a:noFill/>
          <a:ln/>
        </p:spPr>
        <p:txBody>
          <a:bodyPr wrap="square" lIns="0" tIns="0" rIns="0" bIns="0" rtlCol="0" anchor="t"/>
          <a:lstStyle/>
          <a:p>
            <a:pPr indent="0" marL="0">
              <a:buNone/>
            </a:pPr>
            <a:r>
              <a:rPr lang="en-US" sz="1400" i="1" dirty="0">
                <a:solidFill>
                  <a:schemeClr val="accent1"/>
                </a:solidFill>
                <a:latin typeface="Calibri" pitchFamily="34" charset="0"/>
                <a:ea typeface="Calibri" pitchFamily="34" charset="-122"/>
                <a:cs typeface="Calibri" pitchFamily="34" charset="-120"/>
              </a:rPr>
              <a:t>Escanear · coleccionar · vender — y quién toca los datos en cada paso</a:t>
            </a:r>
            <a:endParaRPr lang="en-US" sz="1400" dirty="0"/>
          </a:p>
        </p:txBody>
      </p:sp>
      <p:sp>
        <p:nvSpPr>
          <p:cNvPr id="4" name="Text 2"/>
          <p:cNvSpPr txBox="1"/>
          <p:nvPr/>
        </p:nvSpPr>
        <p:spPr>
          <a:xfrm>
            <a:off x="548640" y="1600200"/>
            <a:ext cx="4206240" cy="5943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IA local</a:t>
            </a:r>
            <a:endParaRPr lang="en-US" sz="3000" dirty="0"/>
          </a:p>
        </p:txBody>
      </p:sp>
      <p:sp>
        <p:nvSpPr>
          <p:cNvPr id="5" name="Text 3"/>
          <p:cNvSpPr txBox="1"/>
          <p:nvPr/>
        </p:nvSpPr>
        <p:spPr>
          <a:xfrm>
            <a:off x="548640" y="2221992"/>
            <a:ext cx="4206240" cy="777240"/>
          </a:xfrm>
          <a:prstGeom prst="rect">
            <a:avLst/>
          </a:prstGeom>
          <a:noFill/>
          <a:ln/>
        </p:spPr>
        <p:txBody>
          <a:bodyPr wrap="square" lIns="0" tIns="0" rIns="0" bIns="0" rtlCol="0" anchor="t"/>
          <a:lstStyle/>
          <a:p>
            <a:pPr indent="0" marL="0">
              <a:buNone/>
            </a:pPr>
            <a:r>
              <a:rPr lang="en-US" sz="1350" dirty="0">
                <a:solidFill>
                  <a:schemeClr val="bg2"/>
                </a:solidFill>
                <a:latin typeface="Calibri" pitchFamily="34" charset="0"/>
                <a:ea typeface="Calibri" pitchFamily="34" charset="-122"/>
                <a:cs typeface="Calibri" pitchFamily="34" charset="-120"/>
              </a:rPr>
              <a:t>Reconoce la carta, su condición y precio en el teléfono: la cámara no llega al servidor.</a:t>
            </a:r>
            <a:endParaRPr lang="en-US" sz="1350" dirty="0"/>
          </a:p>
        </p:txBody>
      </p:sp>
      <p:sp>
        <p:nvSpPr>
          <p:cNvPr id="6" name="Text 4"/>
          <p:cNvSpPr txBox="1"/>
          <p:nvPr/>
        </p:nvSpPr>
        <p:spPr>
          <a:xfrm>
            <a:off x="548640" y="3154680"/>
            <a:ext cx="4206240" cy="5943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AWS us-east-1</a:t>
            </a:r>
            <a:endParaRPr lang="en-US" sz="3000" dirty="0"/>
          </a:p>
        </p:txBody>
      </p:sp>
      <p:sp>
        <p:nvSpPr>
          <p:cNvPr id="7" name="Text 5"/>
          <p:cNvSpPr txBox="1"/>
          <p:nvPr/>
        </p:nvSpPr>
        <p:spPr>
          <a:xfrm>
            <a:off x="548640" y="3776472"/>
            <a:ext cx="4206240" cy="777240"/>
          </a:xfrm>
          <a:prstGeom prst="rect">
            <a:avLst/>
          </a:prstGeom>
          <a:noFill/>
          <a:ln/>
        </p:spPr>
        <p:txBody>
          <a:bodyPr wrap="square" lIns="0" tIns="0" rIns="0" bIns="0" rtlCol="0" anchor="t"/>
          <a:lstStyle/>
          <a:p>
            <a:pPr indent="0" marL="0">
              <a:buNone/>
            </a:pPr>
            <a:r>
              <a:rPr lang="en-US" sz="1350" dirty="0">
                <a:solidFill>
                  <a:schemeClr val="bg2"/>
                </a:solidFill>
                <a:latin typeface="Calibri" pitchFamily="34" charset="0"/>
                <a:ea typeface="Calibri" pitchFamily="34" charset="-122"/>
                <a:cs typeface="Calibri" pitchFamily="34" charset="-120"/>
              </a:rPr>
              <a:t>Servidor NestJS + PostgreSQL y fotos en S3, alojados en EE.UU.</a:t>
            </a:r>
            <a:endParaRPr lang="en-US" sz="1350" dirty="0"/>
          </a:p>
        </p:txBody>
      </p:sp>
      <p:sp>
        <p:nvSpPr>
          <p:cNvPr id="8" name="Text 6"/>
          <p:cNvSpPr txBox="1"/>
          <p:nvPr/>
        </p:nvSpPr>
        <p:spPr>
          <a:xfrm>
            <a:off x="548640" y="4709160"/>
            <a:ext cx="4206240" cy="5943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01-12-2026</a:t>
            </a:r>
            <a:endParaRPr lang="en-US" sz="3000" dirty="0"/>
          </a:p>
        </p:txBody>
      </p:sp>
      <p:sp>
        <p:nvSpPr>
          <p:cNvPr id="9" name="Text 7"/>
          <p:cNvSpPr txBox="1"/>
          <p:nvPr/>
        </p:nvSpPr>
        <p:spPr>
          <a:xfrm>
            <a:off x="548640" y="5330952"/>
            <a:ext cx="4206240" cy="777240"/>
          </a:xfrm>
          <a:prstGeom prst="rect">
            <a:avLst/>
          </a:prstGeom>
          <a:noFill/>
          <a:ln/>
        </p:spPr>
        <p:txBody>
          <a:bodyPr wrap="square" lIns="0" tIns="0" rIns="0" bIns="0" rtlCol="0" anchor="t"/>
          <a:lstStyle/>
          <a:p>
            <a:pPr indent="0" marL="0">
              <a:buNone/>
            </a:pPr>
            <a:r>
              <a:rPr lang="en-US" sz="1350" dirty="0">
                <a:solidFill>
                  <a:schemeClr val="bg2"/>
                </a:solidFill>
                <a:latin typeface="Calibri" pitchFamily="34" charset="0"/>
                <a:ea typeface="Calibri" pitchFamily="34" charset="-122"/>
                <a:cs typeface="Calibri" pitchFamily="34" charset="-120"/>
              </a:rPr>
              <a:t>Entra en vigencia la Ley 21.719, que reescribe la Ley 19.628. Analizamos ese texto.</a:t>
            </a:r>
            <a:endParaRPr lang="en-US" sz="1350" dirty="0"/>
          </a:p>
        </p:txBody>
      </p:sp>
      <p:sp>
        <p:nvSpPr>
          <p:cNvPr id="10" name="Shape 8"/>
          <p:cNvSpPr/>
          <p:nvPr/>
        </p:nvSpPr>
        <p:spPr>
          <a:xfrm>
            <a:off x="5212080" y="1600200"/>
            <a:ext cx="3108960" cy="1005840"/>
          </a:xfrm>
          <a:prstGeom prst="roundRect">
            <a:avLst>
              <a:gd name="adj" fmla="val 9091"/>
            </a:avLst>
          </a:prstGeom>
          <a:solidFill>
            <a:schemeClr val="tx2"/>
          </a:solidFill>
          <a:ln w="12700">
            <a:solidFill>
              <a:schemeClr val="accent1"/>
            </a:solidFill>
            <a:prstDash val="solid"/>
          </a:ln>
        </p:spPr>
      </p:sp>
      <p:sp>
        <p:nvSpPr>
          <p:cNvPr id="11" name="Shape 9"/>
          <p:cNvSpPr/>
          <p:nvPr/>
        </p:nvSpPr>
        <p:spPr>
          <a:xfrm>
            <a:off x="5340096" y="1819656"/>
            <a:ext cx="566928" cy="566928"/>
          </a:xfrm>
          <a:prstGeom prst="ellipse">
            <a:avLst/>
          </a:prstGeom>
          <a:solidFill>
            <a:schemeClr val="tx1"/>
          </a:solidFill>
          <a:ln w="12700">
            <a:solidFill>
              <a:schemeClr val="accent1"/>
            </a:solidFill>
            <a:prstDash val="solid"/>
          </a:ln>
        </p:spPr>
      </p:sp>
      <p:pic>
        <p:nvPicPr>
          <p:cNvPr id="12" name="Image 0" descr="preencoded.png">    </p:cNvPr>
          <p:cNvPicPr>
            <a:picLocks noChangeAspect="1"/>
          </p:cNvPicPr>
          <p:nvPr/>
        </p:nvPicPr>
        <p:blipFill>
          <a:blip r:embed="rId1"/>
          <a:stretch>
            <a:fillRect/>
          </a:stretch>
        </p:blipFill>
        <p:spPr>
          <a:xfrm>
            <a:off x="5440680" y="1920240"/>
            <a:ext cx="365760" cy="365760"/>
          </a:xfrm>
          <a:prstGeom prst="rect">
            <a:avLst/>
          </a:prstGeom>
        </p:spPr>
      </p:pic>
      <p:sp>
        <p:nvSpPr>
          <p:cNvPr id="13" name="Text 10"/>
          <p:cNvSpPr txBox="1"/>
          <p:nvPr/>
        </p:nvSpPr>
        <p:spPr>
          <a:xfrm>
            <a:off x="6035040" y="1691640"/>
            <a:ext cx="2194560" cy="292608"/>
          </a:xfrm>
          <a:prstGeom prst="rect">
            <a:avLst/>
          </a:prstGeom>
          <a:noFill/>
          <a:ln/>
        </p:spPr>
        <p:txBody>
          <a:bodyPr wrap="square" lIns="0" tIns="0" rIns="0" bIns="0" rtlCol="0" anchor="ctr"/>
          <a:lstStyle/>
          <a:p>
            <a:pPr indent="0" marL="0">
              <a:buNone/>
            </a:pPr>
            <a:r>
              <a:rPr lang="en-US" sz="1300" b="1" dirty="0">
                <a:solidFill>
                  <a:schemeClr val="bg2"/>
                </a:solidFill>
                <a:latin typeface="Cambria" pitchFamily="34" charset="0"/>
                <a:ea typeface="Cambria" pitchFamily="34" charset="-122"/>
                <a:cs typeface="Cambria" pitchFamily="34" charset="-120"/>
              </a:rPr>
              <a:t>Jugador</a:t>
            </a:r>
            <a:endParaRPr lang="en-US" sz="1300" dirty="0"/>
          </a:p>
        </p:txBody>
      </p:sp>
      <p:sp>
        <p:nvSpPr>
          <p:cNvPr id="14" name="Text 11"/>
          <p:cNvSpPr txBox="1"/>
          <p:nvPr/>
        </p:nvSpPr>
        <p:spPr>
          <a:xfrm>
            <a:off x="6035040" y="1984248"/>
            <a:ext cx="2194560" cy="548640"/>
          </a:xfrm>
          <a:prstGeom prst="rect">
            <a:avLst/>
          </a:prstGeom>
          <a:noFill/>
          <a:ln/>
        </p:spPr>
        <p:txBody>
          <a:bodyPr wrap="square" lIns="0" tIns="0" rIns="0" bIns="0" rtlCol="0" anchor="t"/>
          <a:lstStyle/>
          <a:p>
            <a:pPr indent="0" marL="0">
              <a:buNone/>
            </a:pPr>
            <a:r>
              <a:rPr lang="en-US" sz="1050" dirty="0">
                <a:solidFill>
                  <a:schemeClr val="accent6"/>
                </a:solidFill>
                <a:latin typeface="Calibri" pitchFamily="34" charset="0"/>
                <a:ea typeface="Calibri" pitchFamily="34" charset="-122"/>
                <a:cs typeface="Calibri" pitchFamily="34" charset="-120"/>
              </a:rPr>
              <a:t>Titular: vende, compra o puja. Puede ser menor de edad.</a:t>
            </a:r>
            <a:endParaRPr lang="en-US" sz="1050" dirty="0"/>
          </a:p>
        </p:txBody>
      </p:sp>
      <p:sp>
        <p:nvSpPr>
          <p:cNvPr id="15" name="Shape 12"/>
          <p:cNvSpPr/>
          <p:nvPr/>
        </p:nvSpPr>
        <p:spPr>
          <a:xfrm>
            <a:off x="8458200" y="1600200"/>
            <a:ext cx="3108960" cy="1005840"/>
          </a:xfrm>
          <a:prstGeom prst="roundRect">
            <a:avLst>
              <a:gd name="adj" fmla="val 9091"/>
            </a:avLst>
          </a:prstGeom>
          <a:solidFill>
            <a:schemeClr val="tx2"/>
          </a:solidFill>
          <a:ln w="12700">
            <a:solidFill>
              <a:schemeClr val="accent1"/>
            </a:solidFill>
            <a:prstDash val="solid"/>
          </a:ln>
        </p:spPr>
      </p:sp>
      <p:sp>
        <p:nvSpPr>
          <p:cNvPr id="16" name="Shape 13"/>
          <p:cNvSpPr/>
          <p:nvPr/>
        </p:nvSpPr>
        <p:spPr>
          <a:xfrm>
            <a:off x="8586216" y="1819656"/>
            <a:ext cx="566928" cy="566928"/>
          </a:xfrm>
          <a:prstGeom prst="ellipse">
            <a:avLst/>
          </a:prstGeom>
          <a:solidFill>
            <a:schemeClr val="tx1"/>
          </a:solidFill>
          <a:ln w="12700">
            <a:solidFill>
              <a:schemeClr val="accent1"/>
            </a:solidFill>
            <a:prstDash val="solid"/>
          </a:ln>
        </p:spPr>
      </p:sp>
      <p:pic>
        <p:nvPicPr>
          <p:cNvPr id="17" name="Image 1" descr="preencoded.png">    </p:cNvPr>
          <p:cNvPicPr>
            <a:picLocks noChangeAspect="1"/>
          </p:cNvPicPr>
          <p:nvPr/>
        </p:nvPicPr>
        <p:blipFill>
          <a:blip r:embed="rId2"/>
          <a:stretch>
            <a:fillRect/>
          </a:stretch>
        </p:blipFill>
        <p:spPr>
          <a:xfrm>
            <a:off x="8686800" y="1920240"/>
            <a:ext cx="365760" cy="365760"/>
          </a:xfrm>
          <a:prstGeom prst="rect">
            <a:avLst/>
          </a:prstGeom>
        </p:spPr>
      </p:pic>
      <p:sp>
        <p:nvSpPr>
          <p:cNvPr id="18" name="Text 14"/>
          <p:cNvSpPr txBox="1"/>
          <p:nvPr/>
        </p:nvSpPr>
        <p:spPr>
          <a:xfrm>
            <a:off x="9281160" y="1691640"/>
            <a:ext cx="2194560" cy="292608"/>
          </a:xfrm>
          <a:prstGeom prst="rect">
            <a:avLst/>
          </a:prstGeom>
          <a:noFill/>
          <a:ln/>
        </p:spPr>
        <p:txBody>
          <a:bodyPr wrap="square" lIns="0" tIns="0" rIns="0" bIns="0" rtlCol="0" anchor="ctr"/>
          <a:lstStyle/>
          <a:p>
            <a:pPr indent="0" marL="0">
              <a:buNone/>
            </a:pPr>
            <a:r>
              <a:rPr lang="en-US" sz="1300" b="1" dirty="0">
                <a:solidFill>
                  <a:schemeClr val="bg2"/>
                </a:solidFill>
                <a:latin typeface="Cambria" pitchFamily="34" charset="0"/>
                <a:ea typeface="Cambria" pitchFamily="34" charset="-122"/>
                <a:cs typeface="Cambria" pitchFamily="34" charset="-120"/>
              </a:rPr>
              <a:t>MTG Companion</a:t>
            </a:r>
            <a:endParaRPr lang="en-US" sz="1300" dirty="0"/>
          </a:p>
        </p:txBody>
      </p:sp>
      <p:sp>
        <p:nvSpPr>
          <p:cNvPr id="19" name="Text 15"/>
          <p:cNvSpPr txBox="1"/>
          <p:nvPr/>
        </p:nvSpPr>
        <p:spPr>
          <a:xfrm>
            <a:off x="9281160" y="1984248"/>
            <a:ext cx="2194560" cy="548640"/>
          </a:xfrm>
          <a:prstGeom prst="rect">
            <a:avLst/>
          </a:prstGeom>
          <a:noFill/>
          <a:ln/>
        </p:spPr>
        <p:txBody>
          <a:bodyPr wrap="square" lIns="0" tIns="0" rIns="0" bIns="0" rtlCol="0" anchor="t"/>
          <a:lstStyle/>
          <a:p>
            <a:pPr indent="0" marL="0">
              <a:buNone/>
            </a:pPr>
            <a:r>
              <a:rPr lang="en-US" sz="1050" dirty="0">
                <a:solidFill>
                  <a:schemeClr val="accent6"/>
                </a:solidFill>
                <a:latin typeface="Calibri" pitchFamily="34" charset="0"/>
                <a:ea typeface="Calibri" pitchFamily="34" charset="-122"/>
                <a:cs typeface="Calibri" pitchFamily="34" charset="-120"/>
              </a:rPr>
              <a:t>Responsable: decide fines y medios del tratamiento.</a:t>
            </a:r>
            <a:endParaRPr lang="en-US" sz="1050" dirty="0"/>
          </a:p>
        </p:txBody>
      </p:sp>
      <p:sp>
        <p:nvSpPr>
          <p:cNvPr id="20" name="Shape 16"/>
          <p:cNvSpPr/>
          <p:nvPr/>
        </p:nvSpPr>
        <p:spPr>
          <a:xfrm>
            <a:off x="5212080" y="2761488"/>
            <a:ext cx="3108960" cy="1005840"/>
          </a:xfrm>
          <a:prstGeom prst="roundRect">
            <a:avLst>
              <a:gd name="adj" fmla="val 9091"/>
            </a:avLst>
          </a:prstGeom>
          <a:solidFill>
            <a:schemeClr val="tx2"/>
          </a:solidFill>
          <a:ln w="12700">
            <a:solidFill>
              <a:schemeClr val="accent1"/>
            </a:solidFill>
            <a:prstDash val="solid"/>
          </a:ln>
        </p:spPr>
      </p:sp>
      <p:sp>
        <p:nvSpPr>
          <p:cNvPr id="21" name="Shape 17"/>
          <p:cNvSpPr/>
          <p:nvPr/>
        </p:nvSpPr>
        <p:spPr>
          <a:xfrm>
            <a:off x="5340096" y="2980944"/>
            <a:ext cx="566928" cy="566928"/>
          </a:xfrm>
          <a:prstGeom prst="ellipse">
            <a:avLst/>
          </a:prstGeom>
          <a:solidFill>
            <a:schemeClr val="tx1"/>
          </a:solidFill>
          <a:ln w="12700">
            <a:solidFill>
              <a:schemeClr val="accent1"/>
            </a:solidFill>
            <a:prstDash val="solid"/>
          </a:ln>
        </p:spPr>
      </p:sp>
      <p:pic>
        <p:nvPicPr>
          <p:cNvPr id="22" name="Image 2" descr="preencoded.png">    </p:cNvPr>
          <p:cNvPicPr>
            <a:picLocks noChangeAspect="1"/>
          </p:cNvPicPr>
          <p:nvPr/>
        </p:nvPicPr>
        <p:blipFill>
          <a:blip r:embed="rId3"/>
          <a:stretch>
            <a:fillRect/>
          </a:stretch>
        </p:blipFill>
        <p:spPr>
          <a:xfrm>
            <a:off x="5440680" y="3081528"/>
            <a:ext cx="365760" cy="365760"/>
          </a:xfrm>
          <a:prstGeom prst="rect">
            <a:avLst/>
          </a:prstGeom>
        </p:spPr>
      </p:pic>
      <p:sp>
        <p:nvSpPr>
          <p:cNvPr id="23" name="Text 18"/>
          <p:cNvSpPr txBox="1"/>
          <p:nvPr/>
        </p:nvSpPr>
        <p:spPr>
          <a:xfrm>
            <a:off x="6035040" y="2852928"/>
            <a:ext cx="2194560" cy="292608"/>
          </a:xfrm>
          <a:prstGeom prst="rect">
            <a:avLst/>
          </a:prstGeom>
          <a:noFill/>
          <a:ln/>
        </p:spPr>
        <p:txBody>
          <a:bodyPr wrap="square" lIns="0" tIns="0" rIns="0" bIns="0" rtlCol="0" anchor="ctr"/>
          <a:lstStyle/>
          <a:p>
            <a:pPr indent="0" marL="0">
              <a:buNone/>
            </a:pPr>
            <a:r>
              <a:rPr lang="en-US" sz="1300" b="1" dirty="0">
                <a:solidFill>
                  <a:schemeClr val="bg2"/>
                </a:solidFill>
                <a:latin typeface="Cambria" pitchFamily="34" charset="0"/>
                <a:ea typeface="Cambria" pitchFamily="34" charset="-122"/>
                <a:cs typeface="Cambria" pitchFamily="34" charset="-120"/>
              </a:rPr>
              <a:t>Administrador</a:t>
            </a:r>
            <a:endParaRPr lang="en-US" sz="1300" dirty="0"/>
          </a:p>
        </p:txBody>
      </p:sp>
      <p:sp>
        <p:nvSpPr>
          <p:cNvPr id="24" name="Text 19"/>
          <p:cNvSpPr txBox="1"/>
          <p:nvPr/>
        </p:nvSpPr>
        <p:spPr>
          <a:xfrm>
            <a:off x="6035040" y="3145536"/>
            <a:ext cx="2194560" cy="548640"/>
          </a:xfrm>
          <a:prstGeom prst="rect">
            <a:avLst/>
          </a:prstGeom>
          <a:noFill/>
          <a:ln/>
        </p:spPr>
        <p:txBody>
          <a:bodyPr wrap="square" lIns="0" tIns="0" rIns="0" bIns="0" rtlCol="0" anchor="t"/>
          <a:lstStyle/>
          <a:p>
            <a:pPr indent="0" marL="0">
              <a:buNone/>
            </a:pPr>
            <a:r>
              <a:rPr lang="en-US" sz="1050" dirty="0">
                <a:solidFill>
                  <a:schemeClr val="accent6"/>
                </a:solidFill>
                <a:latin typeface="Calibri" pitchFamily="34" charset="0"/>
                <a:ea typeface="Calibri" pitchFamily="34" charset="-122"/>
                <a:cs typeface="Calibri" pitchFamily="34" charset="-120"/>
              </a:rPr>
              <a:t>Equipo con acceso a la nube y a sus secretos.</a:t>
            </a:r>
            <a:endParaRPr lang="en-US" sz="1050" dirty="0"/>
          </a:p>
        </p:txBody>
      </p:sp>
      <p:sp>
        <p:nvSpPr>
          <p:cNvPr id="25" name="Shape 20"/>
          <p:cNvSpPr/>
          <p:nvPr/>
        </p:nvSpPr>
        <p:spPr>
          <a:xfrm>
            <a:off x="8458200" y="2761488"/>
            <a:ext cx="3108960" cy="1005840"/>
          </a:xfrm>
          <a:prstGeom prst="roundRect">
            <a:avLst>
              <a:gd name="adj" fmla="val 9091"/>
            </a:avLst>
          </a:prstGeom>
          <a:solidFill>
            <a:schemeClr val="tx2"/>
          </a:solidFill>
          <a:ln w="12700">
            <a:solidFill>
              <a:schemeClr val="accent1"/>
            </a:solidFill>
            <a:prstDash val="solid"/>
          </a:ln>
        </p:spPr>
      </p:sp>
      <p:sp>
        <p:nvSpPr>
          <p:cNvPr id="26" name="Shape 21"/>
          <p:cNvSpPr/>
          <p:nvPr/>
        </p:nvSpPr>
        <p:spPr>
          <a:xfrm>
            <a:off x="8586216" y="2980944"/>
            <a:ext cx="566928" cy="566928"/>
          </a:xfrm>
          <a:prstGeom prst="ellipse">
            <a:avLst/>
          </a:prstGeom>
          <a:solidFill>
            <a:schemeClr val="tx1"/>
          </a:solidFill>
          <a:ln w="12700">
            <a:solidFill>
              <a:schemeClr val="accent1"/>
            </a:solidFill>
            <a:prstDash val="solid"/>
          </a:ln>
        </p:spPr>
      </p:sp>
      <p:pic>
        <p:nvPicPr>
          <p:cNvPr id="27" name="Image 3" descr="preencoded.png">    </p:cNvPr>
          <p:cNvPicPr>
            <a:picLocks noChangeAspect="1"/>
          </p:cNvPicPr>
          <p:nvPr/>
        </p:nvPicPr>
        <p:blipFill>
          <a:blip r:embed="rId4"/>
          <a:stretch>
            <a:fillRect/>
          </a:stretch>
        </p:blipFill>
        <p:spPr>
          <a:xfrm>
            <a:off x="8686800" y="3081528"/>
            <a:ext cx="365760" cy="365760"/>
          </a:xfrm>
          <a:prstGeom prst="rect">
            <a:avLst/>
          </a:prstGeom>
        </p:spPr>
      </p:pic>
      <p:sp>
        <p:nvSpPr>
          <p:cNvPr id="28" name="Text 22"/>
          <p:cNvSpPr txBox="1"/>
          <p:nvPr/>
        </p:nvSpPr>
        <p:spPr>
          <a:xfrm>
            <a:off x="9281160" y="2852928"/>
            <a:ext cx="2194560" cy="292608"/>
          </a:xfrm>
          <a:prstGeom prst="rect">
            <a:avLst/>
          </a:prstGeom>
          <a:noFill/>
          <a:ln/>
        </p:spPr>
        <p:txBody>
          <a:bodyPr wrap="square" lIns="0" tIns="0" rIns="0" bIns="0" rtlCol="0" anchor="ctr"/>
          <a:lstStyle/>
          <a:p>
            <a:pPr indent="0" marL="0">
              <a:buNone/>
            </a:pPr>
            <a:r>
              <a:rPr lang="en-US" sz="1300" b="1" dirty="0">
                <a:solidFill>
                  <a:schemeClr val="bg2"/>
                </a:solidFill>
                <a:latin typeface="Cambria" pitchFamily="34" charset="0"/>
                <a:ea typeface="Cambria" pitchFamily="34" charset="-122"/>
                <a:cs typeface="Cambria" pitchFamily="34" charset="-120"/>
              </a:rPr>
              <a:t>Amazon Web Services</a:t>
            </a:r>
            <a:endParaRPr lang="en-US" sz="1300" dirty="0"/>
          </a:p>
        </p:txBody>
      </p:sp>
      <p:sp>
        <p:nvSpPr>
          <p:cNvPr id="29" name="Text 23"/>
          <p:cNvSpPr txBox="1"/>
          <p:nvPr/>
        </p:nvSpPr>
        <p:spPr>
          <a:xfrm>
            <a:off x="9281160" y="3145536"/>
            <a:ext cx="2194560" cy="548640"/>
          </a:xfrm>
          <a:prstGeom prst="rect">
            <a:avLst/>
          </a:prstGeom>
          <a:noFill/>
          <a:ln/>
        </p:spPr>
        <p:txBody>
          <a:bodyPr wrap="square" lIns="0" tIns="0" rIns="0" bIns="0" rtlCol="0" anchor="t"/>
          <a:lstStyle/>
          <a:p>
            <a:pPr indent="0" marL="0">
              <a:buNone/>
            </a:pPr>
            <a:r>
              <a:rPr lang="en-US" sz="1050" dirty="0">
                <a:solidFill>
                  <a:schemeClr val="accent6"/>
                </a:solidFill>
                <a:latin typeface="Calibri" pitchFamily="34" charset="0"/>
                <a:ea typeface="Calibri" pitchFamily="34" charset="-122"/>
                <a:cs typeface="Calibri" pitchFamily="34" charset="-120"/>
              </a:rPr>
              <a:t>Encargado: servidor, base de datos, fotos y secretos.</a:t>
            </a:r>
            <a:endParaRPr lang="en-US" sz="1050" dirty="0"/>
          </a:p>
        </p:txBody>
      </p:sp>
      <p:sp>
        <p:nvSpPr>
          <p:cNvPr id="30" name="Shape 24"/>
          <p:cNvSpPr/>
          <p:nvPr/>
        </p:nvSpPr>
        <p:spPr>
          <a:xfrm>
            <a:off x="5212080" y="3922776"/>
            <a:ext cx="3108960" cy="1005840"/>
          </a:xfrm>
          <a:prstGeom prst="roundRect">
            <a:avLst>
              <a:gd name="adj" fmla="val 9091"/>
            </a:avLst>
          </a:prstGeom>
          <a:solidFill>
            <a:schemeClr val="tx2"/>
          </a:solidFill>
          <a:ln w="12700">
            <a:solidFill>
              <a:schemeClr val="accent1"/>
            </a:solidFill>
            <a:prstDash val="solid"/>
          </a:ln>
        </p:spPr>
      </p:sp>
      <p:sp>
        <p:nvSpPr>
          <p:cNvPr id="31" name="Shape 25"/>
          <p:cNvSpPr/>
          <p:nvPr/>
        </p:nvSpPr>
        <p:spPr>
          <a:xfrm>
            <a:off x="5340096" y="4142232"/>
            <a:ext cx="566928" cy="566928"/>
          </a:xfrm>
          <a:prstGeom prst="ellipse">
            <a:avLst/>
          </a:prstGeom>
          <a:solidFill>
            <a:schemeClr val="tx1"/>
          </a:solidFill>
          <a:ln w="12700">
            <a:solidFill>
              <a:schemeClr val="accent1"/>
            </a:solidFill>
            <a:prstDash val="solid"/>
          </a:ln>
        </p:spPr>
      </p:sp>
      <p:pic>
        <p:nvPicPr>
          <p:cNvPr id="32" name="Image 4" descr="preencoded.png">    </p:cNvPr>
          <p:cNvPicPr>
            <a:picLocks noChangeAspect="1"/>
          </p:cNvPicPr>
          <p:nvPr/>
        </p:nvPicPr>
        <p:blipFill>
          <a:blip r:embed="rId5"/>
          <a:stretch>
            <a:fillRect/>
          </a:stretch>
        </p:blipFill>
        <p:spPr>
          <a:xfrm>
            <a:off x="5440680" y="4242816"/>
            <a:ext cx="365760" cy="365760"/>
          </a:xfrm>
          <a:prstGeom prst="rect">
            <a:avLst/>
          </a:prstGeom>
        </p:spPr>
      </p:pic>
      <p:sp>
        <p:nvSpPr>
          <p:cNvPr id="33" name="Text 26"/>
          <p:cNvSpPr txBox="1"/>
          <p:nvPr/>
        </p:nvSpPr>
        <p:spPr>
          <a:xfrm>
            <a:off x="6035040" y="4014216"/>
            <a:ext cx="2194560" cy="292608"/>
          </a:xfrm>
          <a:prstGeom prst="rect">
            <a:avLst/>
          </a:prstGeom>
          <a:noFill/>
          <a:ln/>
        </p:spPr>
        <p:txBody>
          <a:bodyPr wrap="square" lIns="0" tIns="0" rIns="0" bIns="0" rtlCol="0" anchor="ctr"/>
          <a:lstStyle/>
          <a:p>
            <a:pPr indent="0" marL="0">
              <a:buNone/>
            </a:pPr>
            <a:r>
              <a:rPr lang="en-US" sz="1300" b="1" dirty="0">
                <a:solidFill>
                  <a:schemeClr val="bg2"/>
                </a:solidFill>
                <a:latin typeface="Cambria" pitchFamily="34" charset="0"/>
                <a:ea typeface="Cambria" pitchFamily="34" charset="-122"/>
                <a:cs typeface="Cambria" pitchFamily="34" charset="-120"/>
              </a:rPr>
              <a:t>Proveedor de correo</a:t>
            </a:r>
            <a:endParaRPr lang="en-US" sz="1300" dirty="0"/>
          </a:p>
        </p:txBody>
      </p:sp>
      <p:sp>
        <p:nvSpPr>
          <p:cNvPr id="34" name="Text 27"/>
          <p:cNvSpPr txBox="1"/>
          <p:nvPr/>
        </p:nvSpPr>
        <p:spPr>
          <a:xfrm>
            <a:off x="6035040" y="4306824"/>
            <a:ext cx="2194560" cy="548640"/>
          </a:xfrm>
          <a:prstGeom prst="rect">
            <a:avLst/>
          </a:prstGeom>
          <a:noFill/>
          <a:ln/>
        </p:spPr>
        <p:txBody>
          <a:bodyPr wrap="square" lIns="0" tIns="0" rIns="0" bIns="0" rtlCol="0" anchor="t"/>
          <a:lstStyle/>
          <a:p>
            <a:pPr indent="0" marL="0">
              <a:buNone/>
            </a:pPr>
            <a:r>
              <a:rPr lang="en-US" sz="1050" dirty="0">
                <a:solidFill>
                  <a:schemeClr val="accent6"/>
                </a:solidFill>
                <a:latin typeface="Calibri" pitchFamily="34" charset="0"/>
                <a:ea typeface="Calibri" pitchFamily="34" charset="-122"/>
                <a:cs typeface="Calibri" pitchFamily="34" charset="-120"/>
              </a:rPr>
              <a:t>Encargado: bienvenidas y comprobantes de pago.</a:t>
            </a:r>
            <a:endParaRPr lang="en-US" sz="1050" dirty="0"/>
          </a:p>
        </p:txBody>
      </p:sp>
      <p:sp>
        <p:nvSpPr>
          <p:cNvPr id="35" name="Shape 28"/>
          <p:cNvSpPr/>
          <p:nvPr/>
        </p:nvSpPr>
        <p:spPr>
          <a:xfrm>
            <a:off x="8458200" y="3922776"/>
            <a:ext cx="3108960" cy="1005840"/>
          </a:xfrm>
          <a:prstGeom prst="roundRect">
            <a:avLst>
              <a:gd name="adj" fmla="val 9091"/>
            </a:avLst>
          </a:prstGeom>
          <a:solidFill>
            <a:schemeClr val="tx2"/>
          </a:solidFill>
          <a:ln w="12700">
            <a:solidFill>
              <a:schemeClr val="accent1"/>
            </a:solidFill>
            <a:prstDash val="solid"/>
          </a:ln>
        </p:spPr>
      </p:sp>
      <p:sp>
        <p:nvSpPr>
          <p:cNvPr id="36" name="Shape 29"/>
          <p:cNvSpPr/>
          <p:nvPr/>
        </p:nvSpPr>
        <p:spPr>
          <a:xfrm>
            <a:off x="8586216" y="4142232"/>
            <a:ext cx="566928" cy="566928"/>
          </a:xfrm>
          <a:prstGeom prst="ellipse">
            <a:avLst/>
          </a:prstGeom>
          <a:solidFill>
            <a:schemeClr val="tx1"/>
          </a:solidFill>
          <a:ln w="12700">
            <a:solidFill>
              <a:schemeClr val="accent1"/>
            </a:solidFill>
            <a:prstDash val="solid"/>
          </a:ln>
        </p:spPr>
      </p:sp>
      <p:pic>
        <p:nvPicPr>
          <p:cNvPr id="37" name="Image 5" descr="preencoded.png">    </p:cNvPr>
          <p:cNvPicPr>
            <a:picLocks noChangeAspect="1"/>
          </p:cNvPicPr>
          <p:nvPr/>
        </p:nvPicPr>
        <p:blipFill>
          <a:blip r:embed="rId6"/>
          <a:stretch>
            <a:fillRect/>
          </a:stretch>
        </p:blipFill>
        <p:spPr>
          <a:xfrm>
            <a:off x="8686800" y="4242816"/>
            <a:ext cx="365760" cy="365760"/>
          </a:xfrm>
          <a:prstGeom prst="rect">
            <a:avLst/>
          </a:prstGeom>
        </p:spPr>
      </p:pic>
      <p:sp>
        <p:nvSpPr>
          <p:cNvPr id="38" name="Text 30"/>
          <p:cNvSpPr txBox="1"/>
          <p:nvPr/>
        </p:nvSpPr>
        <p:spPr>
          <a:xfrm>
            <a:off x="9281160" y="4014216"/>
            <a:ext cx="2194560" cy="292608"/>
          </a:xfrm>
          <a:prstGeom prst="rect">
            <a:avLst/>
          </a:prstGeom>
          <a:noFill/>
          <a:ln/>
        </p:spPr>
        <p:txBody>
          <a:bodyPr wrap="square" lIns="0" tIns="0" rIns="0" bIns="0" rtlCol="0" anchor="ctr"/>
          <a:lstStyle/>
          <a:p>
            <a:pPr indent="0" marL="0">
              <a:buNone/>
            </a:pPr>
            <a:r>
              <a:rPr lang="en-US" sz="1300" b="1" dirty="0">
                <a:solidFill>
                  <a:schemeClr val="bg2"/>
                </a:solidFill>
                <a:latin typeface="Cambria" pitchFamily="34" charset="0"/>
                <a:ea typeface="Cambria" pitchFamily="34" charset="-122"/>
                <a:cs typeface="Cambria" pitchFamily="34" charset="-120"/>
              </a:rPr>
              <a:t>MercadoPago</a:t>
            </a:r>
            <a:endParaRPr lang="en-US" sz="1300" dirty="0"/>
          </a:p>
        </p:txBody>
      </p:sp>
      <p:sp>
        <p:nvSpPr>
          <p:cNvPr id="39" name="Text 31"/>
          <p:cNvSpPr txBox="1"/>
          <p:nvPr/>
        </p:nvSpPr>
        <p:spPr>
          <a:xfrm>
            <a:off x="9281160" y="4306824"/>
            <a:ext cx="2194560" cy="548640"/>
          </a:xfrm>
          <a:prstGeom prst="rect">
            <a:avLst/>
          </a:prstGeom>
          <a:noFill/>
          <a:ln/>
        </p:spPr>
        <p:txBody>
          <a:bodyPr wrap="square" lIns="0" tIns="0" rIns="0" bIns="0" rtlCol="0" anchor="t"/>
          <a:lstStyle/>
          <a:p>
            <a:pPr indent="0" marL="0">
              <a:buNone/>
            </a:pPr>
            <a:r>
              <a:rPr lang="en-US" sz="1050" dirty="0">
                <a:solidFill>
                  <a:schemeClr val="accent6"/>
                </a:solidFill>
                <a:latin typeface="Calibri" pitchFamily="34" charset="0"/>
                <a:ea typeface="Calibri" pitchFamily="34" charset="-122"/>
                <a:cs typeface="Calibri" pitchFamily="34" charset="-120"/>
              </a:rPr>
              <a:t>Responsable propio: procesa el pago y la tarjeta.</a:t>
            </a:r>
            <a:endParaRPr lang="en-US" sz="1050" dirty="0"/>
          </a:p>
        </p:txBody>
      </p:sp>
      <p:sp>
        <p:nvSpPr>
          <p:cNvPr id="40" name="Shape 32"/>
          <p:cNvSpPr/>
          <p:nvPr/>
        </p:nvSpPr>
        <p:spPr>
          <a:xfrm>
            <a:off x="5212080" y="5084064"/>
            <a:ext cx="3108960" cy="1005840"/>
          </a:xfrm>
          <a:prstGeom prst="roundRect">
            <a:avLst>
              <a:gd name="adj" fmla="val 9091"/>
            </a:avLst>
          </a:prstGeom>
          <a:solidFill>
            <a:schemeClr val="tx2"/>
          </a:solidFill>
          <a:ln w="12700">
            <a:solidFill>
              <a:schemeClr val="accent1"/>
            </a:solidFill>
            <a:prstDash val="solid"/>
          </a:ln>
        </p:spPr>
      </p:sp>
      <p:sp>
        <p:nvSpPr>
          <p:cNvPr id="41" name="Shape 33"/>
          <p:cNvSpPr/>
          <p:nvPr/>
        </p:nvSpPr>
        <p:spPr>
          <a:xfrm>
            <a:off x="5340096" y="5303520"/>
            <a:ext cx="566928" cy="566928"/>
          </a:xfrm>
          <a:prstGeom prst="ellipse">
            <a:avLst/>
          </a:prstGeom>
          <a:solidFill>
            <a:schemeClr val="tx1"/>
          </a:solidFill>
          <a:ln w="12700">
            <a:solidFill>
              <a:schemeClr val="accent1"/>
            </a:solidFill>
            <a:prstDash val="solid"/>
          </a:ln>
        </p:spPr>
      </p:sp>
      <p:pic>
        <p:nvPicPr>
          <p:cNvPr id="42" name="Image 6" descr="preencoded.png">    </p:cNvPr>
          <p:cNvPicPr>
            <a:picLocks noChangeAspect="1"/>
          </p:cNvPicPr>
          <p:nvPr/>
        </p:nvPicPr>
        <p:blipFill>
          <a:blip r:embed="rId7"/>
          <a:stretch>
            <a:fillRect/>
          </a:stretch>
        </p:blipFill>
        <p:spPr>
          <a:xfrm>
            <a:off x="5440680" y="5404104"/>
            <a:ext cx="365760" cy="365760"/>
          </a:xfrm>
          <a:prstGeom prst="rect">
            <a:avLst/>
          </a:prstGeom>
        </p:spPr>
      </p:pic>
      <p:sp>
        <p:nvSpPr>
          <p:cNvPr id="43" name="Text 34"/>
          <p:cNvSpPr txBox="1"/>
          <p:nvPr/>
        </p:nvSpPr>
        <p:spPr>
          <a:xfrm>
            <a:off x="6035040" y="5175504"/>
            <a:ext cx="2194560" cy="292608"/>
          </a:xfrm>
          <a:prstGeom prst="rect">
            <a:avLst/>
          </a:prstGeom>
          <a:noFill/>
          <a:ln/>
        </p:spPr>
        <p:txBody>
          <a:bodyPr wrap="square" lIns="0" tIns="0" rIns="0" bIns="0" rtlCol="0" anchor="ctr"/>
          <a:lstStyle/>
          <a:p>
            <a:pPr indent="0" marL="0">
              <a:buNone/>
            </a:pPr>
            <a:r>
              <a:rPr lang="en-US" sz="1300" b="1" dirty="0">
                <a:solidFill>
                  <a:schemeClr val="bg2"/>
                </a:solidFill>
                <a:latin typeface="Cambria" pitchFamily="34" charset="0"/>
                <a:ea typeface="Cambria" pitchFamily="34" charset="-122"/>
                <a:cs typeface="Cambria" pitchFamily="34" charset="-120"/>
              </a:rPr>
              <a:t>Otros jugadores</a:t>
            </a:r>
            <a:endParaRPr lang="en-US" sz="1300" dirty="0"/>
          </a:p>
        </p:txBody>
      </p:sp>
      <p:sp>
        <p:nvSpPr>
          <p:cNvPr id="44" name="Text 35"/>
          <p:cNvSpPr txBox="1"/>
          <p:nvPr/>
        </p:nvSpPr>
        <p:spPr>
          <a:xfrm>
            <a:off x="6035040" y="5468112"/>
            <a:ext cx="2194560" cy="548640"/>
          </a:xfrm>
          <a:prstGeom prst="rect">
            <a:avLst/>
          </a:prstGeom>
          <a:noFill/>
          <a:ln/>
        </p:spPr>
        <p:txBody>
          <a:bodyPr wrap="square" lIns="0" tIns="0" rIns="0" bIns="0" rtlCol="0" anchor="t"/>
          <a:lstStyle/>
          <a:p>
            <a:pPr indent="0" marL="0">
              <a:buNone/>
            </a:pPr>
            <a:r>
              <a:rPr lang="en-US" sz="1050" dirty="0">
                <a:solidFill>
                  <a:schemeClr val="accent6"/>
                </a:solidFill>
                <a:latin typeface="Calibri" pitchFamily="34" charset="0"/>
                <a:ea typeface="Calibri" pitchFamily="34" charset="-122"/>
                <a:cs typeface="Calibri" pitchFamily="34" charset="-120"/>
              </a:rPr>
              <a:t>Destinatarios: ven nombre, cartas, ofertas y distancia.</a:t>
            </a:r>
            <a:endParaRPr lang="en-US" sz="1050" dirty="0"/>
          </a:p>
        </p:txBody>
      </p:sp>
      <p:sp>
        <p:nvSpPr>
          <p:cNvPr id="45" name="Shape 36"/>
          <p:cNvSpPr/>
          <p:nvPr/>
        </p:nvSpPr>
        <p:spPr>
          <a:xfrm>
            <a:off x="8458200" y="5084064"/>
            <a:ext cx="3108960" cy="1005840"/>
          </a:xfrm>
          <a:prstGeom prst="roundRect">
            <a:avLst>
              <a:gd name="adj" fmla="val 9091"/>
            </a:avLst>
          </a:prstGeom>
          <a:solidFill>
            <a:schemeClr val="tx2"/>
          </a:solidFill>
          <a:ln w="12700">
            <a:solidFill>
              <a:schemeClr val="accent1"/>
            </a:solidFill>
            <a:prstDash val="solid"/>
          </a:ln>
        </p:spPr>
      </p:sp>
      <p:sp>
        <p:nvSpPr>
          <p:cNvPr id="46" name="Shape 37"/>
          <p:cNvSpPr/>
          <p:nvPr/>
        </p:nvSpPr>
        <p:spPr>
          <a:xfrm>
            <a:off x="8586216" y="5303520"/>
            <a:ext cx="566928" cy="566928"/>
          </a:xfrm>
          <a:prstGeom prst="ellipse">
            <a:avLst/>
          </a:prstGeom>
          <a:solidFill>
            <a:schemeClr val="tx1"/>
          </a:solidFill>
          <a:ln w="12700">
            <a:solidFill>
              <a:schemeClr val="accent1"/>
            </a:solidFill>
            <a:prstDash val="solid"/>
          </a:ln>
        </p:spPr>
      </p:sp>
      <p:pic>
        <p:nvPicPr>
          <p:cNvPr id="47" name="Image 7" descr="preencoded.png">    </p:cNvPr>
          <p:cNvPicPr>
            <a:picLocks noChangeAspect="1"/>
          </p:cNvPicPr>
          <p:nvPr/>
        </p:nvPicPr>
        <p:blipFill>
          <a:blip r:embed="rId8"/>
          <a:stretch>
            <a:fillRect/>
          </a:stretch>
        </p:blipFill>
        <p:spPr>
          <a:xfrm>
            <a:off x="8686800" y="5404104"/>
            <a:ext cx="365760" cy="365760"/>
          </a:xfrm>
          <a:prstGeom prst="rect">
            <a:avLst/>
          </a:prstGeom>
        </p:spPr>
      </p:pic>
      <p:sp>
        <p:nvSpPr>
          <p:cNvPr id="48" name="Text 38"/>
          <p:cNvSpPr txBox="1"/>
          <p:nvPr/>
        </p:nvSpPr>
        <p:spPr>
          <a:xfrm>
            <a:off x="9281160" y="5175504"/>
            <a:ext cx="2194560" cy="292608"/>
          </a:xfrm>
          <a:prstGeom prst="rect">
            <a:avLst/>
          </a:prstGeom>
          <a:noFill/>
          <a:ln/>
        </p:spPr>
        <p:txBody>
          <a:bodyPr wrap="square" lIns="0" tIns="0" rIns="0" bIns="0" rtlCol="0" anchor="ctr"/>
          <a:lstStyle/>
          <a:p>
            <a:pPr indent="0" marL="0">
              <a:buNone/>
            </a:pPr>
            <a:r>
              <a:rPr lang="en-US" sz="1300" b="1" dirty="0">
                <a:solidFill>
                  <a:schemeClr val="bg2"/>
                </a:solidFill>
                <a:latin typeface="Cambria" pitchFamily="34" charset="0"/>
                <a:ea typeface="Cambria" pitchFamily="34" charset="-122"/>
                <a:cs typeface="Cambria" pitchFamily="34" charset="-120"/>
              </a:rPr>
              <a:t>Scryfall</a:t>
            </a:r>
            <a:endParaRPr lang="en-US" sz="1300" dirty="0"/>
          </a:p>
        </p:txBody>
      </p:sp>
      <p:sp>
        <p:nvSpPr>
          <p:cNvPr id="49" name="Text 39"/>
          <p:cNvSpPr txBox="1"/>
          <p:nvPr/>
        </p:nvSpPr>
        <p:spPr>
          <a:xfrm>
            <a:off x="9281160" y="5468112"/>
            <a:ext cx="2194560" cy="548640"/>
          </a:xfrm>
          <a:prstGeom prst="rect">
            <a:avLst/>
          </a:prstGeom>
          <a:noFill/>
          <a:ln/>
        </p:spPr>
        <p:txBody>
          <a:bodyPr wrap="square" lIns="0" tIns="0" rIns="0" bIns="0" rtlCol="0" anchor="t"/>
          <a:lstStyle/>
          <a:p>
            <a:pPr indent="0" marL="0">
              <a:buNone/>
            </a:pPr>
            <a:r>
              <a:rPr lang="en-US" sz="1050" dirty="0">
                <a:solidFill>
                  <a:schemeClr val="accent6"/>
                </a:solidFill>
                <a:latin typeface="Calibri" pitchFamily="34" charset="0"/>
                <a:ea typeface="Calibri" pitchFamily="34" charset="-122"/>
                <a:cs typeface="Calibri" pitchFamily="34" charset="-120"/>
              </a:rPr>
              <a:t>Catálogo importado offline: no recibe datos de jugadores.</a:t>
            </a:r>
            <a:endParaRPr lang="en-US" sz="105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ambria"/>
                <a:ea typeface="Cambria"/>
                <a:cs typeface="Camb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3000" b="1" dirty="0">
                <a:solidFill>
                  <a:schemeClr val="bg2"/>
                </a:solidFill>
                <a:latin typeface="Cambria" pitchFamily="34" charset="0"/>
                <a:ea typeface="Cambria" pitchFamily="34" charset="-122"/>
                <a:cs typeface="Cambria" pitchFamily="34" charset="-120"/>
              </a:rPr>
              <a:t>Inventario: qué datos maneja el sistema</a:t>
            </a:r>
            <a:endParaRPr lang="en-US" sz="3000" dirty="0"/>
          </a:p>
        </p:txBody>
      </p:sp>
      <p:sp>
        <p:nvSpPr>
          <p:cNvPr id="3" name="Text 0"/>
          <p:cNvSpPr/>
          <p:nvPr>
            <p:ph idx="101" type="body" hasCustomPrompt="1"/>
          </p:nvPr>
        </p:nvSpPr>
        <p:spPr>
          <a:xfrm>
            <a:off x="548640" y="987552"/>
            <a:ext cx="11064240" cy="365760"/>
          </a:xfrm>
          <a:prstGeom prst="rect">
            <a:avLst/>
          </a:prstGeom>
          <a:noFill/>
          <a:ln/>
        </p:spPr>
        <p:txBody>
          <a:bodyPr wrap="square" lIns="0" tIns="0" rIns="0" bIns="0" rtlCol="0" anchor="t"/>
          <a:lstStyle/>
          <a:p>
            <a:pPr indent="0" marL="0">
              <a:buNone/>
            </a:pPr>
            <a:r>
              <a:rPr lang="en-US" sz="1400" i="1" dirty="0">
                <a:solidFill>
                  <a:schemeClr val="accent1"/>
                </a:solidFill>
                <a:latin typeface="Calibri" pitchFamily="34" charset="0"/>
                <a:ea typeface="Calibri" pitchFamily="34" charset="-122"/>
                <a:cs typeface="Calibri" pitchFamily="34" charset="-120"/>
              </a:rPr>
              <a:t>Construido desde el esquema real de la base de datos, el código de la app y sus integraciones</a:t>
            </a:r>
            <a:endParaRPr lang="en-US" sz="1400" dirty="0"/>
          </a:p>
        </p:txBody>
      </p:sp>
      <p:sp>
        <p:nvSpPr>
          <p:cNvPr id="4" name="Text 2"/>
          <p:cNvSpPr txBox="1"/>
          <p:nvPr/>
        </p:nvSpPr>
        <p:spPr>
          <a:xfrm>
            <a:off x="548640" y="1463040"/>
            <a:ext cx="2377440" cy="960120"/>
          </a:xfrm>
          <a:prstGeom prst="rect">
            <a:avLst/>
          </a:prstGeom>
          <a:noFill/>
          <a:ln/>
        </p:spPr>
        <p:txBody>
          <a:bodyPr wrap="square" lIns="0" tIns="0" rIns="0" bIns="0" rtlCol="0" anchor="t"/>
          <a:lstStyle/>
          <a:p>
            <a:pPr indent="0" marL="0">
              <a:buNone/>
            </a:pPr>
            <a:r>
              <a:rPr lang="en-US" sz="6600" b="1" dirty="0">
                <a:solidFill>
                  <a:schemeClr val="accent1"/>
                </a:solidFill>
                <a:latin typeface="Cambria" pitchFamily="34" charset="0"/>
                <a:ea typeface="Cambria" pitchFamily="34" charset="-122"/>
                <a:cs typeface="Cambria" pitchFamily="34" charset="-120"/>
              </a:rPr>
              <a:t>12</a:t>
            </a:r>
            <a:endParaRPr lang="en-US" sz="6600" dirty="0"/>
          </a:p>
        </p:txBody>
      </p:sp>
      <p:sp>
        <p:nvSpPr>
          <p:cNvPr id="5" name="Text 3"/>
          <p:cNvSpPr txBox="1"/>
          <p:nvPr/>
        </p:nvSpPr>
        <p:spPr>
          <a:xfrm>
            <a:off x="548640" y="2423160"/>
            <a:ext cx="2377440" cy="36576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filas en el inventario</a:t>
            </a:r>
            <a:endParaRPr lang="en-US" sz="1400" dirty="0"/>
          </a:p>
        </p:txBody>
      </p:sp>
      <p:sp>
        <p:nvSpPr>
          <p:cNvPr id="6" name="Text 4"/>
          <p:cNvSpPr txBox="1"/>
          <p:nvPr/>
        </p:nvSpPr>
        <p:spPr>
          <a:xfrm>
            <a:off x="548640" y="2834640"/>
            <a:ext cx="2377440" cy="960120"/>
          </a:xfrm>
          <a:prstGeom prst="rect">
            <a:avLst/>
          </a:prstGeom>
          <a:noFill/>
          <a:ln/>
        </p:spPr>
        <p:txBody>
          <a:bodyPr wrap="square" lIns="0" tIns="0" rIns="0" bIns="0" rtlCol="0" anchor="t"/>
          <a:lstStyle/>
          <a:p>
            <a:pPr indent="0" marL="0">
              <a:buNone/>
            </a:pPr>
            <a:r>
              <a:rPr lang="en-US" sz="6600" b="1" dirty="0">
                <a:solidFill>
                  <a:schemeClr val="accent1"/>
                </a:solidFill>
                <a:latin typeface="Cambria" pitchFamily="34" charset="0"/>
                <a:ea typeface="Cambria" pitchFamily="34" charset="-122"/>
                <a:cs typeface="Cambria" pitchFamily="34" charset="-120"/>
              </a:rPr>
              <a:t>9</a:t>
            </a:r>
            <a:endParaRPr lang="en-US" sz="6600" dirty="0"/>
          </a:p>
        </p:txBody>
      </p:sp>
      <p:sp>
        <p:nvSpPr>
          <p:cNvPr id="7" name="Text 5"/>
          <p:cNvSpPr txBox="1"/>
          <p:nvPr/>
        </p:nvSpPr>
        <p:spPr>
          <a:xfrm>
            <a:off x="548640" y="3794760"/>
            <a:ext cx="2377440" cy="36576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categorías de datos</a:t>
            </a:r>
            <a:endParaRPr lang="en-US" sz="1400" dirty="0"/>
          </a:p>
        </p:txBody>
      </p:sp>
      <p:sp>
        <p:nvSpPr>
          <p:cNvPr id="8" name="Shape 6"/>
          <p:cNvSpPr/>
          <p:nvPr/>
        </p:nvSpPr>
        <p:spPr>
          <a:xfrm>
            <a:off x="548640" y="4389120"/>
            <a:ext cx="219456" cy="219456"/>
          </a:xfrm>
          <a:prstGeom prst="ellipse">
            <a:avLst/>
          </a:prstGeom>
          <a:solidFill>
            <a:schemeClr val="accent4"/>
          </a:solidFill>
          <a:ln w="9525">
            <a:solidFill>
              <a:schemeClr val="tx1"/>
            </a:solidFill>
            <a:prstDash val="solid"/>
          </a:ln>
        </p:spPr>
      </p:sp>
      <p:sp>
        <p:nvSpPr>
          <p:cNvPr id="9" name="Text 7"/>
          <p:cNvSpPr txBox="1"/>
          <p:nvPr/>
        </p:nvSpPr>
        <p:spPr>
          <a:xfrm>
            <a:off x="868680" y="4361688"/>
            <a:ext cx="2103120" cy="274320"/>
          </a:xfrm>
          <a:prstGeom prst="rect">
            <a:avLst/>
          </a:prstGeom>
          <a:noFill/>
          <a:ln/>
        </p:spPr>
        <p:txBody>
          <a:bodyPr wrap="square" lIns="0" tIns="0" rIns="0" bIns="0" rtlCol="0" anchor="ctr"/>
          <a:lstStyle/>
          <a:p>
            <a:pPr indent="0" marL="0">
              <a:buNone/>
            </a:pPr>
            <a:r>
              <a:rPr lang="en-US" sz="1200" dirty="0">
                <a:solidFill>
                  <a:schemeClr val="bg2"/>
                </a:solidFill>
                <a:latin typeface="Calibri" pitchFamily="34" charset="0"/>
                <a:ea typeface="Calibri" pitchFamily="34" charset="-122"/>
                <a:cs typeface="Calibri" pitchFamily="34" charset="-120"/>
              </a:rPr>
              <a:t>Categoría especial</a:t>
            </a:r>
            <a:endParaRPr lang="en-US" sz="1200" dirty="0"/>
          </a:p>
        </p:txBody>
      </p:sp>
      <p:sp>
        <p:nvSpPr>
          <p:cNvPr id="10" name="Shape 8"/>
          <p:cNvSpPr/>
          <p:nvPr/>
        </p:nvSpPr>
        <p:spPr>
          <a:xfrm>
            <a:off x="548640" y="4754880"/>
            <a:ext cx="219456" cy="219456"/>
          </a:xfrm>
          <a:prstGeom prst="ellipse">
            <a:avLst/>
          </a:prstGeom>
          <a:solidFill>
            <a:schemeClr val="accent6"/>
          </a:solidFill>
          <a:ln w="9525">
            <a:solidFill>
              <a:schemeClr val="tx1"/>
            </a:solidFill>
            <a:prstDash val="solid"/>
          </a:ln>
        </p:spPr>
      </p:sp>
      <p:sp>
        <p:nvSpPr>
          <p:cNvPr id="11" name="Text 9"/>
          <p:cNvSpPr txBox="1"/>
          <p:nvPr/>
        </p:nvSpPr>
        <p:spPr>
          <a:xfrm>
            <a:off x="868680" y="4727448"/>
            <a:ext cx="2103120" cy="274320"/>
          </a:xfrm>
          <a:prstGeom prst="rect">
            <a:avLst/>
          </a:prstGeom>
          <a:noFill/>
          <a:ln/>
        </p:spPr>
        <p:txBody>
          <a:bodyPr wrap="square" lIns="0" tIns="0" rIns="0" bIns="0" rtlCol="0" anchor="ctr"/>
          <a:lstStyle/>
          <a:p>
            <a:pPr indent="0" marL="0">
              <a:buNone/>
            </a:pPr>
            <a:r>
              <a:rPr lang="en-US" sz="1200" dirty="0">
                <a:solidFill>
                  <a:schemeClr val="bg2"/>
                </a:solidFill>
                <a:latin typeface="Calibri" pitchFamily="34" charset="0"/>
                <a:ea typeface="Calibri" pitchFamily="34" charset="-122"/>
                <a:cs typeface="Calibri" pitchFamily="34" charset="-120"/>
              </a:rPr>
              <a:t>Alto riesgo / crítico</a:t>
            </a:r>
            <a:endParaRPr lang="en-US" sz="1200" dirty="0"/>
          </a:p>
        </p:txBody>
      </p:sp>
      <p:sp>
        <p:nvSpPr>
          <p:cNvPr id="12" name="Shape 10"/>
          <p:cNvSpPr/>
          <p:nvPr/>
        </p:nvSpPr>
        <p:spPr>
          <a:xfrm>
            <a:off x="548640" y="5120640"/>
            <a:ext cx="219456" cy="219456"/>
          </a:xfrm>
          <a:prstGeom prst="ellipse">
            <a:avLst/>
          </a:prstGeom>
          <a:solidFill>
            <a:schemeClr val="accent2"/>
          </a:solidFill>
          <a:ln w="9525">
            <a:solidFill>
              <a:schemeClr val="tx1"/>
            </a:solidFill>
            <a:prstDash val="solid"/>
          </a:ln>
        </p:spPr>
      </p:sp>
      <p:sp>
        <p:nvSpPr>
          <p:cNvPr id="13" name="Text 11"/>
          <p:cNvSpPr txBox="1"/>
          <p:nvPr/>
        </p:nvSpPr>
        <p:spPr>
          <a:xfrm>
            <a:off x="868680" y="5093208"/>
            <a:ext cx="2103120" cy="274320"/>
          </a:xfrm>
          <a:prstGeom prst="rect">
            <a:avLst/>
          </a:prstGeom>
          <a:noFill/>
          <a:ln/>
        </p:spPr>
        <p:txBody>
          <a:bodyPr wrap="square" lIns="0" tIns="0" rIns="0" bIns="0" rtlCol="0" anchor="ctr"/>
          <a:lstStyle/>
          <a:p>
            <a:pPr indent="0" marL="0">
              <a:buNone/>
            </a:pPr>
            <a:r>
              <a:rPr lang="en-US" sz="1200" dirty="0">
                <a:solidFill>
                  <a:schemeClr val="bg2"/>
                </a:solidFill>
                <a:latin typeface="Calibri" pitchFamily="34" charset="0"/>
                <a:ea typeface="Calibri" pitchFamily="34" charset="-122"/>
                <a:cs typeface="Calibri" pitchFamily="34" charset="-120"/>
              </a:rPr>
              <a:t>Personal</a:t>
            </a:r>
            <a:endParaRPr lang="en-US" sz="1200" dirty="0"/>
          </a:p>
        </p:txBody>
      </p:sp>
      <p:sp>
        <p:nvSpPr>
          <p:cNvPr id="14" name="Text 12"/>
          <p:cNvSpPr txBox="1"/>
          <p:nvPr/>
        </p:nvSpPr>
        <p:spPr>
          <a:xfrm>
            <a:off x="548640" y="5532120"/>
            <a:ext cx="2468880" cy="731520"/>
          </a:xfrm>
          <a:prstGeom prst="rect">
            <a:avLst/>
          </a:prstGeom>
          <a:noFill/>
          <a:ln/>
        </p:spPr>
        <p:txBody>
          <a:bodyPr wrap="square" lIns="0" tIns="0" rIns="0" bIns="0" rtlCol="0" anchor="t"/>
          <a:lstStyle/>
          <a:p>
            <a:pPr indent="0" marL="0">
              <a:buNone/>
            </a:pPr>
            <a:r>
              <a:rPr lang="en-US" sz="1200" i="1" dirty="0">
                <a:solidFill>
                  <a:schemeClr val="accent6"/>
                </a:solidFill>
                <a:latin typeface="Calibri" pitchFamily="34" charset="0"/>
                <a:ea typeface="Calibri" pitchFamily="34" charset="-122"/>
                <a:cs typeface="Calibri" pitchFamily="34" charset="-120"/>
              </a:rPr>
              <a:t>Base más usada: contrato (Ley 19.628, art. 13 c). Hoy nada se borra.</a:t>
            </a:r>
            <a:endParaRPr lang="en-US" sz="1200" dirty="0"/>
          </a:p>
        </p:txBody>
      </p:sp>
      <p:sp>
        <p:nvSpPr>
          <p:cNvPr id="15" name="Shape 13"/>
          <p:cNvSpPr/>
          <p:nvPr/>
        </p:nvSpPr>
        <p:spPr>
          <a:xfrm>
            <a:off x="3246120" y="1508760"/>
            <a:ext cx="2715768" cy="1463040"/>
          </a:xfrm>
          <a:prstGeom prst="roundRect">
            <a:avLst>
              <a:gd name="adj" fmla="val 6250"/>
            </a:avLst>
          </a:prstGeom>
          <a:solidFill>
            <a:schemeClr val="tx2"/>
          </a:solidFill>
          <a:ln w="9525">
            <a:solidFill>
              <a:schemeClr val="accent2"/>
            </a:solidFill>
            <a:prstDash val="solid"/>
          </a:ln>
        </p:spPr>
      </p:sp>
      <p:pic>
        <p:nvPicPr>
          <p:cNvPr id="16" name="Image 0" descr="preencoded.png">    </p:cNvPr>
          <p:cNvPicPr>
            <a:picLocks noChangeAspect="1"/>
          </p:cNvPicPr>
          <p:nvPr/>
        </p:nvPicPr>
        <p:blipFill>
          <a:blip r:embed="rId1"/>
          <a:stretch>
            <a:fillRect/>
          </a:stretch>
        </p:blipFill>
        <p:spPr>
          <a:xfrm>
            <a:off x="3410712" y="1673352"/>
            <a:ext cx="438912" cy="438912"/>
          </a:xfrm>
          <a:prstGeom prst="rect">
            <a:avLst/>
          </a:prstGeom>
        </p:spPr>
      </p:pic>
      <p:sp>
        <p:nvSpPr>
          <p:cNvPr id="17" name="Shape 14"/>
          <p:cNvSpPr/>
          <p:nvPr/>
        </p:nvSpPr>
        <p:spPr>
          <a:xfrm>
            <a:off x="5577840" y="1691640"/>
            <a:ext cx="219456" cy="219456"/>
          </a:xfrm>
          <a:prstGeom prst="ellipse">
            <a:avLst/>
          </a:prstGeom>
          <a:solidFill>
            <a:schemeClr val="accent2"/>
          </a:solidFill>
          <a:ln w="9525">
            <a:solidFill>
              <a:schemeClr val="tx1"/>
            </a:solidFill>
            <a:prstDash val="solid"/>
          </a:ln>
        </p:spPr>
      </p:sp>
      <p:sp>
        <p:nvSpPr>
          <p:cNvPr id="18" name="Text 15"/>
          <p:cNvSpPr txBox="1"/>
          <p:nvPr/>
        </p:nvSpPr>
        <p:spPr>
          <a:xfrm>
            <a:off x="3410712" y="2185416"/>
            <a:ext cx="2386584" cy="310896"/>
          </a:xfrm>
          <a:prstGeom prst="rect">
            <a:avLst/>
          </a:prstGeom>
          <a:noFill/>
          <a:ln/>
        </p:spPr>
        <p:txBody>
          <a:bodyPr wrap="square" lIns="0" tIns="0" rIns="0" bIns="0" rtlCol="0" anchor="t"/>
          <a:lstStyle/>
          <a:p>
            <a:pPr indent="0" marL="0">
              <a:buNone/>
            </a:pPr>
            <a:r>
              <a:rPr lang="en-US" sz="1500" b="1" dirty="0">
                <a:solidFill>
                  <a:schemeClr val="bg2"/>
                </a:solidFill>
                <a:latin typeface="Cambria" pitchFamily="34" charset="0"/>
                <a:ea typeface="Cambria" pitchFamily="34" charset="-122"/>
                <a:cs typeface="Cambria" pitchFamily="34" charset="-120"/>
              </a:rPr>
              <a:t>Identificación</a:t>
            </a:r>
            <a:endParaRPr lang="en-US" sz="1500" dirty="0"/>
          </a:p>
        </p:txBody>
      </p:sp>
      <p:sp>
        <p:nvSpPr>
          <p:cNvPr id="19" name="Text 16"/>
          <p:cNvSpPr txBox="1"/>
          <p:nvPr/>
        </p:nvSpPr>
        <p:spPr>
          <a:xfrm>
            <a:off x="3410712" y="2496312"/>
            <a:ext cx="2386584" cy="438912"/>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Correo y nombre visible</a:t>
            </a:r>
            <a:endParaRPr lang="en-US" sz="1150" dirty="0"/>
          </a:p>
        </p:txBody>
      </p:sp>
      <p:sp>
        <p:nvSpPr>
          <p:cNvPr id="20" name="Shape 17"/>
          <p:cNvSpPr/>
          <p:nvPr/>
        </p:nvSpPr>
        <p:spPr>
          <a:xfrm>
            <a:off x="6117336" y="1508760"/>
            <a:ext cx="2715768" cy="1463040"/>
          </a:xfrm>
          <a:prstGeom prst="roundRect">
            <a:avLst>
              <a:gd name="adj" fmla="val 6250"/>
            </a:avLst>
          </a:prstGeom>
          <a:solidFill>
            <a:schemeClr val="tx2"/>
          </a:solidFill>
          <a:ln w="25400">
            <a:solidFill>
              <a:schemeClr val="accent6"/>
            </a:solidFill>
            <a:prstDash val="solid"/>
          </a:ln>
        </p:spPr>
      </p:sp>
      <p:pic>
        <p:nvPicPr>
          <p:cNvPr id="21" name="Image 1" descr="preencoded.png">    </p:cNvPr>
          <p:cNvPicPr>
            <a:picLocks noChangeAspect="1"/>
          </p:cNvPicPr>
          <p:nvPr/>
        </p:nvPicPr>
        <p:blipFill>
          <a:blip r:embed="rId2"/>
          <a:stretch>
            <a:fillRect/>
          </a:stretch>
        </p:blipFill>
        <p:spPr>
          <a:xfrm>
            <a:off x="6281928" y="1673352"/>
            <a:ext cx="438912" cy="438912"/>
          </a:xfrm>
          <a:prstGeom prst="rect">
            <a:avLst/>
          </a:prstGeom>
        </p:spPr>
      </p:pic>
      <p:sp>
        <p:nvSpPr>
          <p:cNvPr id="22" name="Shape 18"/>
          <p:cNvSpPr/>
          <p:nvPr/>
        </p:nvSpPr>
        <p:spPr>
          <a:xfrm>
            <a:off x="8449056" y="1691640"/>
            <a:ext cx="219456" cy="219456"/>
          </a:xfrm>
          <a:prstGeom prst="ellipse">
            <a:avLst/>
          </a:prstGeom>
          <a:solidFill>
            <a:schemeClr val="accent6"/>
          </a:solidFill>
          <a:ln w="9525">
            <a:solidFill>
              <a:schemeClr val="tx1"/>
            </a:solidFill>
            <a:prstDash val="solid"/>
          </a:ln>
        </p:spPr>
      </p:sp>
      <p:sp>
        <p:nvSpPr>
          <p:cNvPr id="23" name="Text 19"/>
          <p:cNvSpPr txBox="1"/>
          <p:nvPr/>
        </p:nvSpPr>
        <p:spPr>
          <a:xfrm>
            <a:off x="6281928" y="2185416"/>
            <a:ext cx="2386584" cy="310896"/>
          </a:xfrm>
          <a:prstGeom prst="rect">
            <a:avLst/>
          </a:prstGeom>
          <a:noFill/>
          <a:ln/>
        </p:spPr>
        <p:txBody>
          <a:bodyPr wrap="square" lIns="0" tIns="0" rIns="0" bIns="0" rtlCol="0" anchor="t"/>
          <a:lstStyle/>
          <a:p>
            <a:pPr indent="0" marL="0">
              <a:buNone/>
            </a:pPr>
            <a:r>
              <a:rPr lang="en-US" sz="1500" b="1" dirty="0">
                <a:solidFill>
                  <a:schemeClr val="bg2"/>
                </a:solidFill>
                <a:latin typeface="Cambria" pitchFamily="34" charset="0"/>
                <a:ea typeface="Cambria" pitchFamily="34" charset="-122"/>
                <a:cs typeface="Cambria" pitchFamily="34" charset="-120"/>
              </a:rPr>
              <a:t>Credenciales</a:t>
            </a:r>
            <a:endParaRPr lang="en-US" sz="1500" dirty="0"/>
          </a:p>
        </p:txBody>
      </p:sp>
      <p:sp>
        <p:nvSpPr>
          <p:cNvPr id="24" name="Text 20"/>
          <p:cNvSpPr txBox="1"/>
          <p:nvPr/>
        </p:nvSpPr>
        <p:spPr>
          <a:xfrm>
            <a:off x="6281928" y="2496312"/>
            <a:ext cx="2386584" cy="438912"/>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Contraseña y tokens (como hash), secreto 2FA cifrado</a:t>
            </a:r>
            <a:endParaRPr lang="en-US" sz="1150" dirty="0"/>
          </a:p>
        </p:txBody>
      </p:sp>
      <p:sp>
        <p:nvSpPr>
          <p:cNvPr id="25" name="Shape 21"/>
          <p:cNvSpPr/>
          <p:nvPr/>
        </p:nvSpPr>
        <p:spPr>
          <a:xfrm>
            <a:off x="8988552" y="1508760"/>
            <a:ext cx="2715768" cy="1463040"/>
          </a:xfrm>
          <a:prstGeom prst="roundRect">
            <a:avLst>
              <a:gd name="adj" fmla="val 6250"/>
            </a:avLst>
          </a:prstGeom>
          <a:solidFill>
            <a:schemeClr val="tx2"/>
          </a:solidFill>
          <a:ln w="9525">
            <a:solidFill>
              <a:schemeClr val="accent2"/>
            </a:solidFill>
            <a:prstDash val="solid"/>
          </a:ln>
        </p:spPr>
      </p:sp>
      <p:pic>
        <p:nvPicPr>
          <p:cNvPr id="26" name="Image 2" descr="preencoded.png">    </p:cNvPr>
          <p:cNvPicPr>
            <a:picLocks noChangeAspect="1"/>
          </p:cNvPicPr>
          <p:nvPr/>
        </p:nvPicPr>
        <p:blipFill>
          <a:blip r:embed="rId3"/>
          <a:stretch>
            <a:fillRect/>
          </a:stretch>
        </p:blipFill>
        <p:spPr>
          <a:xfrm>
            <a:off x="9153144" y="1673352"/>
            <a:ext cx="438912" cy="438912"/>
          </a:xfrm>
          <a:prstGeom prst="rect">
            <a:avLst/>
          </a:prstGeom>
        </p:spPr>
      </p:pic>
      <p:sp>
        <p:nvSpPr>
          <p:cNvPr id="27" name="Shape 22"/>
          <p:cNvSpPr/>
          <p:nvPr/>
        </p:nvSpPr>
        <p:spPr>
          <a:xfrm>
            <a:off x="11320272" y="1691640"/>
            <a:ext cx="219456" cy="219456"/>
          </a:xfrm>
          <a:prstGeom prst="ellipse">
            <a:avLst/>
          </a:prstGeom>
          <a:solidFill>
            <a:schemeClr val="accent2"/>
          </a:solidFill>
          <a:ln w="9525">
            <a:solidFill>
              <a:schemeClr val="tx1"/>
            </a:solidFill>
            <a:prstDash val="solid"/>
          </a:ln>
        </p:spPr>
      </p:sp>
      <p:sp>
        <p:nvSpPr>
          <p:cNvPr id="28" name="Text 23"/>
          <p:cNvSpPr txBox="1"/>
          <p:nvPr/>
        </p:nvSpPr>
        <p:spPr>
          <a:xfrm>
            <a:off x="9153144" y="2185416"/>
            <a:ext cx="2386584" cy="310896"/>
          </a:xfrm>
          <a:prstGeom prst="rect">
            <a:avLst/>
          </a:prstGeom>
          <a:noFill/>
          <a:ln/>
        </p:spPr>
        <p:txBody>
          <a:bodyPr wrap="square" lIns="0" tIns="0" rIns="0" bIns="0" rtlCol="0" anchor="t"/>
          <a:lstStyle/>
          <a:p>
            <a:pPr indent="0" marL="0">
              <a:buNone/>
            </a:pPr>
            <a:r>
              <a:rPr lang="en-US" sz="1500" b="1" dirty="0">
                <a:solidFill>
                  <a:schemeClr val="bg2"/>
                </a:solidFill>
                <a:latin typeface="Cambria" pitchFamily="34" charset="0"/>
                <a:ea typeface="Cambria" pitchFamily="34" charset="-122"/>
                <a:cs typeface="Cambria" pitchFamily="34" charset="-120"/>
              </a:rPr>
              <a:t>Preferencias</a:t>
            </a:r>
            <a:endParaRPr lang="en-US" sz="1500" dirty="0"/>
          </a:p>
        </p:txBody>
      </p:sp>
      <p:sp>
        <p:nvSpPr>
          <p:cNvPr id="29" name="Text 24"/>
          <p:cNvSpPr txBox="1"/>
          <p:nvPr/>
        </p:nvSpPr>
        <p:spPr>
          <a:xfrm>
            <a:off x="9153144" y="2496312"/>
            <a:ext cx="2386584" cy="438912"/>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Idioma, tema, aviso por correo</a:t>
            </a:r>
            <a:endParaRPr lang="en-US" sz="1150" dirty="0"/>
          </a:p>
        </p:txBody>
      </p:sp>
      <p:sp>
        <p:nvSpPr>
          <p:cNvPr id="30" name="Shape 25"/>
          <p:cNvSpPr/>
          <p:nvPr/>
        </p:nvSpPr>
        <p:spPr>
          <a:xfrm>
            <a:off x="3246120" y="3127248"/>
            <a:ext cx="2715768" cy="1463040"/>
          </a:xfrm>
          <a:prstGeom prst="roundRect">
            <a:avLst>
              <a:gd name="adj" fmla="val 6250"/>
            </a:avLst>
          </a:prstGeom>
          <a:solidFill>
            <a:schemeClr val="tx2"/>
          </a:solidFill>
          <a:ln w="25400">
            <a:solidFill>
              <a:schemeClr val="accent4"/>
            </a:solidFill>
            <a:prstDash val="solid"/>
          </a:ln>
        </p:spPr>
      </p:sp>
      <p:pic>
        <p:nvPicPr>
          <p:cNvPr id="31" name="Image 3" descr="preencoded.png">    </p:cNvPr>
          <p:cNvPicPr>
            <a:picLocks noChangeAspect="1"/>
          </p:cNvPicPr>
          <p:nvPr/>
        </p:nvPicPr>
        <p:blipFill>
          <a:blip r:embed="rId4"/>
          <a:stretch>
            <a:fillRect/>
          </a:stretch>
        </p:blipFill>
        <p:spPr>
          <a:xfrm>
            <a:off x="3410712" y="3291840"/>
            <a:ext cx="438912" cy="438912"/>
          </a:xfrm>
          <a:prstGeom prst="rect">
            <a:avLst/>
          </a:prstGeom>
        </p:spPr>
      </p:pic>
      <p:sp>
        <p:nvSpPr>
          <p:cNvPr id="32" name="Shape 26"/>
          <p:cNvSpPr/>
          <p:nvPr/>
        </p:nvSpPr>
        <p:spPr>
          <a:xfrm>
            <a:off x="5577840" y="3310128"/>
            <a:ext cx="219456" cy="219456"/>
          </a:xfrm>
          <a:prstGeom prst="ellipse">
            <a:avLst/>
          </a:prstGeom>
          <a:solidFill>
            <a:schemeClr val="accent4"/>
          </a:solidFill>
          <a:ln w="9525">
            <a:solidFill>
              <a:schemeClr val="tx1"/>
            </a:solidFill>
            <a:prstDash val="solid"/>
          </a:ln>
        </p:spPr>
      </p:sp>
      <p:sp>
        <p:nvSpPr>
          <p:cNvPr id="33" name="Text 27"/>
          <p:cNvSpPr txBox="1"/>
          <p:nvPr/>
        </p:nvSpPr>
        <p:spPr>
          <a:xfrm>
            <a:off x="3410712" y="3803904"/>
            <a:ext cx="2386584" cy="310896"/>
          </a:xfrm>
          <a:prstGeom prst="rect">
            <a:avLst/>
          </a:prstGeom>
          <a:noFill/>
          <a:ln/>
        </p:spPr>
        <p:txBody>
          <a:bodyPr wrap="square" lIns="0" tIns="0" rIns="0" bIns="0" rtlCol="0" anchor="t"/>
          <a:lstStyle/>
          <a:p>
            <a:pPr indent="0" marL="0">
              <a:buNone/>
            </a:pPr>
            <a:r>
              <a:rPr lang="en-US" sz="1500" b="1" dirty="0">
                <a:solidFill>
                  <a:schemeClr val="bg2"/>
                </a:solidFill>
                <a:latin typeface="Cambria" pitchFamily="34" charset="0"/>
                <a:ea typeface="Cambria" pitchFamily="34" charset="-122"/>
                <a:cs typeface="Cambria" pitchFamily="34" charset="-120"/>
              </a:rPr>
              <a:t>Geolocalización</a:t>
            </a:r>
            <a:endParaRPr lang="en-US" sz="1500" dirty="0"/>
          </a:p>
        </p:txBody>
      </p:sp>
      <p:sp>
        <p:nvSpPr>
          <p:cNvPr id="34" name="Text 28"/>
          <p:cNvSpPr txBox="1"/>
          <p:nvPr/>
        </p:nvSpPr>
        <p:spPr>
          <a:xfrm>
            <a:off x="3410712" y="4114800"/>
            <a:ext cx="2386584" cy="438912"/>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Ubicación cifrada de quien abre el Bazaar con sesión</a:t>
            </a:r>
            <a:endParaRPr lang="en-US" sz="1150" dirty="0"/>
          </a:p>
        </p:txBody>
      </p:sp>
      <p:sp>
        <p:nvSpPr>
          <p:cNvPr id="35" name="Shape 29"/>
          <p:cNvSpPr/>
          <p:nvPr/>
        </p:nvSpPr>
        <p:spPr>
          <a:xfrm>
            <a:off x="6117336" y="3127248"/>
            <a:ext cx="2715768" cy="1463040"/>
          </a:xfrm>
          <a:prstGeom prst="roundRect">
            <a:avLst>
              <a:gd name="adj" fmla="val 6250"/>
            </a:avLst>
          </a:prstGeom>
          <a:solidFill>
            <a:schemeClr val="tx2"/>
          </a:solidFill>
          <a:ln w="9525">
            <a:solidFill>
              <a:schemeClr val="accent2"/>
            </a:solidFill>
            <a:prstDash val="solid"/>
          </a:ln>
        </p:spPr>
      </p:sp>
      <p:pic>
        <p:nvPicPr>
          <p:cNvPr id="36" name="Image 4" descr="preencoded.png">    </p:cNvPr>
          <p:cNvPicPr>
            <a:picLocks noChangeAspect="1"/>
          </p:cNvPicPr>
          <p:nvPr/>
        </p:nvPicPr>
        <p:blipFill>
          <a:blip r:embed="rId5"/>
          <a:stretch>
            <a:fillRect/>
          </a:stretch>
        </p:blipFill>
        <p:spPr>
          <a:xfrm>
            <a:off x="6281928" y="3291840"/>
            <a:ext cx="438912" cy="438912"/>
          </a:xfrm>
          <a:prstGeom prst="rect">
            <a:avLst/>
          </a:prstGeom>
        </p:spPr>
      </p:pic>
      <p:sp>
        <p:nvSpPr>
          <p:cNvPr id="37" name="Shape 30"/>
          <p:cNvSpPr/>
          <p:nvPr/>
        </p:nvSpPr>
        <p:spPr>
          <a:xfrm>
            <a:off x="8449056" y="3310128"/>
            <a:ext cx="219456" cy="219456"/>
          </a:xfrm>
          <a:prstGeom prst="ellipse">
            <a:avLst/>
          </a:prstGeom>
          <a:solidFill>
            <a:schemeClr val="accent2"/>
          </a:solidFill>
          <a:ln w="9525">
            <a:solidFill>
              <a:schemeClr val="tx1"/>
            </a:solidFill>
            <a:prstDash val="solid"/>
          </a:ln>
        </p:spPr>
      </p:sp>
      <p:sp>
        <p:nvSpPr>
          <p:cNvPr id="38" name="Text 31"/>
          <p:cNvSpPr txBox="1"/>
          <p:nvPr/>
        </p:nvSpPr>
        <p:spPr>
          <a:xfrm>
            <a:off x="6281928" y="3803904"/>
            <a:ext cx="2386584" cy="310896"/>
          </a:xfrm>
          <a:prstGeom prst="rect">
            <a:avLst/>
          </a:prstGeom>
          <a:noFill/>
          <a:ln/>
        </p:spPr>
        <p:txBody>
          <a:bodyPr wrap="square" lIns="0" tIns="0" rIns="0" bIns="0" rtlCol="0" anchor="t"/>
          <a:lstStyle/>
          <a:p>
            <a:pPr indent="0" marL="0">
              <a:buNone/>
            </a:pPr>
            <a:r>
              <a:rPr lang="en-US" sz="1500" b="1" dirty="0">
                <a:solidFill>
                  <a:schemeClr val="bg2"/>
                </a:solidFill>
                <a:latin typeface="Cambria" pitchFamily="34" charset="0"/>
                <a:ea typeface="Cambria" pitchFamily="34" charset="-122"/>
                <a:cs typeface="Cambria" pitchFamily="34" charset="-120"/>
              </a:rPr>
              <a:t>Imagen</a:t>
            </a:r>
            <a:endParaRPr lang="en-US" sz="1500" dirty="0"/>
          </a:p>
        </p:txBody>
      </p:sp>
      <p:sp>
        <p:nvSpPr>
          <p:cNvPr id="39" name="Text 32"/>
          <p:cNvSpPr txBox="1"/>
          <p:nvPr/>
        </p:nvSpPr>
        <p:spPr>
          <a:xfrm>
            <a:off x="6281928" y="4114800"/>
            <a:ext cx="2386584" cy="438912"/>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Fotogramas del escáner, foto para publicar</a:t>
            </a:r>
            <a:endParaRPr lang="en-US" sz="1150" dirty="0"/>
          </a:p>
        </p:txBody>
      </p:sp>
      <p:sp>
        <p:nvSpPr>
          <p:cNvPr id="40" name="Shape 33"/>
          <p:cNvSpPr/>
          <p:nvPr/>
        </p:nvSpPr>
        <p:spPr>
          <a:xfrm>
            <a:off x="8988552" y="3127248"/>
            <a:ext cx="2715768" cy="1463040"/>
          </a:xfrm>
          <a:prstGeom prst="roundRect">
            <a:avLst>
              <a:gd name="adj" fmla="val 6250"/>
            </a:avLst>
          </a:prstGeom>
          <a:solidFill>
            <a:schemeClr val="tx2"/>
          </a:solidFill>
          <a:ln w="25400">
            <a:solidFill>
              <a:schemeClr val="accent6"/>
            </a:solidFill>
            <a:prstDash val="solid"/>
          </a:ln>
        </p:spPr>
      </p:sp>
      <p:pic>
        <p:nvPicPr>
          <p:cNvPr id="41" name="Image 5" descr="preencoded.png">    </p:cNvPr>
          <p:cNvPicPr>
            <a:picLocks noChangeAspect="1"/>
          </p:cNvPicPr>
          <p:nvPr/>
        </p:nvPicPr>
        <p:blipFill>
          <a:blip r:embed="rId6"/>
          <a:stretch>
            <a:fillRect/>
          </a:stretch>
        </p:blipFill>
        <p:spPr>
          <a:xfrm>
            <a:off x="9153144" y="3291840"/>
            <a:ext cx="438912" cy="438912"/>
          </a:xfrm>
          <a:prstGeom prst="rect">
            <a:avLst/>
          </a:prstGeom>
        </p:spPr>
      </p:pic>
      <p:sp>
        <p:nvSpPr>
          <p:cNvPr id="42" name="Shape 34"/>
          <p:cNvSpPr/>
          <p:nvPr/>
        </p:nvSpPr>
        <p:spPr>
          <a:xfrm>
            <a:off x="11320272" y="3310128"/>
            <a:ext cx="219456" cy="219456"/>
          </a:xfrm>
          <a:prstGeom prst="ellipse">
            <a:avLst/>
          </a:prstGeom>
          <a:solidFill>
            <a:schemeClr val="accent6"/>
          </a:solidFill>
          <a:ln w="9525">
            <a:solidFill>
              <a:schemeClr val="tx1"/>
            </a:solidFill>
            <a:prstDash val="solid"/>
          </a:ln>
        </p:spPr>
      </p:sp>
      <p:sp>
        <p:nvSpPr>
          <p:cNvPr id="43" name="Text 35"/>
          <p:cNvSpPr txBox="1"/>
          <p:nvPr/>
        </p:nvSpPr>
        <p:spPr>
          <a:xfrm>
            <a:off x="9153144" y="3803904"/>
            <a:ext cx="2386584" cy="310896"/>
          </a:xfrm>
          <a:prstGeom prst="rect">
            <a:avLst/>
          </a:prstGeom>
          <a:noFill/>
          <a:ln/>
        </p:spPr>
        <p:txBody>
          <a:bodyPr wrap="square" lIns="0" tIns="0" rIns="0" bIns="0" rtlCol="0" anchor="t"/>
          <a:lstStyle/>
          <a:p>
            <a:pPr indent="0" marL="0">
              <a:buNone/>
            </a:pPr>
            <a:r>
              <a:rPr lang="en-US" sz="1500" b="1" dirty="0">
                <a:solidFill>
                  <a:schemeClr val="bg2"/>
                </a:solidFill>
                <a:latin typeface="Cambria" pitchFamily="34" charset="0"/>
                <a:ea typeface="Cambria" pitchFamily="34" charset="-122"/>
                <a:cs typeface="Cambria" pitchFamily="34" charset="-120"/>
              </a:rPr>
              <a:t>Patrimonio</a:t>
            </a:r>
            <a:endParaRPr lang="en-US" sz="1500" dirty="0"/>
          </a:p>
        </p:txBody>
      </p:sp>
      <p:sp>
        <p:nvSpPr>
          <p:cNvPr id="44" name="Text 36"/>
          <p:cNvSpPr txBox="1"/>
          <p:nvPr/>
        </p:nvSpPr>
        <p:spPr>
          <a:xfrm>
            <a:off x="9153144" y="4114800"/>
            <a:ext cx="2386584" cy="438912"/>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Colección, mazos y ofertas</a:t>
            </a:r>
            <a:endParaRPr lang="en-US" sz="1150" dirty="0"/>
          </a:p>
        </p:txBody>
      </p:sp>
      <p:sp>
        <p:nvSpPr>
          <p:cNvPr id="45" name="Shape 37"/>
          <p:cNvSpPr/>
          <p:nvPr/>
        </p:nvSpPr>
        <p:spPr>
          <a:xfrm>
            <a:off x="3246120" y="4745736"/>
            <a:ext cx="2715768" cy="1463040"/>
          </a:xfrm>
          <a:prstGeom prst="roundRect">
            <a:avLst>
              <a:gd name="adj" fmla="val 6250"/>
            </a:avLst>
          </a:prstGeom>
          <a:solidFill>
            <a:schemeClr val="tx2"/>
          </a:solidFill>
          <a:ln w="25400">
            <a:solidFill>
              <a:schemeClr val="accent6"/>
            </a:solidFill>
            <a:prstDash val="solid"/>
          </a:ln>
        </p:spPr>
      </p:sp>
      <p:pic>
        <p:nvPicPr>
          <p:cNvPr id="46" name="Image 6" descr="preencoded.png">    </p:cNvPr>
          <p:cNvPicPr>
            <a:picLocks noChangeAspect="1"/>
          </p:cNvPicPr>
          <p:nvPr/>
        </p:nvPicPr>
        <p:blipFill>
          <a:blip r:embed="rId7"/>
          <a:stretch>
            <a:fillRect/>
          </a:stretch>
        </p:blipFill>
        <p:spPr>
          <a:xfrm>
            <a:off x="3410712" y="4910328"/>
            <a:ext cx="438912" cy="438912"/>
          </a:xfrm>
          <a:prstGeom prst="rect">
            <a:avLst/>
          </a:prstGeom>
        </p:spPr>
      </p:pic>
      <p:sp>
        <p:nvSpPr>
          <p:cNvPr id="47" name="Shape 38"/>
          <p:cNvSpPr/>
          <p:nvPr/>
        </p:nvSpPr>
        <p:spPr>
          <a:xfrm>
            <a:off x="5577840" y="4928616"/>
            <a:ext cx="219456" cy="219456"/>
          </a:xfrm>
          <a:prstGeom prst="ellipse">
            <a:avLst/>
          </a:prstGeom>
          <a:solidFill>
            <a:schemeClr val="accent6"/>
          </a:solidFill>
          <a:ln w="9525">
            <a:solidFill>
              <a:schemeClr val="tx1"/>
            </a:solidFill>
            <a:prstDash val="solid"/>
          </a:ln>
        </p:spPr>
      </p:sp>
      <p:sp>
        <p:nvSpPr>
          <p:cNvPr id="48" name="Text 39"/>
          <p:cNvSpPr txBox="1"/>
          <p:nvPr/>
        </p:nvSpPr>
        <p:spPr>
          <a:xfrm>
            <a:off x="3410712" y="5422392"/>
            <a:ext cx="2386584" cy="310896"/>
          </a:xfrm>
          <a:prstGeom prst="rect">
            <a:avLst/>
          </a:prstGeom>
          <a:noFill/>
          <a:ln/>
        </p:spPr>
        <p:txBody>
          <a:bodyPr wrap="square" lIns="0" tIns="0" rIns="0" bIns="0" rtlCol="0" anchor="t"/>
          <a:lstStyle/>
          <a:p>
            <a:pPr indent="0" marL="0">
              <a:buNone/>
            </a:pPr>
            <a:r>
              <a:rPr lang="en-US" sz="1500" b="1" dirty="0">
                <a:solidFill>
                  <a:schemeClr val="bg2"/>
                </a:solidFill>
                <a:latin typeface="Cambria" pitchFamily="34" charset="0"/>
                <a:ea typeface="Cambria" pitchFamily="34" charset="-122"/>
                <a:cs typeface="Cambria" pitchFamily="34" charset="-120"/>
              </a:rPr>
              <a:t>Financiero</a:t>
            </a:r>
            <a:endParaRPr lang="en-US" sz="1500" dirty="0"/>
          </a:p>
        </p:txBody>
      </p:sp>
      <p:sp>
        <p:nvSpPr>
          <p:cNvPr id="49" name="Text 40"/>
          <p:cNvSpPr txBox="1"/>
          <p:nvPr/>
        </p:nvSpPr>
        <p:spPr>
          <a:xfrm>
            <a:off x="3410712" y="5733288"/>
            <a:ext cx="2386584" cy="438912"/>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Transacciones, referencia de pago, tarjeta</a:t>
            </a:r>
            <a:endParaRPr lang="en-US" sz="1150" dirty="0"/>
          </a:p>
        </p:txBody>
      </p:sp>
      <p:sp>
        <p:nvSpPr>
          <p:cNvPr id="50" name="Shape 41"/>
          <p:cNvSpPr/>
          <p:nvPr/>
        </p:nvSpPr>
        <p:spPr>
          <a:xfrm>
            <a:off x="6117336" y="4745736"/>
            <a:ext cx="2715768" cy="1463040"/>
          </a:xfrm>
          <a:prstGeom prst="roundRect">
            <a:avLst>
              <a:gd name="adj" fmla="val 6250"/>
            </a:avLst>
          </a:prstGeom>
          <a:solidFill>
            <a:schemeClr val="tx2"/>
          </a:solidFill>
          <a:ln w="9525">
            <a:solidFill>
              <a:schemeClr val="accent2"/>
            </a:solidFill>
            <a:prstDash val="solid"/>
          </a:ln>
        </p:spPr>
      </p:sp>
      <p:pic>
        <p:nvPicPr>
          <p:cNvPr id="51" name="Image 7" descr="preencoded.png">    </p:cNvPr>
          <p:cNvPicPr>
            <a:picLocks noChangeAspect="1"/>
          </p:cNvPicPr>
          <p:nvPr/>
        </p:nvPicPr>
        <p:blipFill>
          <a:blip r:embed="rId8"/>
          <a:stretch>
            <a:fillRect/>
          </a:stretch>
        </p:blipFill>
        <p:spPr>
          <a:xfrm>
            <a:off x="6281928" y="4910328"/>
            <a:ext cx="438912" cy="438912"/>
          </a:xfrm>
          <a:prstGeom prst="rect">
            <a:avLst/>
          </a:prstGeom>
        </p:spPr>
      </p:pic>
      <p:sp>
        <p:nvSpPr>
          <p:cNvPr id="52" name="Shape 42"/>
          <p:cNvSpPr/>
          <p:nvPr/>
        </p:nvSpPr>
        <p:spPr>
          <a:xfrm>
            <a:off x="8449056" y="4928616"/>
            <a:ext cx="219456" cy="219456"/>
          </a:xfrm>
          <a:prstGeom prst="ellipse">
            <a:avLst/>
          </a:prstGeom>
          <a:solidFill>
            <a:schemeClr val="accent2"/>
          </a:solidFill>
          <a:ln w="9525">
            <a:solidFill>
              <a:schemeClr val="tx1"/>
            </a:solidFill>
            <a:prstDash val="solid"/>
          </a:ln>
        </p:spPr>
      </p:sp>
      <p:sp>
        <p:nvSpPr>
          <p:cNvPr id="53" name="Text 43"/>
          <p:cNvSpPr txBox="1"/>
          <p:nvPr/>
        </p:nvSpPr>
        <p:spPr>
          <a:xfrm>
            <a:off x="6281928" y="5422392"/>
            <a:ext cx="2386584" cy="310896"/>
          </a:xfrm>
          <a:prstGeom prst="rect">
            <a:avLst/>
          </a:prstGeom>
          <a:noFill/>
          <a:ln/>
        </p:spPr>
        <p:txBody>
          <a:bodyPr wrap="square" lIns="0" tIns="0" rIns="0" bIns="0" rtlCol="0" anchor="t"/>
          <a:lstStyle/>
          <a:p>
            <a:pPr indent="0" marL="0">
              <a:buNone/>
            </a:pPr>
            <a:r>
              <a:rPr lang="en-US" sz="1500" b="1" dirty="0">
                <a:solidFill>
                  <a:schemeClr val="bg2"/>
                </a:solidFill>
                <a:latin typeface="Cambria" pitchFamily="34" charset="0"/>
                <a:ea typeface="Cambria" pitchFamily="34" charset="-122"/>
                <a:cs typeface="Cambria" pitchFamily="34" charset="-120"/>
              </a:rPr>
              <a:t>Beneficios</a:t>
            </a:r>
            <a:endParaRPr lang="en-US" sz="1500" dirty="0"/>
          </a:p>
        </p:txBody>
      </p:sp>
      <p:sp>
        <p:nvSpPr>
          <p:cNvPr id="54" name="Text 44"/>
          <p:cNvSpPr txBox="1"/>
          <p:nvPr/>
        </p:nvSpPr>
        <p:spPr>
          <a:xfrm>
            <a:off x="6281928" y="5733288"/>
            <a:ext cx="2386584" cy="438912"/>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Cupones de la ruleta</a:t>
            </a:r>
            <a:endParaRPr lang="en-US" sz="1150" dirty="0"/>
          </a:p>
        </p:txBody>
      </p:sp>
      <p:sp>
        <p:nvSpPr>
          <p:cNvPr id="55" name="Shape 45"/>
          <p:cNvSpPr/>
          <p:nvPr/>
        </p:nvSpPr>
        <p:spPr>
          <a:xfrm>
            <a:off x="8988552" y="4745736"/>
            <a:ext cx="2715768" cy="1463040"/>
          </a:xfrm>
          <a:prstGeom prst="roundRect">
            <a:avLst>
              <a:gd name="adj" fmla="val 6250"/>
            </a:avLst>
          </a:prstGeom>
          <a:solidFill>
            <a:schemeClr val="tx2"/>
          </a:solidFill>
          <a:ln w="9525">
            <a:solidFill>
              <a:schemeClr val="accent2"/>
            </a:solidFill>
            <a:prstDash val="solid"/>
          </a:ln>
        </p:spPr>
      </p:sp>
      <p:pic>
        <p:nvPicPr>
          <p:cNvPr id="56" name="Image 8" descr="preencoded.png">    </p:cNvPr>
          <p:cNvPicPr>
            <a:picLocks noChangeAspect="1"/>
          </p:cNvPicPr>
          <p:nvPr/>
        </p:nvPicPr>
        <p:blipFill>
          <a:blip r:embed="rId9"/>
          <a:stretch>
            <a:fillRect/>
          </a:stretch>
        </p:blipFill>
        <p:spPr>
          <a:xfrm>
            <a:off x="9153144" y="4910328"/>
            <a:ext cx="438912" cy="438912"/>
          </a:xfrm>
          <a:prstGeom prst="rect">
            <a:avLst/>
          </a:prstGeom>
        </p:spPr>
      </p:pic>
      <p:sp>
        <p:nvSpPr>
          <p:cNvPr id="57" name="Shape 46"/>
          <p:cNvSpPr/>
          <p:nvPr/>
        </p:nvSpPr>
        <p:spPr>
          <a:xfrm>
            <a:off x="11320272" y="4928616"/>
            <a:ext cx="219456" cy="219456"/>
          </a:xfrm>
          <a:prstGeom prst="ellipse">
            <a:avLst/>
          </a:prstGeom>
          <a:solidFill>
            <a:schemeClr val="accent2"/>
          </a:solidFill>
          <a:ln w="9525">
            <a:solidFill>
              <a:schemeClr val="tx1"/>
            </a:solidFill>
            <a:prstDash val="solid"/>
          </a:ln>
        </p:spPr>
      </p:sp>
      <p:sp>
        <p:nvSpPr>
          <p:cNvPr id="58" name="Text 47"/>
          <p:cNvSpPr txBox="1"/>
          <p:nvPr/>
        </p:nvSpPr>
        <p:spPr>
          <a:xfrm>
            <a:off x="9153144" y="5422392"/>
            <a:ext cx="2386584" cy="310896"/>
          </a:xfrm>
          <a:prstGeom prst="rect">
            <a:avLst/>
          </a:prstGeom>
          <a:noFill/>
          <a:ln/>
        </p:spPr>
        <p:txBody>
          <a:bodyPr wrap="square" lIns="0" tIns="0" rIns="0" bIns="0" rtlCol="0" anchor="t"/>
          <a:lstStyle/>
          <a:p>
            <a:pPr indent="0" marL="0">
              <a:buNone/>
            </a:pPr>
            <a:r>
              <a:rPr lang="en-US" sz="1500" b="1" dirty="0">
                <a:solidFill>
                  <a:schemeClr val="bg2"/>
                </a:solidFill>
                <a:latin typeface="Cambria" pitchFamily="34" charset="0"/>
                <a:ea typeface="Cambria" pitchFamily="34" charset="-122"/>
                <a:cs typeface="Cambria" pitchFamily="34" charset="-120"/>
              </a:rPr>
              <a:t>Técnico</a:t>
            </a:r>
            <a:endParaRPr lang="en-US" sz="1500" dirty="0"/>
          </a:p>
        </p:txBody>
      </p:sp>
      <p:sp>
        <p:nvSpPr>
          <p:cNvPr id="59" name="Text 48"/>
          <p:cNvSpPr txBox="1"/>
          <p:nvPr/>
        </p:nvSpPr>
        <p:spPr>
          <a:xfrm>
            <a:off x="9153144" y="5733288"/>
            <a:ext cx="2386584" cy="438912"/>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Dirección IP (no se registra)</a:t>
            </a:r>
            <a:endParaRPr lang="en-US" sz="115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ambria"/>
                <a:ea typeface="Cambria"/>
                <a:cs typeface="Camb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11480" y="137160"/>
            <a:ext cx="8229600" cy="548640"/>
          </a:xfrm>
          <a:prstGeom prst="rect">
            <a:avLst/>
          </a:prstGeom>
          <a:noFill/>
          <a:ln/>
        </p:spPr>
        <p:txBody>
          <a:bodyPr wrap="square" lIns="0" tIns="0" rIns="0" bIns="0" rtlCol="0" anchor="ctr"/>
          <a:lstStyle/>
          <a:p>
            <a:pPr algn="l" indent="0" marL="0">
              <a:buNone/>
            </a:pPr>
            <a:r>
              <a:rPr lang="en-US" sz="2600" b="1" dirty="0">
                <a:solidFill>
                  <a:schemeClr val="bg2"/>
                </a:solidFill>
                <a:latin typeface="Cambria" pitchFamily="34" charset="0"/>
                <a:ea typeface="Cambria" pitchFamily="34" charset="-122"/>
                <a:cs typeface="Cambria" pitchFamily="34" charset="-120"/>
              </a:rPr>
              <a:t>Mapa de flujos: F1 a F4</a:t>
            </a:r>
            <a:endParaRPr lang="en-US" sz="2600" dirty="0"/>
          </a:p>
        </p:txBody>
      </p:sp>
      <p:sp>
        <p:nvSpPr>
          <p:cNvPr id="3" name="Text 1"/>
          <p:cNvSpPr txBox="1"/>
          <p:nvPr/>
        </p:nvSpPr>
        <p:spPr>
          <a:xfrm>
            <a:off x="7498080" y="201168"/>
            <a:ext cx="4297680" cy="411480"/>
          </a:xfrm>
          <a:prstGeom prst="rect">
            <a:avLst/>
          </a:prstGeom>
          <a:noFill/>
          <a:ln/>
        </p:spPr>
        <p:txBody>
          <a:bodyPr wrap="square" lIns="0" tIns="0" rIns="0" bIns="0" rtlCol="0" anchor="ctr"/>
          <a:lstStyle/>
          <a:p>
            <a:pPr algn="r" indent="0" marL="0">
              <a:buNone/>
            </a:pPr>
            <a:r>
              <a:rPr lang="en-US" sz="1300" b="1" dirty="0">
                <a:solidFill>
                  <a:srgbClr val="5B8FD6"/>
                </a:solidFill>
                <a:latin typeface="Calibri" pitchFamily="34" charset="0"/>
                <a:ea typeface="Calibri" pitchFamily="34" charset="-122"/>
                <a:cs typeface="Calibri" pitchFamily="34" charset="-120"/>
              </a:rPr>
              <a:t>F1 </a:t>
            </a:r>
            <a:pPr algn="r" indent="0" marL="0">
              <a:buNone/>
            </a:pPr>
            <a:r>
              <a:rPr lang="en-US" sz="1300" dirty="0">
                <a:solidFill>
                  <a:schemeClr val="bg2"/>
                </a:solidFill>
                <a:latin typeface="Calibri" pitchFamily="34" charset="0"/>
                <a:ea typeface="Calibri" pitchFamily="34" charset="-122"/>
                <a:cs typeface="Calibri" pitchFamily="34" charset="-120"/>
              </a:rPr>
              <a:t>Registro  </a:t>
            </a:r>
            <a:pPr algn="r" indent="0" marL="0">
              <a:buNone/>
            </a:pPr>
            <a:r>
              <a:rPr lang="en-US" sz="1300" b="1" dirty="0">
                <a:solidFill>
                  <a:srgbClr val="3FA463"/>
                </a:solidFill>
                <a:latin typeface="Calibri" pitchFamily="34" charset="0"/>
                <a:ea typeface="Calibri" pitchFamily="34" charset="-122"/>
                <a:cs typeface="Calibri" pitchFamily="34" charset="-120"/>
              </a:rPr>
              <a:t>F2 </a:t>
            </a:r>
            <a:pPr algn="r" indent="0" marL="0">
              <a:buNone/>
            </a:pPr>
            <a:r>
              <a:rPr lang="en-US" sz="1300" dirty="0">
                <a:solidFill>
                  <a:schemeClr val="bg2"/>
                </a:solidFill>
                <a:latin typeface="Calibri" pitchFamily="34" charset="0"/>
                <a:ea typeface="Calibri" pitchFamily="34" charset="-122"/>
                <a:cs typeface="Calibri" pitchFamily="34" charset="-120"/>
              </a:rPr>
              <a:t>Escaneo  </a:t>
            </a:r>
            <a:pPr algn="r" indent="0" marL="0">
              <a:buNone/>
            </a:pPr>
            <a:r>
              <a:rPr lang="en-US" sz="1300" b="1" dirty="0">
                <a:solidFill>
                  <a:srgbClr val="E08A2E"/>
                </a:solidFill>
                <a:latin typeface="Calibri" pitchFamily="34" charset="0"/>
                <a:ea typeface="Calibri" pitchFamily="34" charset="-122"/>
                <a:cs typeface="Calibri" pitchFamily="34" charset="-120"/>
              </a:rPr>
              <a:t>F3 </a:t>
            </a:r>
            <a:pPr algn="r" indent="0" marL="0">
              <a:buNone/>
            </a:pPr>
            <a:r>
              <a:rPr lang="en-US" sz="1300" dirty="0">
                <a:solidFill>
                  <a:schemeClr val="bg2"/>
                </a:solidFill>
                <a:latin typeface="Calibri" pitchFamily="34" charset="0"/>
                <a:ea typeface="Calibri" pitchFamily="34" charset="-122"/>
                <a:cs typeface="Calibri" pitchFamily="34" charset="-120"/>
              </a:rPr>
              <a:t>Ubicación  </a:t>
            </a:r>
            <a:pPr algn="r" indent="0" marL="0">
              <a:buNone/>
            </a:pPr>
            <a:r>
              <a:rPr lang="en-US" sz="1300" b="1" dirty="0">
                <a:solidFill>
                  <a:srgbClr val="A65BD6"/>
                </a:solidFill>
                <a:latin typeface="Calibri" pitchFamily="34" charset="0"/>
                <a:ea typeface="Calibri" pitchFamily="34" charset="-122"/>
                <a:cs typeface="Calibri" pitchFamily="34" charset="-120"/>
              </a:rPr>
              <a:t>F4 </a:t>
            </a:r>
            <a:pPr algn="r" indent="0" marL="0">
              <a:buNone/>
            </a:pPr>
            <a:r>
              <a:rPr lang="en-US" sz="1300" dirty="0">
                <a:solidFill>
                  <a:schemeClr val="bg2"/>
                </a:solidFill>
                <a:latin typeface="Calibri" pitchFamily="34" charset="0"/>
                <a:ea typeface="Calibri" pitchFamily="34" charset="-122"/>
                <a:cs typeface="Calibri" pitchFamily="34" charset="-120"/>
              </a:rPr>
              <a:t>Pago</a:t>
            </a:r>
            <a:endParaRPr lang="en-US" sz="1300" dirty="0"/>
          </a:p>
        </p:txBody>
      </p:sp>
      <p:sp>
        <p:nvSpPr>
          <p:cNvPr id="4" name="Shape 2"/>
          <p:cNvSpPr/>
          <p:nvPr/>
        </p:nvSpPr>
        <p:spPr>
          <a:xfrm>
            <a:off x="1357389" y="758952"/>
            <a:ext cx="9476916" cy="5861304"/>
          </a:xfrm>
          <a:prstGeom prst="roundRect">
            <a:avLst>
              <a:gd name="adj" fmla="val 1248"/>
            </a:avLst>
          </a:prstGeom>
          <a:solidFill>
            <a:schemeClr val="bg1"/>
          </a:solidFill>
          <a:ln w="19050">
            <a:solidFill>
              <a:schemeClr val="accent1"/>
            </a:solidFill>
            <a:prstDash val="solid"/>
          </a:ln>
        </p:spPr>
      </p:sp>
      <p:pic>
        <p:nvPicPr>
          <p:cNvPr id="5" name="Image 0" descr="/home/vicente/Documents/TercerTrimestre/leyes/MTGCompanion_TCG/docs/security/hito1/diagrama_flujos.png">    </p:cNvPr>
          <p:cNvPicPr>
            <a:picLocks noChangeAspect="1"/>
          </p:cNvPicPr>
          <p:nvPr/>
        </p:nvPicPr>
        <p:blipFill>
          <a:blip r:embed="rId1"/>
          <a:stretch>
            <a:fillRect/>
          </a:stretch>
        </p:blipFill>
        <p:spPr>
          <a:xfrm>
            <a:off x="1430541" y="832104"/>
            <a:ext cx="9330612" cy="5715000"/>
          </a:xfrm>
          <a:prstGeom prst="rect">
            <a:avLst/>
          </a:prstGeom>
        </p:spPr>
      </p:pic>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ambria"/>
                <a:ea typeface="Cambria"/>
                <a:cs typeface="Camb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3000" b="1" dirty="0">
                <a:solidFill>
                  <a:schemeClr val="bg2"/>
                </a:solidFill>
                <a:latin typeface="Cambria" pitchFamily="34" charset="0"/>
                <a:ea typeface="Cambria" pitchFamily="34" charset="-122"/>
                <a:cs typeface="Cambria" pitchFamily="34" charset="-120"/>
              </a:rPr>
              <a:t>Flujo en detalle: F3 · búsqueda con ubicación</a:t>
            </a:r>
            <a:endParaRPr lang="en-US" sz="3000" dirty="0"/>
          </a:p>
        </p:txBody>
      </p:sp>
      <p:sp>
        <p:nvSpPr>
          <p:cNvPr id="3" name="Text 0"/>
          <p:cNvSpPr/>
          <p:nvPr>
            <p:ph idx="101" type="body" hasCustomPrompt="1"/>
          </p:nvPr>
        </p:nvSpPr>
        <p:spPr>
          <a:xfrm>
            <a:off x="548640" y="987552"/>
            <a:ext cx="11064240" cy="365760"/>
          </a:xfrm>
          <a:prstGeom prst="rect">
            <a:avLst/>
          </a:prstGeom>
          <a:noFill/>
          <a:ln/>
        </p:spPr>
        <p:txBody>
          <a:bodyPr wrap="square" lIns="0" tIns="0" rIns="0" bIns="0" rtlCol="0" anchor="t"/>
          <a:lstStyle/>
          <a:p>
            <a:pPr indent="0" marL="0">
              <a:buNone/>
            </a:pPr>
            <a:r>
              <a:rPr lang="en-US" sz="1400" i="1" dirty="0">
                <a:solidFill>
                  <a:schemeClr val="accent1"/>
                </a:solidFill>
                <a:latin typeface="Calibri" pitchFamily="34" charset="0"/>
                <a:ea typeface="Calibri" pitchFamily="34" charset="-122"/>
                <a:cs typeface="Calibri" pitchFamily="34" charset="-120"/>
              </a:rPr>
              <a:t>El flujo más delicado: la ubicación es categoría especial (Ley 19.628, art. 16 sexies)</a:t>
            </a:r>
            <a:endParaRPr lang="en-US" sz="1400" dirty="0"/>
          </a:p>
        </p:txBody>
      </p:sp>
      <p:sp>
        <p:nvSpPr>
          <p:cNvPr id="4" name="Shape 2"/>
          <p:cNvSpPr/>
          <p:nvPr/>
        </p:nvSpPr>
        <p:spPr>
          <a:xfrm>
            <a:off x="548640" y="1554480"/>
            <a:ext cx="2560320" cy="2514600"/>
          </a:xfrm>
          <a:prstGeom prst="roundRect">
            <a:avLst>
              <a:gd name="adj" fmla="val 3636"/>
            </a:avLst>
          </a:prstGeom>
          <a:solidFill>
            <a:schemeClr val="tx2"/>
          </a:solidFill>
          <a:ln w="12700">
            <a:solidFill>
              <a:schemeClr val="accent1"/>
            </a:solidFill>
            <a:prstDash val="solid"/>
          </a:ln>
        </p:spPr>
      </p:sp>
      <p:sp>
        <p:nvSpPr>
          <p:cNvPr id="5" name="Shape 3"/>
          <p:cNvSpPr/>
          <p:nvPr/>
        </p:nvSpPr>
        <p:spPr>
          <a:xfrm>
            <a:off x="731520" y="1737360"/>
            <a:ext cx="457200" cy="457200"/>
          </a:xfrm>
          <a:prstGeom prst="ellipse">
            <a:avLst/>
          </a:prstGeom>
          <a:solidFill>
            <a:schemeClr val="accent1"/>
          </a:solidFill>
          <a:ln w="9525">
            <a:solidFill>
              <a:schemeClr val="tx1"/>
            </a:solidFill>
            <a:prstDash val="solid"/>
          </a:ln>
        </p:spPr>
      </p:sp>
      <p:sp>
        <p:nvSpPr>
          <p:cNvPr id="6" name="Text 4"/>
          <p:cNvSpPr txBox="1"/>
          <p:nvPr/>
        </p:nvSpPr>
        <p:spPr>
          <a:xfrm>
            <a:off x="731520" y="1737360"/>
            <a:ext cx="457200" cy="457200"/>
          </a:xfrm>
          <a:prstGeom prst="rect">
            <a:avLst/>
          </a:prstGeom>
          <a:noFill/>
          <a:ln/>
        </p:spPr>
        <p:txBody>
          <a:bodyPr wrap="square" lIns="0" tIns="0" rIns="0" bIns="0" rtlCol="0" anchor="ctr"/>
          <a:lstStyle/>
          <a:p>
            <a:pPr algn="ctr" indent="0" marL="0">
              <a:buNone/>
            </a:pPr>
            <a:r>
              <a:rPr lang="en-US" sz="1300" b="1" dirty="0">
                <a:solidFill>
                  <a:schemeClr val="tx1"/>
                </a:solidFill>
                <a:latin typeface="Cambria" pitchFamily="34" charset="0"/>
                <a:ea typeface="Cambria" pitchFamily="34" charset="-122"/>
                <a:cs typeface="Cambria" pitchFamily="34" charset="-120"/>
              </a:rPr>
              <a:t>1</a:t>
            </a:r>
            <a:endParaRPr lang="en-US" sz="1300" dirty="0"/>
          </a:p>
        </p:txBody>
      </p:sp>
      <p:pic>
        <p:nvPicPr>
          <p:cNvPr id="7" name="Image 0" descr="preencoded.png">    </p:cNvPr>
          <p:cNvPicPr>
            <a:picLocks noChangeAspect="1"/>
          </p:cNvPicPr>
          <p:nvPr/>
        </p:nvPicPr>
        <p:blipFill>
          <a:blip r:embed="rId1"/>
          <a:stretch>
            <a:fillRect/>
          </a:stretch>
        </p:blipFill>
        <p:spPr>
          <a:xfrm>
            <a:off x="2423160" y="1737360"/>
            <a:ext cx="457200" cy="457200"/>
          </a:xfrm>
          <a:prstGeom prst="rect">
            <a:avLst/>
          </a:prstGeom>
        </p:spPr>
      </p:pic>
      <p:sp>
        <p:nvSpPr>
          <p:cNvPr id="8" name="Text 5"/>
          <p:cNvSpPr txBox="1"/>
          <p:nvPr/>
        </p:nvSpPr>
        <p:spPr>
          <a:xfrm>
            <a:off x="731520" y="2331720"/>
            <a:ext cx="2194560" cy="411480"/>
          </a:xfrm>
          <a:prstGeom prst="rect">
            <a:avLst/>
          </a:prstGeom>
          <a:noFill/>
          <a:ln/>
        </p:spPr>
        <p:txBody>
          <a:bodyPr wrap="square" lIns="0" tIns="0" rIns="0" bIns="0" rtlCol="0" anchor="t"/>
          <a:lstStyle/>
          <a:p>
            <a:pPr indent="0" marL="0">
              <a:buNone/>
            </a:pPr>
            <a:r>
              <a:rPr lang="en-US" sz="1800" b="1" dirty="0">
                <a:solidFill>
                  <a:schemeClr val="bg2"/>
                </a:solidFill>
                <a:latin typeface="Cambria" pitchFamily="34" charset="0"/>
                <a:ea typeface="Cambria" pitchFamily="34" charset="-122"/>
                <a:cs typeface="Cambria" pitchFamily="34" charset="-120"/>
              </a:rPr>
              <a:t>Permiso</a:t>
            </a:r>
            <a:endParaRPr lang="en-US" sz="1800" dirty="0"/>
          </a:p>
        </p:txBody>
      </p:sp>
      <p:sp>
        <p:nvSpPr>
          <p:cNvPr id="9" name="Text 6"/>
          <p:cNvSpPr txBox="1"/>
          <p:nvPr/>
        </p:nvSpPr>
        <p:spPr>
          <a:xfrm>
            <a:off x="731520" y="2788920"/>
            <a:ext cx="2194560" cy="118872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Al abrir el Bazaar con sesión, la app pide el permiso de ubicación. Si se concede, envía latitud y longitud.</a:t>
            </a:r>
            <a:endParaRPr lang="en-US" sz="1400" dirty="0"/>
          </a:p>
        </p:txBody>
      </p:sp>
      <p:sp>
        <p:nvSpPr>
          <p:cNvPr id="10" name="Shape 7"/>
          <p:cNvSpPr/>
          <p:nvPr/>
        </p:nvSpPr>
        <p:spPr>
          <a:xfrm>
            <a:off x="3163824" y="2651760"/>
            <a:ext cx="192024" cy="329184"/>
          </a:xfrm>
          <a:prstGeom prst="chevron">
            <a:avLst/>
          </a:prstGeom>
          <a:solidFill>
            <a:schemeClr val="accent1"/>
          </a:solidFill>
          <a:ln w="12700">
            <a:solidFill>
              <a:schemeClr val="accent1"/>
            </a:solidFill>
            <a:prstDash val="solid"/>
          </a:ln>
        </p:spPr>
      </p:sp>
      <p:sp>
        <p:nvSpPr>
          <p:cNvPr id="11" name="Shape 8"/>
          <p:cNvSpPr/>
          <p:nvPr/>
        </p:nvSpPr>
        <p:spPr>
          <a:xfrm>
            <a:off x="3410712" y="1554480"/>
            <a:ext cx="2560320" cy="2514600"/>
          </a:xfrm>
          <a:prstGeom prst="roundRect">
            <a:avLst>
              <a:gd name="adj" fmla="val 3636"/>
            </a:avLst>
          </a:prstGeom>
          <a:solidFill>
            <a:schemeClr val="tx2"/>
          </a:solidFill>
          <a:ln w="12700">
            <a:solidFill>
              <a:schemeClr val="accent1"/>
            </a:solidFill>
            <a:prstDash val="solid"/>
          </a:ln>
        </p:spPr>
      </p:sp>
      <p:sp>
        <p:nvSpPr>
          <p:cNvPr id="12" name="Shape 9"/>
          <p:cNvSpPr/>
          <p:nvPr/>
        </p:nvSpPr>
        <p:spPr>
          <a:xfrm>
            <a:off x="3593592" y="1737360"/>
            <a:ext cx="457200" cy="457200"/>
          </a:xfrm>
          <a:prstGeom prst="ellipse">
            <a:avLst/>
          </a:prstGeom>
          <a:solidFill>
            <a:schemeClr val="accent1"/>
          </a:solidFill>
          <a:ln w="9525">
            <a:solidFill>
              <a:schemeClr val="tx1"/>
            </a:solidFill>
            <a:prstDash val="solid"/>
          </a:ln>
        </p:spPr>
      </p:sp>
      <p:sp>
        <p:nvSpPr>
          <p:cNvPr id="13" name="Text 10"/>
          <p:cNvSpPr txBox="1"/>
          <p:nvPr/>
        </p:nvSpPr>
        <p:spPr>
          <a:xfrm>
            <a:off x="3593592" y="1737360"/>
            <a:ext cx="457200" cy="457200"/>
          </a:xfrm>
          <a:prstGeom prst="rect">
            <a:avLst/>
          </a:prstGeom>
          <a:noFill/>
          <a:ln/>
        </p:spPr>
        <p:txBody>
          <a:bodyPr wrap="square" lIns="0" tIns="0" rIns="0" bIns="0" rtlCol="0" anchor="ctr"/>
          <a:lstStyle/>
          <a:p>
            <a:pPr algn="ctr" indent="0" marL="0">
              <a:buNone/>
            </a:pPr>
            <a:r>
              <a:rPr lang="en-US" sz="1300" b="1" dirty="0">
                <a:solidFill>
                  <a:schemeClr val="tx1"/>
                </a:solidFill>
                <a:latin typeface="Cambria" pitchFamily="34" charset="0"/>
                <a:ea typeface="Cambria" pitchFamily="34" charset="-122"/>
                <a:cs typeface="Cambria" pitchFamily="34" charset="-120"/>
              </a:rPr>
              <a:t>2</a:t>
            </a:r>
            <a:endParaRPr lang="en-US" sz="1300" dirty="0"/>
          </a:p>
        </p:txBody>
      </p:sp>
      <p:pic>
        <p:nvPicPr>
          <p:cNvPr id="14" name="Image 1" descr="preencoded.png">    </p:cNvPr>
          <p:cNvPicPr>
            <a:picLocks noChangeAspect="1"/>
          </p:cNvPicPr>
          <p:nvPr/>
        </p:nvPicPr>
        <p:blipFill>
          <a:blip r:embed="rId2"/>
          <a:stretch>
            <a:fillRect/>
          </a:stretch>
        </p:blipFill>
        <p:spPr>
          <a:xfrm>
            <a:off x="5285232" y="1737360"/>
            <a:ext cx="457200" cy="457200"/>
          </a:xfrm>
          <a:prstGeom prst="rect">
            <a:avLst/>
          </a:prstGeom>
        </p:spPr>
      </p:pic>
      <p:sp>
        <p:nvSpPr>
          <p:cNvPr id="15" name="Text 11"/>
          <p:cNvSpPr txBox="1"/>
          <p:nvPr/>
        </p:nvSpPr>
        <p:spPr>
          <a:xfrm>
            <a:off x="3593592" y="2331720"/>
            <a:ext cx="2194560" cy="411480"/>
          </a:xfrm>
          <a:prstGeom prst="rect">
            <a:avLst/>
          </a:prstGeom>
          <a:noFill/>
          <a:ln/>
        </p:spPr>
        <p:txBody>
          <a:bodyPr wrap="square" lIns="0" tIns="0" rIns="0" bIns="0" rtlCol="0" anchor="t"/>
          <a:lstStyle/>
          <a:p>
            <a:pPr indent="0" marL="0">
              <a:buNone/>
            </a:pPr>
            <a:r>
              <a:rPr lang="en-US" sz="1800" b="1" dirty="0">
                <a:solidFill>
                  <a:schemeClr val="bg2"/>
                </a:solidFill>
                <a:latin typeface="Cambria" pitchFamily="34" charset="0"/>
                <a:ea typeface="Cambria" pitchFamily="34" charset="-122"/>
                <a:cs typeface="Cambria" pitchFamily="34" charset="-120"/>
              </a:rPr>
              <a:t>Cifrado</a:t>
            </a:r>
            <a:endParaRPr lang="en-US" sz="1800" dirty="0"/>
          </a:p>
        </p:txBody>
      </p:sp>
      <p:sp>
        <p:nvSpPr>
          <p:cNvPr id="16" name="Text 12"/>
          <p:cNvSpPr txBox="1"/>
          <p:nvPr/>
        </p:nvSpPr>
        <p:spPr>
          <a:xfrm>
            <a:off x="3593592" y="2788920"/>
            <a:ext cx="2194560" cy="118872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El servidor cifra las coordenadas con AES-256-GCM antes de guardarlas en user_settings.</a:t>
            </a:r>
            <a:endParaRPr lang="en-US" sz="1400" dirty="0"/>
          </a:p>
        </p:txBody>
      </p:sp>
      <p:sp>
        <p:nvSpPr>
          <p:cNvPr id="17" name="Shape 13"/>
          <p:cNvSpPr/>
          <p:nvPr/>
        </p:nvSpPr>
        <p:spPr>
          <a:xfrm>
            <a:off x="6025896" y="2651760"/>
            <a:ext cx="192024" cy="329184"/>
          </a:xfrm>
          <a:prstGeom prst="chevron">
            <a:avLst/>
          </a:prstGeom>
          <a:solidFill>
            <a:schemeClr val="accent1"/>
          </a:solidFill>
          <a:ln w="12700">
            <a:solidFill>
              <a:schemeClr val="accent1"/>
            </a:solidFill>
            <a:prstDash val="solid"/>
          </a:ln>
        </p:spPr>
      </p:sp>
      <p:sp>
        <p:nvSpPr>
          <p:cNvPr id="18" name="Shape 14"/>
          <p:cNvSpPr/>
          <p:nvPr/>
        </p:nvSpPr>
        <p:spPr>
          <a:xfrm>
            <a:off x="6272784" y="1554480"/>
            <a:ext cx="2560320" cy="2514600"/>
          </a:xfrm>
          <a:prstGeom prst="roundRect">
            <a:avLst>
              <a:gd name="adj" fmla="val 3636"/>
            </a:avLst>
          </a:prstGeom>
          <a:solidFill>
            <a:schemeClr val="tx2"/>
          </a:solidFill>
          <a:ln w="12700">
            <a:solidFill>
              <a:schemeClr val="accent1"/>
            </a:solidFill>
            <a:prstDash val="solid"/>
          </a:ln>
        </p:spPr>
      </p:sp>
      <p:sp>
        <p:nvSpPr>
          <p:cNvPr id="19" name="Shape 15"/>
          <p:cNvSpPr/>
          <p:nvPr/>
        </p:nvSpPr>
        <p:spPr>
          <a:xfrm>
            <a:off x="6455664" y="1737360"/>
            <a:ext cx="457200" cy="457200"/>
          </a:xfrm>
          <a:prstGeom prst="ellipse">
            <a:avLst/>
          </a:prstGeom>
          <a:solidFill>
            <a:schemeClr val="accent1"/>
          </a:solidFill>
          <a:ln w="9525">
            <a:solidFill>
              <a:schemeClr val="tx1"/>
            </a:solidFill>
            <a:prstDash val="solid"/>
          </a:ln>
        </p:spPr>
      </p:sp>
      <p:sp>
        <p:nvSpPr>
          <p:cNvPr id="20" name="Text 16"/>
          <p:cNvSpPr txBox="1"/>
          <p:nvPr/>
        </p:nvSpPr>
        <p:spPr>
          <a:xfrm>
            <a:off x="6455664" y="1737360"/>
            <a:ext cx="457200" cy="457200"/>
          </a:xfrm>
          <a:prstGeom prst="rect">
            <a:avLst/>
          </a:prstGeom>
          <a:noFill/>
          <a:ln/>
        </p:spPr>
        <p:txBody>
          <a:bodyPr wrap="square" lIns="0" tIns="0" rIns="0" bIns="0" rtlCol="0" anchor="ctr"/>
          <a:lstStyle/>
          <a:p>
            <a:pPr algn="ctr" indent="0" marL="0">
              <a:buNone/>
            </a:pPr>
            <a:r>
              <a:rPr lang="en-US" sz="1300" b="1" dirty="0">
                <a:solidFill>
                  <a:schemeClr val="tx1"/>
                </a:solidFill>
                <a:latin typeface="Cambria" pitchFamily="34" charset="0"/>
                <a:ea typeface="Cambria" pitchFamily="34" charset="-122"/>
                <a:cs typeface="Cambria" pitchFamily="34" charset="-120"/>
              </a:rPr>
              <a:t>3</a:t>
            </a:r>
            <a:endParaRPr lang="en-US" sz="1300" dirty="0"/>
          </a:p>
        </p:txBody>
      </p:sp>
      <p:pic>
        <p:nvPicPr>
          <p:cNvPr id="21" name="Image 2" descr="preencoded.png">    </p:cNvPr>
          <p:cNvPicPr>
            <a:picLocks noChangeAspect="1"/>
          </p:cNvPicPr>
          <p:nvPr/>
        </p:nvPicPr>
        <p:blipFill>
          <a:blip r:embed="rId3"/>
          <a:stretch>
            <a:fillRect/>
          </a:stretch>
        </p:blipFill>
        <p:spPr>
          <a:xfrm>
            <a:off x="8147304" y="1737360"/>
            <a:ext cx="457200" cy="457200"/>
          </a:xfrm>
          <a:prstGeom prst="rect">
            <a:avLst/>
          </a:prstGeom>
        </p:spPr>
      </p:pic>
      <p:sp>
        <p:nvSpPr>
          <p:cNvPr id="22" name="Text 17"/>
          <p:cNvSpPr txBox="1"/>
          <p:nvPr/>
        </p:nvSpPr>
        <p:spPr>
          <a:xfrm>
            <a:off x="6455664" y="2331720"/>
            <a:ext cx="2194560" cy="411480"/>
          </a:xfrm>
          <a:prstGeom prst="rect">
            <a:avLst/>
          </a:prstGeom>
          <a:noFill/>
          <a:ln/>
        </p:spPr>
        <p:txBody>
          <a:bodyPr wrap="square" lIns="0" tIns="0" rIns="0" bIns="0" rtlCol="0" anchor="t"/>
          <a:lstStyle/>
          <a:p>
            <a:pPr indent="0" marL="0">
              <a:buNone/>
            </a:pPr>
            <a:r>
              <a:rPr lang="en-US" sz="1800" b="1" dirty="0">
                <a:solidFill>
                  <a:schemeClr val="bg2"/>
                </a:solidFill>
                <a:latin typeface="Cambria" pitchFamily="34" charset="0"/>
                <a:ea typeface="Cambria" pitchFamily="34" charset="-122"/>
                <a:cs typeface="Cambria" pitchFamily="34" charset="-120"/>
              </a:rPr>
              <a:t>Cálculo</a:t>
            </a:r>
            <a:endParaRPr lang="en-US" sz="1800" dirty="0"/>
          </a:p>
        </p:txBody>
      </p:sp>
      <p:sp>
        <p:nvSpPr>
          <p:cNvPr id="23" name="Text 18"/>
          <p:cNvSpPr txBox="1"/>
          <p:nvPr/>
        </p:nvSpPr>
        <p:spPr>
          <a:xfrm>
            <a:off x="6455664" y="2788920"/>
            <a:ext cx="2194560" cy="118872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Cuando otro jugador busca, se descifran solo en memoria para calcular la distancia (haversine).</a:t>
            </a:r>
            <a:endParaRPr lang="en-US" sz="1400" dirty="0"/>
          </a:p>
        </p:txBody>
      </p:sp>
      <p:sp>
        <p:nvSpPr>
          <p:cNvPr id="24" name="Shape 19"/>
          <p:cNvSpPr/>
          <p:nvPr/>
        </p:nvSpPr>
        <p:spPr>
          <a:xfrm>
            <a:off x="8887968" y="2651760"/>
            <a:ext cx="192024" cy="329184"/>
          </a:xfrm>
          <a:prstGeom prst="chevron">
            <a:avLst/>
          </a:prstGeom>
          <a:solidFill>
            <a:schemeClr val="accent1"/>
          </a:solidFill>
          <a:ln w="12700">
            <a:solidFill>
              <a:schemeClr val="accent1"/>
            </a:solidFill>
            <a:prstDash val="solid"/>
          </a:ln>
        </p:spPr>
      </p:sp>
      <p:sp>
        <p:nvSpPr>
          <p:cNvPr id="25" name="Shape 20"/>
          <p:cNvSpPr/>
          <p:nvPr/>
        </p:nvSpPr>
        <p:spPr>
          <a:xfrm>
            <a:off x="9134856" y="1554480"/>
            <a:ext cx="2560320" cy="2514600"/>
          </a:xfrm>
          <a:prstGeom prst="roundRect">
            <a:avLst>
              <a:gd name="adj" fmla="val 3636"/>
            </a:avLst>
          </a:prstGeom>
          <a:solidFill>
            <a:schemeClr val="tx2"/>
          </a:solidFill>
          <a:ln w="12700">
            <a:solidFill>
              <a:schemeClr val="accent1"/>
            </a:solidFill>
            <a:prstDash val="solid"/>
          </a:ln>
        </p:spPr>
      </p:sp>
      <p:sp>
        <p:nvSpPr>
          <p:cNvPr id="26" name="Shape 21"/>
          <p:cNvSpPr/>
          <p:nvPr/>
        </p:nvSpPr>
        <p:spPr>
          <a:xfrm>
            <a:off x="9317736" y="1737360"/>
            <a:ext cx="457200" cy="457200"/>
          </a:xfrm>
          <a:prstGeom prst="ellipse">
            <a:avLst/>
          </a:prstGeom>
          <a:solidFill>
            <a:schemeClr val="accent1"/>
          </a:solidFill>
          <a:ln w="9525">
            <a:solidFill>
              <a:schemeClr val="tx1"/>
            </a:solidFill>
            <a:prstDash val="solid"/>
          </a:ln>
        </p:spPr>
      </p:sp>
      <p:sp>
        <p:nvSpPr>
          <p:cNvPr id="27" name="Text 22"/>
          <p:cNvSpPr txBox="1"/>
          <p:nvPr/>
        </p:nvSpPr>
        <p:spPr>
          <a:xfrm>
            <a:off x="9317736" y="1737360"/>
            <a:ext cx="457200" cy="457200"/>
          </a:xfrm>
          <a:prstGeom prst="rect">
            <a:avLst/>
          </a:prstGeom>
          <a:noFill/>
          <a:ln/>
        </p:spPr>
        <p:txBody>
          <a:bodyPr wrap="square" lIns="0" tIns="0" rIns="0" bIns="0" rtlCol="0" anchor="ctr"/>
          <a:lstStyle/>
          <a:p>
            <a:pPr algn="ctr" indent="0" marL="0">
              <a:buNone/>
            </a:pPr>
            <a:r>
              <a:rPr lang="en-US" sz="1300" b="1" dirty="0">
                <a:solidFill>
                  <a:schemeClr val="tx1"/>
                </a:solidFill>
                <a:latin typeface="Cambria" pitchFamily="34" charset="0"/>
                <a:ea typeface="Cambria" pitchFamily="34" charset="-122"/>
                <a:cs typeface="Cambria" pitchFamily="34" charset="-120"/>
              </a:rPr>
              <a:t>4</a:t>
            </a:r>
            <a:endParaRPr lang="en-US" sz="1300" dirty="0"/>
          </a:p>
        </p:txBody>
      </p:sp>
      <p:pic>
        <p:nvPicPr>
          <p:cNvPr id="28" name="Image 3" descr="preencoded.png">    </p:cNvPr>
          <p:cNvPicPr>
            <a:picLocks noChangeAspect="1"/>
          </p:cNvPicPr>
          <p:nvPr/>
        </p:nvPicPr>
        <p:blipFill>
          <a:blip r:embed="rId4"/>
          <a:stretch>
            <a:fillRect/>
          </a:stretch>
        </p:blipFill>
        <p:spPr>
          <a:xfrm>
            <a:off x="11009376" y="1737360"/>
            <a:ext cx="457200" cy="457200"/>
          </a:xfrm>
          <a:prstGeom prst="rect">
            <a:avLst/>
          </a:prstGeom>
        </p:spPr>
      </p:pic>
      <p:sp>
        <p:nvSpPr>
          <p:cNvPr id="29" name="Text 23"/>
          <p:cNvSpPr txBox="1"/>
          <p:nvPr/>
        </p:nvSpPr>
        <p:spPr>
          <a:xfrm>
            <a:off x="9317736" y="2331720"/>
            <a:ext cx="2194560" cy="411480"/>
          </a:xfrm>
          <a:prstGeom prst="rect">
            <a:avLst/>
          </a:prstGeom>
          <a:noFill/>
          <a:ln/>
        </p:spPr>
        <p:txBody>
          <a:bodyPr wrap="square" lIns="0" tIns="0" rIns="0" bIns="0" rtlCol="0" anchor="t"/>
          <a:lstStyle/>
          <a:p>
            <a:pPr indent="0" marL="0">
              <a:buNone/>
            </a:pPr>
            <a:r>
              <a:rPr lang="en-US" sz="1800" b="1" dirty="0">
                <a:solidFill>
                  <a:schemeClr val="bg2"/>
                </a:solidFill>
                <a:latin typeface="Cambria" pitchFamily="34" charset="0"/>
                <a:ea typeface="Cambria" pitchFamily="34" charset="-122"/>
                <a:cs typeface="Cambria" pitchFamily="34" charset="-120"/>
              </a:rPr>
              <a:t>Respuesta</a:t>
            </a:r>
            <a:endParaRPr lang="en-US" sz="1800" dirty="0"/>
          </a:p>
        </p:txBody>
      </p:sp>
      <p:sp>
        <p:nvSpPr>
          <p:cNvPr id="30" name="Text 24"/>
          <p:cNvSpPr txBox="1"/>
          <p:nvPr/>
        </p:nvSpPr>
        <p:spPr>
          <a:xfrm>
            <a:off x="9317736" y="2788920"/>
            <a:ext cx="2194560" cy="118872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La respuesta lleva kilómetros, nunca coordenadas.</a:t>
            </a:r>
            <a:endParaRPr lang="en-US" sz="1400" dirty="0"/>
          </a:p>
        </p:txBody>
      </p:sp>
      <p:sp>
        <p:nvSpPr>
          <p:cNvPr id="31" name="Shape 25"/>
          <p:cNvSpPr/>
          <p:nvPr/>
        </p:nvSpPr>
        <p:spPr>
          <a:xfrm>
            <a:off x="548640" y="4343400"/>
            <a:ext cx="3520440" cy="1828800"/>
          </a:xfrm>
          <a:prstGeom prst="roundRect">
            <a:avLst>
              <a:gd name="adj" fmla="val 5000"/>
            </a:avLst>
          </a:prstGeom>
          <a:solidFill>
            <a:schemeClr val="bg2"/>
          </a:solidFill>
          <a:ln w="25400">
            <a:solidFill>
              <a:schemeClr val="accent3"/>
            </a:solidFill>
            <a:prstDash val="solid"/>
          </a:ln>
        </p:spPr>
      </p:sp>
      <p:sp>
        <p:nvSpPr>
          <p:cNvPr id="32" name="Shape 26"/>
          <p:cNvSpPr/>
          <p:nvPr/>
        </p:nvSpPr>
        <p:spPr>
          <a:xfrm>
            <a:off x="731520" y="4526280"/>
            <a:ext cx="274320" cy="274320"/>
          </a:xfrm>
          <a:prstGeom prst="ellipse">
            <a:avLst/>
          </a:prstGeom>
          <a:solidFill>
            <a:schemeClr val="accent3"/>
          </a:solidFill>
          <a:ln w="9525">
            <a:solidFill>
              <a:schemeClr val="tx1"/>
            </a:solidFill>
            <a:prstDash val="solid"/>
          </a:ln>
        </p:spPr>
      </p:sp>
      <p:sp>
        <p:nvSpPr>
          <p:cNvPr id="33" name="Text 27"/>
          <p:cNvSpPr txBox="1"/>
          <p:nvPr/>
        </p:nvSpPr>
        <p:spPr>
          <a:xfrm>
            <a:off x="1115568" y="4498848"/>
            <a:ext cx="2788920" cy="329184"/>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Base de licitud</a:t>
            </a:r>
            <a:endParaRPr lang="en-US" sz="1500" dirty="0"/>
          </a:p>
        </p:txBody>
      </p:sp>
      <p:sp>
        <p:nvSpPr>
          <p:cNvPr id="34" name="Text 28"/>
          <p:cNvSpPr txBox="1"/>
          <p:nvPr/>
        </p:nvSpPr>
        <p:spPr>
          <a:xfrm>
            <a:off x="731520" y="4910328"/>
            <a:ext cx="3154680" cy="118872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Consentimiento (Ley 19.628, arts. 12 y 16 sexies). No puede ser contrato: la búsqueda funciona sin ubicación.</a:t>
            </a:r>
            <a:endParaRPr lang="en-US" sz="1350" dirty="0"/>
          </a:p>
        </p:txBody>
      </p:sp>
      <p:sp>
        <p:nvSpPr>
          <p:cNvPr id="35" name="Shape 29"/>
          <p:cNvSpPr/>
          <p:nvPr/>
        </p:nvSpPr>
        <p:spPr>
          <a:xfrm>
            <a:off x="4297680" y="4343400"/>
            <a:ext cx="3520440" cy="1828800"/>
          </a:xfrm>
          <a:prstGeom prst="roundRect">
            <a:avLst>
              <a:gd name="adj" fmla="val 5000"/>
            </a:avLst>
          </a:prstGeom>
          <a:solidFill>
            <a:schemeClr val="bg2"/>
          </a:solidFill>
          <a:ln w="25400">
            <a:solidFill>
              <a:schemeClr val="accent4"/>
            </a:solidFill>
            <a:prstDash val="solid"/>
          </a:ln>
        </p:spPr>
      </p:sp>
      <p:sp>
        <p:nvSpPr>
          <p:cNvPr id="36" name="Shape 30"/>
          <p:cNvSpPr/>
          <p:nvPr/>
        </p:nvSpPr>
        <p:spPr>
          <a:xfrm>
            <a:off x="4480560" y="4526280"/>
            <a:ext cx="274320" cy="274320"/>
          </a:xfrm>
          <a:prstGeom prst="ellipse">
            <a:avLst/>
          </a:prstGeom>
          <a:solidFill>
            <a:schemeClr val="accent4"/>
          </a:solidFill>
          <a:ln w="9525">
            <a:solidFill>
              <a:schemeClr val="tx1"/>
            </a:solidFill>
            <a:prstDash val="solid"/>
          </a:ln>
        </p:spPr>
      </p:sp>
      <p:sp>
        <p:nvSpPr>
          <p:cNvPr id="37" name="Text 31"/>
          <p:cNvSpPr txBox="1"/>
          <p:nvPr/>
        </p:nvSpPr>
        <p:spPr>
          <a:xfrm>
            <a:off x="4864608" y="4498848"/>
            <a:ext cx="2788920" cy="329184"/>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Riesgo</a:t>
            </a:r>
            <a:endParaRPr lang="en-US" sz="1500" dirty="0"/>
          </a:p>
        </p:txBody>
      </p:sp>
      <p:sp>
        <p:nvSpPr>
          <p:cNvPr id="38" name="Text 32"/>
          <p:cNvSpPr txBox="1"/>
          <p:nvPr/>
        </p:nvSpPr>
        <p:spPr>
          <a:xfrm>
            <a:off x="4480560" y="4910328"/>
            <a:ext cx="3154680" cy="118872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Con varias búsquedas desde puntos distintos se podría triangular al vendedor. Propuesta: redondear coordenadas.</a:t>
            </a:r>
            <a:endParaRPr lang="en-US" sz="1350" dirty="0"/>
          </a:p>
        </p:txBody>
      </p:sp>
      <p:sp>
        <p:nvSpPr>
          <p:cNvPr id="39" name="Shape 33"/>
          <p:cNvSpPr/>
          <p:nvPr/>
        </p:nvSpPr>
        <p:spPr>
          <a:xfrm>
            <a:off x="8046720" y="4343400"/>
            <a:ext cx="3520440" cy="1828800"/>
          </a:xfrm>
          <a:prstGeom prst="roundRect">
            <a:avLst>
              <a:gd name="adj" fmla="val 5000"/>
            </a:avLst>
          </a:prstGeom>
          <a:solidFill>
            <a:schemeClr val="bg2"/>
          </a:solidFill>
          <a:ln w="25400">
            <a:solidFill>
              <a:schemeClr val="accent6"/>
            </a:solidFill>
            <a:prstDash val="solid"/>
          </a:ln>
        </p:spPr>
      </p:sp>
      <p:sp>
        <p:nvSpPr>
          <p:cNvPr id="40" name="Shape 34"/>
          <p:cNvSpPr/>
          <p:nvPr/>
        </p:nvSpPr>
        <p:spPr>
          <a:xfrm>
            <a:off x="8229600" y="4526280"/>
            <a:ext cx="274320" cy="274320"/>
          </a:xfrm>
          <a:prstGeom prst="ellipse">
            <a:avLst/>
          </a:prstGeom>
          <a:solidFill>
            <a:schemeClr val="accent6"/>
          </a:solidFill>
          <a:ln w="9525">
            <a:solidFill>
              <a:schemeClr val="tx1"/>
            </a:solidFill>
            <a:prstDash val="solid"/>
          </a:ln>
        </p:spPr>
      </p:sp>
      <p:sp>
        <p:nvSpPr>
          <p:cNvPr id="41" name="Text 35"/>
          <p:cNvSpPr txBox="1"/>
          <p:nvPr/>
        </p:nvSpPr>
        <p:spPr>
          <a:xfrm>
            <a:off x="8613648" y="4498848"/>
            <a:ext cx="2788920" cy="329184"/>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Brecha</a:t>
            </a:r>
            <a:endParaRPr lang="en-US" sz="1500" dirty="0"/>
          </a:p>
        </p:txBody>
      </p:sp>
      <p:sp>
        <p:nvSpPr>
          <p:cNvPr id="42" name="Text 36"/>
          <p:cNvSpPr txBox="1"/>
          <p:nvPr/>
        </p:nvSpPr>
        <p:spPr>
          <a:xfrm>
            <a:off x="8229600" y="4910328"/>
            <a:ext cx="3154680" cy="118872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Se guarda la ubicación de todo jugador, no solo de vendedores. Falta informar finalidad y duración, y un botón para dejar de compartir.</a:t>
            </a:r>
            <a:endParaRPr lang="en-US" sz="135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ambria"/>
                <a:ea typeface="Cambria"/>
                <a:cs typeface="Camb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3000" b="1" dirty="0">
                <a:solidFill>
                  <a:schemeClr val="bg2"/>
                </a:solidFill>
                <a:latin typeface="Cambria" pitchFamily="34" charset="0"/>
                <a:ea typeface="Cambria" pitchFamily="34" charset="-122"/>
                <a:cs typeface="Cambria" pitchFamily="34" charset="-120"/>
              </a:rPr>
              <a:t>Clasificación: qué es sensible y por qué</a:t>
            </a:r>
            <a:endParaRPr lang="en-US" sz="3000" dirty="0"/>
          </a:p>
        </p:txBody>
      </p:sp>
      <p:sp>
        <p:nvSpPr>
          <p:cNvPr id="3" name="Text 0"/>
          <p:cNvSpPr/>
          <p:nvPr>
            <p:ph idx="101" type="body" hasCustomPrompt="1"/>
          </p:nvPr>
        </p:nvSpPr>
        <p:spPr>
          <a:xfrm>
            <a:off x="548640" y="987552"/>
            <a:ext cx="11064240" cy="365760"/>
          </a:xfrm>
          <a:prstGeom prst="rect">
            <a:avLst/>
          </a:prstGeom>
          <a:noFill/>
          <a:ln/>
        </p:spPr>
        <p:txBody>
          <a:bodyPr wrap="square" lIns="0" tIns="0" rIns="0" bIns="0" rtlCol="0" anchor="t"/>
          <a:lstStyle/>
          <a:p>
            <a:pPr indent="0" marL="0">
              <a:buNone/>
            </a:pPr>
            <a:r>
              <a:rPr lang="en-US" sz="1400" i="1" dirty="0">
                <a:solidFill>
                  <a:schemeClr val="accent1"/>
                </a:solidFill>
                <a:latin typeface="Calibri" pitchFamily="34" charset="0"/>
                <a:ea typeface="Calibri" pitchFamily="34" charset="-122"/>
                <a:cs typeface="Calibri" pitchFamily="34" charset="-120"/>
              </a:rPr>
              <a:t>Dato personal: "vinculado o referido a una persona natural identificada o identificable" (Ley 19.628, art. 2 f)</a:t>
            </a:r>
            <a:endParaRPr lang="en-US" sz="1400" dirty="0"/>
          </a:p>
        </p:txBody>
      </p:sp>
      <p:sp>
        <p:nvSpPr>
          <p:cNvPr id="4" name="Shape 2"/>
          <p:cNvSpPr/>
          <p:nvPr/>
        </p:nvSpPr>
        <p:spPr>
          <a:xfrm>
            <a:off x="548640" y="1508760"/>
            <a:ext cx="2651760" cy="4800600"/>
          </a:xfrm>
          <a:prstGeom prst="roundRect">
            <a:avLst>
              <a:gd name="adj" fmla="val 4138"/>
            </a:avLst>
          </a:prstGeom>
          <a:solidFill>
            <a:schemeClr val="tx1"/>
          </a:solidFill>
          <a:ln w="6350">
            <a:solidFill>
              <a:schemeClr val="tx1"/>
            </a:solidFill>
            <a:prstDash val="solid"/>
          </a:ln>
          <a:effectLst>
            <a:outerShdw sx="100000" sy="100000" kx="0" ky="0" algn="bl" rotWithShape="0" blurRad="101600" dist="38100" dir="5400000">
              <a:srgbClr val="000000">
                <a:alpha val="55000"/>
              </a:srgbClr>
            </a:outerShdw>
          </a:effectLst>
        </p:spPr>
      </p:sp>
      <p:sp>
        <p:nvSpPr>
          <p:cNvPr id="5" name="Shape 3"/>
          <p:cNvSpPr/>
          <p:nvPr/>
        </p:nvSpPr>
        <p:spPr>
          <a:xfrm>
            <a:off x="612648" y="1572768"/>
            <a:ext cx="2523744" cy="4672584"/>
          </a:xfrm>
          <a:prstGeom prst="roundRect">
            <a:avLst>
              <a:gd name="adj" fmla="val 3623"/>
            </a:avLst>
          </a:prstGeom>
          <a:solidFill>
            <a:schemeClr val="accent4"/>
          </a:solidFill>
          <a:ln w="12700">
            <a:solidFill>
              <a:schemeClr val="accent4"/>
            </a:solidFill>
            <a:prstDash val="solid"/>
          </a:ln>
        </p:spPr>
      </p:sp>
      <p:sp>
        <p:nvSpPr>
          <p:cNvPr id="6" name="Shape 4"/>
          <p:cNvSpPr/>
          <p:nvPr/>
        </p:nvSpPr>
        <p:spPr>
          <a:xfrm>
            <a:off x="704088" y="1664208"/>
            <a:ext cx="2340864" cy="384048"/>
          </a:xfrm>
          <a:prstGeom prst="roundRect">
            <a:avLst>
              <a:gd name="adj" fmla="val 19048"/>
            </a:avLst>
          </a:prstGeom>
          <a:solidFill>
            <a:schemeClr val="bg2"/>
          </a:solidFill>
          <a:ln w="9525">
            <a:solidFill>
              <a:schemeClr val="tx1"/>
            </a:solidFill>
            <a:prstDash val="solid"/>
          </a:ln>
        </p:spPr>
      </p:sp>
      <p:sp>
        <p:nvSpPr>
          <p:cNvPr id="7" name="Text 5"/>
          <p:cNvSpPr txBox="1"/>
          <p:nvPr/>
        </p:nvSpPr>
        <p:spPr>
          <a:xfrm>
            <a:off x="795528" y="1664208"/>
            <a:ext cx="1911096" cy="384048"/>
          </a:xfrm>
          <a:prstGeom prst="rect">
            <a:avLst/>
          </a:prstGeom>
          <a:noFill/>
          <a:ln/>
        </p:spPr>
        <p:txBody>
          <a:bodyPr wrap="square" lIns="0" tIns="0" rIns="0" bIns="0" rtlCol="0" anchor="ctr">
            <a:normAutofit/>
          </a:bodyPr>
          <a:lstStyle/>
          <a:p>
            <a:pPr indent="0" marL="0">
              <a:buNone/>
            </a:pPr>
            <a:r>
              <a:rPr lang="en-US" sz="1500" b="1" dirty="0">
                <a:solidFill>
                  <a:schemeClr val="tx1"/>
                </a:solidFill>
                <a:latin typeface="Cambria" pitchFamily="34" charset="0"/>
                <a:ea typeface="Cambria" pitchFamily="34" charset="-122"/>
                <a:cs typeface="Cambria" pitchFamily="34" charset="-120"/>
              </a:rPr>
              <a:t>Geolocalización</a:t>
            </a:r>
            <a:endParaRPr lang="en-US" sz="1500" dirty="0"/>
          </a:p>
        </p:txBody>
      </p:sp>
      <p:sp>
        <p:nvSpPr>
          <p:cNvPr id="8" name="Shape 6"/>
          <p:cNvSpPr/>
          <p:nvPr/>
        </p:nvSpPr>
        <p:spPr>
          <a:xfrm>
            <a:off x="2724912" y="1741932"/>
            <a:ext cx="228600" cy="228600"/>
          </a:xfrm>
          <a:prstGeom prst="ellipse">
            <a:avLst/>
          </a:prstGeom>
          <a:solidFill>
            <a:schemeClr val="accent4"/>
          </a:solidFill>
          <a:ln w="9525">
            <a:solidFill>
              <a:schemeClr val="tx1"/>
            </a:solidFill>
            <a:prstDash val="solid"/>
          </a:ln>
        </p:spPr>
      </p:sp>
      <p:sp>
        <p:nvSpPr>
          <p:cNvPr id="9" name="Shape 7"/>
          <p:cNvSpPr/>
          <p:nvPr/>
        </p:nvSpPr>
        <p:spPr>
          <a:xfrm>
            <a:off x="758952" y="2112264"/>
            <a:ext cx="2231136" cy="1234440"/>
          </a:xfrm>
          <a:prstGeom prst="rect">
            <a:avLst/>
          </a:prstGeom>
          <a:solidFill>
            <a:schemeClr val="tx1"/>
          </a:solidFill>
          <a:ln w="9525">
            <a:solidFill>
              <a:schemeClr val="tx1"/>
            </a:solidFill>
            <a:prstDash val="solid"/>
          </a:ln>
        </p:spPr>
      </p:sp>
      <p:pic>
        <p:nvPicPr>
          <p:cNvPr id="10" name="Image 0" descr="preencoded.png">    </p:cNvPr>
          <p:cNvPicPr>
            <a:picLocks noChangeAspect="1"/>
          </p:cNvPicPr>
          <p:nvPr/>
        </p:nvPicPr>
        <p:blipFill>
          <a:blip r:embed="rId1"/>
          <a:stretch>
            <a:fillRect/>
          </a:stretch>
        </p:blipFill>
        <p:spPr>
          <a:xfrm>
            <a:off x="1430122" y="2285086"/>
            <a:ext cx="888797" cy="888797"/>
          </a:xfrm>
          <a:prstGeom prst="rect">
            <a:avLst/>
          </a:prstGeom>
        </p:spPr>
      </p:pic>
      <p:sp>
        <p:nvSpPr>
          <p:cNvPr id="11" name="Shape 8"/>
          <p:cNvSpPr/>
          <p:nvPr/>
        </p:nvSpPr>
        <p:spPr>
          <a:xfrm>
            <a:off x="704088" y="3410712"/>
            <a:ext cx="2340864" cy="502920"/>
          </a:xfrm>
          <a:prstGeom prst="roundRect">
            <a:avLst>
              <a:gd name="adj" fmla="val 12727"/>
            </a:avLst>
          </a:prstGeom>
          <a:solidFill>
            <a:schemeClr val="bg2"/>
          </a:solidFill>
          <a:ln w="9525">
            <a:solidFill>
              <a:schemeClr val="tx1"/>
            </a:solidFill>
            <a:prstDash val="solid"/>
          </a:ln>
        </p:spPr>
      </p:sp>
      <p:sp>
        <p:nvSpPr>
          <p:cNvPr id="12" name="Text 9"/>
          <p:cNvSpPr txBox="1"/>
          <p:nvPr/>
        </p:nvSpPr>
        <p:spPr>
          <a:xfrm>
            <a:off x="795528" y="3410712"/>
            <a:ext cx="2157984" cy="502920"/>
          </a:xfrm>
          <a:prstGeom prst="rect">
            <a:avLst/>
          </a:prstGeom>
          <a:noFill/>
          <a:ln/>
        </p:spPr>
        <p:txBody>
          <a:bodyPr wrap="square" lIns="0" tIns="0" rIns="0" bIns="0" rtlCol="0" anchor="ctr">
            <a:normAutofit/>
          </a:bodyPr>
          <a:lstStyle/>
          <a:p>
            <a:pPr indent="0" marL="0">
              <a:buNone/>
            </a:pPr>
            <a:r>
              <a:rPr lang="en-US" sz="1000" b="1" dirty="0">
                <a:solidFill>
                  <a:schemeClr val="tx1"/>
                </a:solidFill>
                <a:latin typeface="Calibri" pitchFamily="34" charset="0"/>
                <a:ea typeface="Calibri" pitchFamily="34" charset="-122"/>
                <a:cs typeface="Calibri" pitchFamily="34" charset="-120"/>
              </a:rPr>
              <a:t>Categoría especial — Ley 19.628, art. 16 sexies</a:t>
            </a:r>
            <a:endParaRPr lang="en-US" sz="1000" dirty="0"/>
          </a:p>
        </p:txBody>
      </p:sp>
      <p:sp>
        <p:nvSpPr>
          <p:cNvPr id="13" name="Shape 10"/>
          <p:cNvSpPr/>
          <p:nvPr/>
        </p:nvSpPr>
        <p:spPr>
          <a:xfrm>
            <a:off x="758952" y="3977640"/>
            <a:ext cx="2231136" cy="2148840"/>
          </a:xfrm>
          <a:prstGeom prst="rect">
            <a:avLst/>
          </a:prstGeom>
          <a:solidFill>
            <a:schemeClr val="bg2"/>
          </a:solidFill>
          <a:ln w="9525">
            <a:solidFill>
              <a:schemeClr val="tx1"/>
            </a:solidFill>
            <a:prstDash val="solid"/>
          </a:ln>
        </p:spPr>
      </p:sp>
      <p:sp>
        <p:nvSpPr>
          <p:cNvPr id="14" name="Text 11"/>
          <p:cNvSpPr txBox="1"/>
          <p:nvPr/>
        </p:nvSpPr>
        <p:spPr>
          <a:xfrm>
            <a:off x="850392" y="4050792"/>
            <a:ext cx="2048256" cy="2020824"/>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Exige informar tipo de dato, finalidad, duración y si se comunica a terceros.</a:t>
            </a:r>
            <a:endParaRPr lang="en-US" sz="1400" dirty="0"/>
          </a:p>
          <a:p>
            <a:pPr indent="0" marL="0">
              <a:buNone/>
            </a:pPr>
            <a:r>
              <a:rPr lang="en-US" sz="1400" i="1" dirty="0">
                <a:solidFill>
                  <a:schemeClr val="tx2"/>
                </a:solidFill>
                <a:latin typeface="Calibri" pitchFamily="34" charset="0"/>
                <a:ea typeface="Calibri" pitchFamily="34" charset="-122"/>
                <a:cs typeface="Calibri" pitchFamily="34" charset="-120"/>
              </a:rPr>
              <a:t>Revela domicilio y hábitos: protección reforzada.</a:t>
            </a:r>
            <a:endParaRPr lang="en-US" sz="1400" dirty="0"/>
          </a:p>
        </p:txBody>
      </p:sp>
      <p:sp>
        <p:nvSpPr>
          <p:cNvPr id="15" name="Shape 12"/>
          <p:cNvSpPr/>
          <p:nvPr/>
        </p:nvSpPr>
        <p:spPr>
          <a:xfrm>
            <a:off x="3383280" y="1508760"/>
            <a:ext cx="2651760" cy="4800600"/>
          </a:xfrm>
          <a:prstGeom prst="roundRect">
            <a:avLst>
              <a:gd name="adj" fmla="val 4138"/>
            </a:avLst>
          </a:prstGeom>
          <a:solidFill>
            <a:schemeClr val="tx1"/>
          </a:solidFill>
          <a:ln w="6350">
            <a:solidFill>
              <a:schemeClr val="tx1"/>
            </a:solidFill>
            <a:prstDash val="solid"/>
          </a:ln>
          <a:effectLst>
            <a:outerShdw sx="100000" sy="100000" kx="0" ky="0" algn="bl" rotWithShape="0" blurRad="101600" dist="38100" dir="5400000">
              <a:srgbClr val="000000">
                <a:alpha val="55000"/>
              </a:srgbClr>
            </a:outerShdw>
          </a:effectLst>
        </p:spPr>
      </p:sp>
      <p:sp>
        <p:nvSpPr>
          <p:cNvPr id="16" name="Shape 13"/>
          <p:cNvSpPr/>
          <p:nvPr/>
        </p:nvSpPr>
        <p:spPr>
          <a:xfrm>
            <a:off x="3447288" y="1572768"/>
            <a:ext cx="2523744" cy="4672584"/>
          </a:xfrm>
          <a:prstGeom prst="roundRect">
            <a:avLst>
              <a:gd name="adj" fmla="val 3623"/>
            </a:avLst>
          </a:prstGeom>
          <a:solidFill>
            <a:schemeClr val="accent5"/>
          </a:solidFill>
          <a:ln w="12700">
            <a:solidFill>
              <a:schemeClr val="accent5"/>
            </a:solidFill>
            <a:prstDash val="solid"/>
          </a:ln>
        </p:spPr>
      </p:sp>
      <p:sp>
        <p:nvSpPr>
          <p:cNvPr id="17" name="Shape 14"/>
          <p:cNvSpPr/>
          <p:nvPr/>
        </p:nvSpPr>
        <p:spPr>
          <a:xfrm>
            <a:off x="3538728" y="1664208"/>
            <a:ext cx="2340864" cy="384048"/>
          </a:xfrm>
          <a:prstGeom prst="roundRect">
            <a:avLst>
              <a:gd name="adj" fmla="val 19048"/>
            </a:avLst>
          </a:prstGeom>
          <a:solidFill>
            <a:schemeClr val="bg2"/>
          </a:solidFill>
          <a:ln w="9525">
            <a:solidFill>
              <a:schemeClr val="tx1"/>
            </a:solidFill>
            <a:prstDash val="solid"/>
          </a:ln>
        </p:spPr>
      </p:sp>
      <p:sp>
        <p:nvSpPr>
          <p:cNvPr id="18" name="Text 15"/>
          <p:cNvSpPr txBox="1"/>
          <p:nvPr/>
        </p:nvSpPr>
        <p:spPr>
          <a:xfrm>
            <a:off x="3630168" y="1664208"/>
            <a:ext cx="1911096" cy="384048"/>
          </a:xfrm>
          <a:prstGeom prst="rect">
            <a:avLst/>
          </a:prstGeom>
          <a:noFill/>
          <a:ln/>
        </p:spPr>
        <p:txBody>
          <a:bodyPr wrap="square" lIns="0" tIns="0" rIns="0" bIns="0" rtlCol="0" anchor="ctr">
            <a:normAutofit/>
          </a:bodyPr>
          <a:lstStyle/>
          <a:p>
            <a:pPr indent="0" marL="0">
              <a:buNone/>
            </a:pPr>
            <a:r>
              <a:rPr lang="en-US" sz="1500" b="1" dirty="0">
                <a:solidFill>
                  <a:schemeClr val="tx1"/>
                </a:solidFill>
                <a:latin typeface="Cambria" pitchFamily="34" charset="0"/>
                <a:ea typeface="Cambria" pitchFamily="34" charset="-122"/>
                <a:cs typeface="Cambria" pitchFamily="34" charset="-120"/>
              </a:rPr>
              <a:t>Menores de edad</a:t>
            </a:r>
            <a:endParaRPr lang="en-US" sz="1500" dirty="0"/>
          </a:p>
        </p:txBody>
      </p:sp>
      <p:sp>
        <p:nvSpPr>
          <p:cNvPr id="19" name="Shape 16"/>
          <p:cNvSpPr/>
          <p:nvPr/>
        </p:nvSpPr>
        <p:spPr>
          <a:xfrm>
            <a:off x="5559552" y="1741932"/>
            <a:ext cx="228600" cy="228600"/>
          </a:xfrm>
          <a:prstGeom prst="ellipse">
            <a:avLst/>
          </a:prstGeom>
          <a:solidFill>
            <a:schemeClr val="accent4"/>
          </a:solidFill>
          <a:ln w="9525">
            <a:solidFill>
              <a:schemeClr val="tx1"/>
            </a:solidFill>
            <a:prstDash val="solid"/>
          </a:ln>
        </p:spPr>
      </p:sp>
      <p:sp>
        <p:nvSpPr>
          <p:cNvPr id="20" name="Shape 17"/>
          <p:cNvSpPr/>
          <p:nvPr/>
        </p:nvSpPr>
        <p:spPr>
          <a:xfrm>
            <a:off x="3593592" y="2112264"/>
            <a:ext cx="2231136" cy="1234440"/>
          </a:xfrm>
          <a:prstGeom prst="rect">
            <a:avLst/>
          </a:prstGeom>
          <a:solidFill>
            <a:schemeClr val="tx1"/>
          </a:solidFill>
          <a:ln w="9525">
            <a:solidFill>
              <a:schemeClr val="tx1"/>
            </a:solidFill>
            <a:prstDash val="solid"/>
          </a:ln>
        </p:spPr>
      </p:sp>
      <p:pic>
        <p:nvPicPr>
          <p:cNvPr id="21" name="Image 1" descr="preencoded.png">    </p:cNvPr>
          <p:cNvPicPr>
            <a:picLocks noChangeAspect="1"/>
          </p:cNvPicPr>
          <p:nvPr/>
        </p:nvPicPr>
        <p:blipFill>
          <a:blip r:embed="rId2"/>
          <a:stretch>
            <a:fillRect/>
          </a:stretch>
        </p:blipFill>
        <p:spPr>
          <a:xfrm>
            <a:off x="4264762" y="2285086"/>
            <a:ext cx="888797" cy="888797"/>
          </a:xfrm>
          <a:prstGeom prst="rect">
            <a:avLst/>
          </a:prstGeom>
        </p:spPr>
      </p:pic>
      <p:sp>
        <p:nvSpPr>
          <p:cNvPr id="22" name="Shape 18"/>
          <p:cNvSpPr/>
          <p:nvPr/>
        </p:nvSpPr>
        <p:spPr>
          <a:xfrm>
            <a:off x="3538728" y="3410712"/>
            <a:ext cx="2340864" cy="502920"/>
          </a:xfrm>
          <a:prstGeom prst="roundRect">
            <a:avLst>
              <a:gd name="adj" fmla="val 12727"/>
            </a:avLst>
          </a:prstGeom>
          <a:solidFill>
            <a:schemeClr val="bg2"/>
          </a:solidFill>
          <a:ln w="9525">
            <a:solidFill>
              <a:schemeClr val="tx1"/>
            </a:solidFill>
            <a:prstDash val="solid"/>
          </a:ln>
        </p:spPr>
      </p:sp>
      <p:sp>
        <p:nvSpPr>
          <p:cNvPr id="23" name="Text 19"/>
          <p:cNvSpPr txBox="1"/>
          <p:nvPr/>
        </p:nvSpPr>
        <p:spPr>
          <a:xfrm>
            <a:off x="3630168" y="3410712"/>
            <a:ext cx="2157984" cy="502920"/>
          </a:xfrm>
          <a:prstGeom prst="rect">
            <a:avLst/>
          </a:prstGeom>
          <a:noFill/>
          <a:ln/>
        </p:spPr>
        <p:txBody>
          <a:bodyPr wrap="square" lIns="0" tIns="0" rIns="0" bIns="0" rtlCol="0" anchor="ctr">
            <a:normAutofit/>
          </a:bodyPr>
          <a:lstStyle/>
          <a:p>
            <a:pPr indent="0" marL="0">
              <a:buNone/>
            </a:pPr>
            <a:r>
              <a:rPr lang="en-US" sz="1000" b="1" dirty="0">
                <a:solidFill>
                  <a:schemeClr val="tx1"/>
                </a:solidFill>
                <a:latin typeface="Calibri" pitchFamily="34" charset="0"/>
                <a:ea typeface="Calibri" pitchFamily="34" charset="-122"/>
                <a:cs typeface="Calibri" pitchFamily="34" charset="-120"/>
              </a:rPr>
              <a:t>Categoría especial — Ley 19.628, art. 16 quáter</a:t>
            </a:r>
            <a:endParaRPr lang="en-US" sz="1000" dirty="0"/>
          </a:p>
        </p:txBody>
      </p:sp>
      <p:sp>
        <p:nvSpPr>
          <p:cNvPr id="24" name="Shape 20"/>
          <p:cNvSpPr/>
          <p:nvPr/>
        </p:nvSpPr>
        <p:spPr>
          <a:xfrm>
            <a:off x="3593592" y="3977640"/>
            <a:ext cx="2231136" cy="2148840"/>
          </a:xfrm>
          <a:prstGeom prst="rect">
            <a:avLst/>
          </a:prstGeom>
          <a:solidFill>
            <a:schemeClr val="bg2"/>
          </a:solidFill>
          <a:ln w="9525">
            <a:solidFill>
              <a:schemeClr val="tx1"/>
            </a:solidFill>
            <a:prstDash val="solid"/>
          </a:ln>
        </p:spPr>
      </p:sp>
      <p:sp>
        <p:nvSpPr>
          <p:cNvPr id="25" name="Text 21"/>
          <p:cNvSpPr txBox="1"/>
          <p:nvPr/>
        </p:nvSpPr>
        <p:spPr>
          <a:xfrm>
            <a:off x="3685032" y="4050792"/>
            <a:ext cx="2048256" cy="2020824"/>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Interés superior del menor; bajo 14 años, consentimiento de padres o representantes.</a:t>
            </a:r>
            <a:endParaRPr lang="en-US" sz="1400" dirty="0"/>
          </a:p>
          <a:p>
            <a:pPr indent="0" marL="0">
              <a:buNone/>
            </a:pPr>
            <a:r>
              <a:rPr lang="en-US" sz="1400" i="1" dirty="0">
                <a:solidFill>
                  <a:schemeClr val="tx2"/>
                </a:solidFill>
                <a:latin typeface="Calibri" pitchFamily="34" charset="0"/>
                <a:ea typeface="Calibri" pitchFamily="34" charset="-122"/>
                <a:cs typeface="Calibri" pitchFamily="34" charset="-120"/>
              </a:rPr>
              <a:t>Magic tiene jugadores adolescentes y la app no pregunta la edad.</a:t>
            </a:r>
            <a:endParaRPr lang="en-US" sz="1400" dirty="0"/>
          </a:p>
        </p:txBody>
      </p:sp>
      <p:sp>
        <p:nvSpPr>
          <p:cNvPr id="26" name="Shape 22"/>
          <p:cNvSpPr/>
          <p:nvPr/>
        </p:nvSpPr>
        <p:spPr>
          <a:xfrm>
            <a:off x="6217920" y="1508760"/>
            <a:ext cx="2651760" cy="4800600"/>
          </a:xfrm>
          <a:prstGeom prst="roundRect">
            <a:avLst>
              <a:gd name="adj" fmla="val 4138"/>
            </a:avLst>
          </a:prstGeom>
          <a:solidFill>
            <a:schemeClr val="tx1"/>
          </a:solidFill>
          <a:ln w="6350">
            <a:solidFill>
              <a:schemeClr val="tx1"/>
            </a:solidFill>
            <a:prstDash val="solid"/>
          </a:ln>
          <a:effectLst>
            <a:outerShdw sx="100000" sy="100000" kx="0" ky="0" algn="bl" rotWithShape="0" blurRad="101600" dist="38100" dir="5400000">
              <a:srgbClr val="000000">
                <a:alpha val="55000"/>
              </a:srgbClr>
            </a:outerShdw>
          </a:effectLst>
        </p:spPr>
      </p:sp>
      <p:sp>
        <p:nvSpPr>
          <p:cNvPr id="27" name="Shape 23"/>
          <p:cNvSpPr/>
          <p:nvPr/>
        </p:nvSpPr>
        <p:spPr>
          <a:xfrm>
            <a:off x="6281928" y="1572768"/>
            <a:ext cx="2523744" cy="4672584"/>
          </a:xfrm>
          <a:prstGeom prst="roundRect">
            <a:avLst>
              <a:gd name="adj" fmla="val 3623"/>
            </a:avLst>
          </a:prstGeom>
          <a:solidFill>
            <a:schemeClr val="accent6"/>
          </a:solidFill>
          <a:ln w="12700">
            <a:solidFill>
              <a:schemeClr val="accent6"/>
            </a:solidFill>
            <a:prstDash val="solid"/>
          </a:ln>
        </p:spPr>
      </p:sp>
      <p:sp>
        <p:nvSpPr>
          <p:cNvPr id="28" name="Shape 24"/>
          <p:cNvSpPr/>
          <p:nvPr/>
        </p:nvSpPr>
        <p:spPr>
          <a:xfrm>
            <a:off x="6373368" y="1664208"/>
            <a:ext cx="2340864" cy="384048"/>
          </a:xfrm>
          <a:prstGeom prst="roundRect">
            <a:avLst>
              <a:gd name="adj" fmla="val 19048"/>
            </a:avLst>
          </a:prstGeom>
          <a:solidFill>
            <a:schemeClr val="bg2"/>
          </a:solidFill>
          <a:ln w="9525">
            <a:solidFill>
              <a:schemeClr val="tx1"/>
            </a:solidFill>
            <a:prstDash val="solid"/>
          </a:ln>
        </p:spPr>
      </p:sp>
      <p:sp>
        <p:nvSpPr>
          <p:cNvPr id="29" name="Text 25"/>
          <p:cNvSpPr txBox="1"/>
          <p:nvPr/>
        </p:nvSpPr>
        <p:spPr>
          <a:xfrm>
            <a:off x="6464808" y="1664208"/>
            <a:ext cx="1911096" cy="384048"/>
          </a:xfrm>
          <a:prstGeom prst="rect">
            <a:avLst/>
          </a:prstGeom>
          <a:noFill/>
          <a:ln/>
        </p:spPr>
        <p:txBody>
          <a:bodyPr wrap="square" lIns="0" tIns="0" rIns="0" bIns="0" rtlCol="0" anchor="ctr">
            <a:normAutofit/>
          </a:bodyPr>
          <a:lstStyle/>
          <a:p>
            <a:pPr indent="0" marL="0">
              <a:buNone/>
            </a:pPr>
            <a:r>
              <a:rPr lang="en-US" sz="1500" b="1" dirty="0">
                <a:solidFill>
                  <a:schemeClr val="tx1"/>
                </a:solidFill>
                <a:latin typeface="Cambria" pitchFamily="34" charset="0"/>
                <a:ea typeface="Cambria" pitchFamily="34" charset="-122"/>
                <a:cs typeface="Cambria" pitchFamily="34" charset="-120"/>
              </a:rPr>
              <a:t>Colección + compras</a:t>
            </a:r>
            <a:endParaRPr lang="en-US" sz="1500" dirty="0"/>
          </a:p>
        </p:txBody>
      </p:sp>
      <p:sp>
        <p:nvSpPr>
          <p:cNvPr id="30" name="Shape 26"/>
          <p:cNvSpPr/>
          <p:nvPr/>
        </p:nvSpPr>
        <p:spPr>
          <a:xfrm>
            <a:off x="8394192" y="1741932"/>
            <a:ext cx="228600" cy="228600"/>
          </a:xfrm>
          <a:prstGeom prst="ellipse">
            <a:avLst/>
          </a:prstGeom>
          <a:solidFill>
            <a:schemeClr val="accent6"/>
          </a:solidFill>
          <a:ln w="9525">
            <a:solidFill>
              <a:schemeClr val="tx1"/>
            </a:solidFill>
            <a:prstDash val="solid"/>
          </a:ln>
        </p:spPr>
      </p:sp>
      <p:sp>
        <p:nvSpPr>
          <p:cNvPr id="31" name="Shape 27"/>
          <p:cNvSpPr/>
          <p:nvPr/>
        </p:nvSpPr>
        <p:spPr>
          <a:xfrm>
            <a:off x="6428232" y="2112264"/>
            <a:ext cx="2231136" cy="1234440"/>
          </a:xfrm>
          <a:prstGeom prst="rect">
            <a:avLst/>
          </a:prstGeom>
          <a:solidFill>
            <a:schemeClr val="tx1"/>
          </a:solidFill>
          <a:ln w="9525">
            <a:solidFill>
              <a:schemeClr val="tx1"/>
            </a:solidFill>
            <a:prstDash val="solid"/>
          </a:ln>
        </p:spPr>
      </p:sp>
      <p:pic>
        <p:nvPicPr>
          <p:cNvPr id="32" name="Image 2" descr="preencoded.png">    </p:cNvPr>
          <p:cNvPicPr>
            <a:picLocks noChangeAspect="1"/>
          </p:cNvPicPr>
          <p:nvPr/>
        </p:nvPicPr>
        <p:blipFill>
          <a:blip r:embed="rId3"/>
          <a:stretch>
            <a:fillRect/>
          </a:stretch>
        </p:blipFill>
        <p:spPr>
          <a:xfrm>
            <a:off x="7099402" y="2285086"/>
            <a:ext cx="888797" cy="888797"/>
          </a:xfrm>
          <a:prstGeom prst="rect">
            <a:avLst/>
          </a:prstGeom>
        </p:spPr>
      </p:pic>
      <p:sp>
        <p:nvSpPr>
          <p:cNvPr id="33" name="Shape 28"/>
          <p:cNvSpPr/>
          <p:nvPr/>
        </p:nvSpPr>
        <p:spPr>
          <a:xfrm>
            <a:off x="6373368" y="3410712"/>
            <a:ext cx="2340864" cy="502920"/>
          </a:xfrm>
          <a:prstGeom prst="roundRect">
            <a:avLst>
              <a:gd name="adj" fmla="val 12727"/>
            </a:avLst>
          </a:prstGeom>
          <a:solidFill>
            <a:schemeClr val="bg2"/>
          </a:solidFill>
          <a:ln w="9525">
            <a:solidFill>
              <a:schemeClr val="tx1"/>
            </a:solidFill>
            <a:prstDash val="solid"/>
          </a:ln>
        </p:spPr>
      </p:sp>
      <p:sp>
        <p:nvSpPr>
          <p:cNvPr id="34" name="Text 29"/>
          <p:cNvSpPr txBox="1"/>
          <p:nvPr/>
        </p:nvSpPr>
        <p:spPr>
          <a:xfrm>
            <a:off x="6464808" y="3410712"/>
            <a:ext cx="2157984" cy="502920"/>
          </a:xfrm>
          <a:prstGeom prst="rect">
            <a:avLst/>
          </a:prstGeom>
          <a:noFill/>
          <a:ln/>
        </p:spPr>
        <p:txBody>
          <a:bodyPr wrap="square" lIns="0" tIns="0" rIns="0" bIns="0" rtlCol="0" anchor="ctr">
            <a:normAutofit/>
          </a:bodyPr>
          <a:lstStyle/>
          <a:p>
            <a:pPr indent="0" marL="0">
              <a:buNone/>
            </a:pPr>
            <a:r>
              <a:rPr lang="en-US" sz="1000" b="1" dirty="0">
                <a:solidFill>
                  <a:schemeClr val="tx1"/>
                </a:solidFill>
                <a:latin typeface="Calibri" pitchFamily="34" charset="0"/>
                <a:ea typeface="Calibri" pitchFamily="34" charset="-122"/>
                <a:cs typeface="Calibri" pitchFamily="34" charset="-120"/>
              </a:rPr>
              <a:t>Riesgo de sensible — Ley 19.628, art. 2 g</a:t>
            </a:r>
            <a:endParaRPr lang="en-US" sz="1000" dirty="0"/>
          </a:p>
        </p:txBody>
      </p:sp>
      <p:sp>
        <p:nvSpPr>
          <p:cNvPr id="35" name="Shape 30"/>
          <p:cNvSpPr/>
          <p:nvPr/>
        </p:nvSpPr>
        <p:spPr>
          <a:xfrm>
            <a:off x="6428232" y="3977640"/>
            <a:ext cx="2231136" cy="2148840"/>
          </a:xfrm>
          <a:prstGeom prst="rect">
            <a:avLst/>
          </a:prstGeom>
          <a:solidFill>
            <a:schemeClr val="bg2"/>
          </a:solidFill>
          <a:ln w="9525">
            <a:solidFill>
              <a:schemeClr val="tx1"/>
            </a:solidFill>
            <a:prstDash val="solid"/>
          </a:ln>
        </p:spPr>
      </p:sp>
      <p:sp>
        <p:nvSpPr>
          <p:cNvPr id="36" name="Text 31"/>
          <p:cNvSpPr txBox="1"/>
          <p:nvPr/>
        </p:nvSpPr>
        <p:spPr>
          <a:xfrm>
            <a:off x="6519672" y="4050792"/>
            <a:ext cx="2048256" cy="2020824"/>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Una compra aislada no revela nada; sumadas, podrían revelar la situación socioeconómica.</a:t>
            </a:r>
            <a:endParaRPr lang="en-US" sz="1400" dirty="0"/>
          </a:p>
          <a:p>
            <a:pPr indent="0" marL="0">
              <a:buNone/>
            </a:pPr>
            <a:r>
              <a:rPr lang="en-US" sz="1400" i="1" dirty="0">
                <a:solidFill>
                  <a:schemeClr val="tx2"/>
                </a:solidFill>
                <a:latin typeface="Calibri" pitchFamily="34" charset="0"/>
                <a:ea typeface="Calibri" pitchFamily="34" charset="-122"/>
                <a:cs typeface="Calibri" pitchFamily="34" charset="-120"/>
              </a:rPr>
              <a:t>No se perfilan y se tratan como alto riesgo.</a:t>
            </a:r>
            <a:endParaRPr lang="en-US" sz="1400" dirty="0"/>
          </a:p>
        </p:txBody>
      </p:sp>
      <p:sp>
        <p:nvSpPr>
          <p:cNvPr id="37" name="Shape 32"/>
          <p:cNvSpPr/>
          <p:nvPr/>
        </p:nvSpPr>
        <p:spPr>
          <a:xfrm>
            <a:off x="9052560" y="1508760"/>
            <a:ext cx="2651760" cy="4800600"/>
          </a:xfrm>
          <a:prstGeom prst="roundRect">
            <a:avLst>
              <a:gd name="adj" fmla="val 4138"/>
            </a:avLst>
          </a:prstGeom>
          <a:solidFill>
            <a:schemeClr val="tx1"/>
          </a:solidFill>
          <a:ln w="6350">
            <a:solidFill>
              <a:schemeClr val="tx1"/>
            </a:solidFill>
            <a:prstDash val="solid"/>
          </a:ln>
          <a:effectLst>
            <a:outerShdw sx="100000" sy="100000" kx="0" ky="0" algn="bl" rotWithShape="0" blurRad="101600" dist="38100" dir="5400000">
              <a:srgbClr val="000000">
                <a:alpha val="55000"/>
              </a:srgbClr>
            </a:outerShdw>
          </a:effectLst>
        </p:spPr>
      </p:sp>
      <p:sp>
        <p:nvSpPr>
          <p:cNvPr id="38" name="Shape 33"/>
          <p:cNvSpPr/>
          <p:nvPr/>
        </p:nvSpPr>
        <p:spPr>
          <a:xfrm>
            <a:off x="9116568" y="1572768"/>
            <a:ext cx="2523744" cy="4672584"/>
          </a:xfrm>
          <a:prstGeom prst="roundRect">
            <a:avLst>
              <a:gd name="adj" fmla="val 3623"/>
            </a:avLst>
          </a:prstGeom>
          <a:solidFill>
            <a:schemeClr val="accent2"/>
          </a:solidFill>
          <a:ln w="12700">
            <a:solidFill>
              <a:schemeClr val="accent2"/>
            </a:solidFill>
            <a:prstDash val="solid"/>
          </a:ln>
        </p:spPr>
      </p:sp>
      <p:sp>
        <p:nvSpPr>
          <p:cNvPr id="39" name="Shape 34"/>
          <p:cNvSpPr/>
          <p:nvPr/>
        </p:nvSpPr>
        <p:spPr>
          <a:xfrm>
            <a:off x="9208008" y="1664208"/>
            <a:ext cx="2340864" cy="384048"/>
          </a:xfrm>
          <a:prstGeom prst="roundRect">
            <a:avLst>
              <a:gd name="adj" fmla="val 19048"/>
            </a:avLst>
          </a:prstGeom>
          <a:solidFill>
            <a:schemeClr val="bg2"/>
          </a:solidFill>
          <a:ln w="9525">
            <a:solidFill>
              <a:schemeClr val="tx1"/>
            </a:solidFill>
            <a:prstDash val="solid"/>
          </a:ln>
        </p:spPr>
      </p:sp>
      <p:sp>
        <p:nvSpPr>
          <p:cNvPr id="40" name="Text 35"/>
          <p:cNvSpPr txBox="1"/>
          <p:nvPr/>
        </p:nvSpPr>
        <p:spPr>
          <a:xfrm>
            <a:off x="9299448" y="1664208"/>
            <a:ext cx="1911096" cy="384048"/>
          </a:xfrm>
          <a:prstGeom prst="rect">
            <a:avLst/>
          </a:prstGeom>
          <a:noFill/>
          <a:ln/>
        </p:spPr>
        <p:txBody>
          <a:bodyPr wrap="square" lIns="0" tIns="0" rIns="0" bIns="0" rtlCol="0" anchor="ctr">
            <a:normAutofit/>
          </a:bodyPr>
          <a:lstStyle/>
          <a:p>
            <a:pPr indent="0" marL="0">
              <a:buNone/>
            </a:pPr>
            <a:r>
              <a:rPr lang="en-US" sz="1500" b="1" dirty="0">
                <a:solidFill>
                  <a:schemeClr val="tx1"/>
                </a:solidFill>
                <a:latin typeface="Cambria" pitchFamily="34" charset="0"/>
                <a:ea typeface="Cambria" pitchFamily="34" charset="-122"/>
                <a:cs typeface="Cambria" pitchFamily="34" charset="-120"/>
              </a:rPr>
              <a:t>Fotogramas</a:t>
            </a:r>
            <a:endParaRPr lang="en-US" sz="1500" dirty="0"/>
          </a:p>
        </p:txBody>
      </p:sp>
      <p:sp>
        <p:nvSpPr>
          <p:cNvPr id="41" name="Shape 36"/>
          <p:cNvSpPr/>
          <p:nvPr/>
        </p:nvSpPr>
        <p:spPr>
          <a:xfrm>
            <a:off x="11228832" y="1741932"/>
            <a:ext cx="228600" cy="228600"/>
          </a:xfrm>
          <a:prstGeom prst="ellipse">
            <a:avLst/>
          </a:prstGeom>
          <a:solidFill>
            <a:schemeClr val="accent2"/>
          </a:solidFill>
          <a:ln w="9525">
            <a:solidFill>
              <a:schemeClr val="tx1"/>
            </a:solidFill>
            <a:prstDash val="solid"/>
          </a:ln>
        </p:spPr>
      </p:sp>
      <p:sp>
        <p:nvSpPr>
          <p:cNvPr id="42" name="Shape 37"/>
          <p:cNvSpPr/>
          <p:nvPr/>
        </p:nvSpPr>
        <p:spPr>
          <a:xfrm>
            <a:off x="9262872" y="2112264"/>
            <a:ext cx="2231136" cy="1234440"/>
          </a:xfrm>
          <a:prstGeom prst="rect">
            <a:avLst/>
          </a:prstGeom>
          <a:solidFill>
            <a:schemeClr val="tx1"/>
          </a:solidFill>
          <a:ln w="9525">
            <a:solidFill>
              <a:schemeClr val="tx1"/>
            </a:solidFill>
            <a:prstDash val="solid"/>
          </a:ln>
        </p:spPr>
      </p:sp>
      <p:pic>
        <p:nvPicPr>
          <p:cNvPr id="43" name="Image 3" descr="preencoded.png">    </p:cNvPr>
          <p:cNvPicPr>
            <a:picLocks noChangeAspect="1"/>
          </p:cNvPicPr>
          <p:nvPr/>
        </p:nvPicPr>
        <p:blipFill>
          <a:blip r:embed="rId4"/>
          <a:stretch>
            <a:fillRect/>
          </a:stretch>
        </p:blipFill>
        <p:spPr>
          <a:xfrm>
            <a:off x="9934042" y="2285086"/>
            <a:ext cx="888797" cy="888797"/>
          </a:xfrm>
          <a:prstGeom prst="rect">
            <a:avLst/>
          </a:prstGeom>
        </p:spPr>
      </p:pic>
      <p:sp>
        <p:nvSpPr>
          <p:cNvPr id="44" name="Shape 38"/>
          <p:cNvSpPr/>
          <p:nvPr/>
        </p:nvSpPr>
        <p:spPr>
          <a:xfrm>
            <a:off x="9208008" y="3410712"/>
            <a:ext cx="2340864" cy="502920"/>
          </a:xfrm>
          <a:prstGeom prst="roundRect">
            <a:avLst>
              <a:gd name="adj" fmla="val 12727"/>
            </a:avLst>
          </a:prstGeom>
          <a:solidFill>
            <a:schemeClr val="bg2"/>
          </a:solidFill>
          <a:ln w="9525">
            <a:solidFill>
              <a:schemeClr val="tx1"/>
            </a:solidFill>
            <a:prstDash val="solid"/>
          </a:ln>
        </p:spPr>
      </p:sp>
      <p:sp>
        <p:nvSpPr>
          <p:cNvPr id="45" name="Text 39"/>
          <p:cNvSpPr txBox="1"/>
          <p:nvPr/>
        </p:nvSpPr>
        <p:spPr>
          <a:xfrm>
            <a:off x="9299448" y="3410712"/>
            <a:ext cx="2157984" cy="502920"/>
          </a:xfrm>
          <a:prstGeom prst="rect">
            <a:avLst/>
          </a:prstGeom>
          <a:noFill/>
          <a:ln/>
        </p:spPr>
        <p:txBody>
          <a:bodyPr wrap="square" lIns="0" tIns="0" rIns="0" bIns="0" rtlCol="0" anchor="ctr">
            <a:normAutofit/>
          </a:bodyPr>
          <a:lstStyle/>
          <a:p>
            <a:pPr indent="0" marL="0">
              <a:buNone/>
            </a:pPr>
            <a:r>
              <a:rPr lang="en-US" sz="1000" b="1" dirty="0">
                <a:solidFill>
                  <a:schemeClr val="tx1"/>
                </a:solidFill>
                <a:latin typeface="Calibri" pitchFamily="34" charset="0"/>
                <a:ea typeface="Calibri" pitchFamily="34" charset="-122"/>
                <a:cs typeface="Calibri" pitchFamily="34" charset="-120"/>
              </a:rPr>
              <a:t>Personal, no biométrico — Ley 19.628, art. 16 ter</a:t>
            </a:r>
            <a:endParaRPr lang="en-US" sz="1000" dirty="0"/>
          </a:p>
        </p:txBody>
      </p:sp>
      <p:sp>
        <p:nvSpPr>
          <p:cNvPr id="46" name="Shape 40"/>
          <p:cNvSpPr/>
          <p:nvPr/>
        </p:nvSpPr>
        <p:spPr>
          <a:xfrm>
            <a:off x="9262872" y="3977640"/>
            <a:ext cx="2231136" cy="2148840"/>
          </a:xfrm>
          <a:prstGeom prst="rect">
            <a:avLst/>
          </a:prstGeom>
          <a:solidFill>
            <a:schemeClr val="bg2"/>
          </a:solidFill>
          <a:ln w="9525">
            <a:solidFill>
              <a:schemeClr val="tx1"/>
            </a:solidFill>
            <a:prstDash val="solid"/>
          </a:ln>
        </p:spPr>
      </p:sp>
      <p:sp>
        <p:nvSpPr>
          <p:cNvPr id="47" name="Text 41"/>
          <p:cNvSpPr txBox="1"/>
          <p:nvPr/>
        </p:nvSpPr>
        <p:spPr>
          <a:xfrm>
            <a:off x="9354312" y="4050792"/>
            <a:ext cx="2048256" cy="2020824"/>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Pueden captar manos o rostros, pero lo biométrico exige un tratamiento técnico que identifique a la persona.</a:t>
            </a:r>
            <a:endParaRPr lang="en-US" sz="1400" dirty="0"/>
          </a:p>
          <a:p>
            <a:pPr indent="0" marL="0">
              <a:buNone/>
            </a:pPr>
            <a:r>
              <a:rPr lang="en-US" sz="1400" i="1" dirty="0">
                <a:solidFill>
                  <a:schemeClr val="tx2"/>
                </a:solidFill>
                <a:latin typeface="Calibri" pitchFamily="34" charset="0"/>
                <a:ea typeface="Calibri" pitchFamily="34" charset="-122"/>
                <a:cs typeface="Calibri" pitchFamily="34" charset="-120"/>
              </a:rPr>
              <a:t>La IA solo reconoce cartas.</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ambria"/>
                <a:ea typeface="Cambria"/>
                <a:cs typeface="Camb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3000" b="1" dirty="0">
                <a:solidFill>
                  <a:schemeClr val="bg2"/>
                </a:solidFill>
                <a:latin typeface="Cambria" pitchFamily="34" charset="0"/>
                <a:ea typeface="Cambria" pitchFamily="34" charset="-122"/>
                <a:cs typeface="Cambria" pitchFamily="34" charset="-120"/>
              </a:rPr>
              <a:t>Finalidad y base de licitud por flujo</a:t>
            </a:r>
            <a:endParaRPr lang="en-US" sz="3000" dirty="0"/>
          </a:p>
        </p:txBody>
      </p:sp>
      <p:sp>
        <p:nvSpPr>
          <p:cNvPr id="3" name="Text 0"/>
          <p:cNvSpPr/>
          <p:nvPr>
            <p:ph idx="101" type="body" hasCustomPrompt="1"/>
          </p:nvPr>
        </p:nvSpPr>
        <p:spPr>
          <a:xfrm>
            <a:off x="548640" y="987552"/>
            <a:ext cx="11064240" cy="365760"/>
          </a:xfrm>
          <a:prstGeom prst="rect">
            <a:avLst/>
          </a:prstGeom>
          <a:noFill/>
          <a:ln/>
        </p:spPr>
        <p:txBody>
          <a:bodyPr wrap="square" lIns="0" tIns="0" rIns="0" bIns="0" rtlCol="0" anchor="t"/>
          <a:lstStyle/>
          <a:p>
            <a:pPr indent="0" marL="0">
              <a:buNone/>
            </a:pPr>
            <a:r>
              <a:rPr lang="en-US" sz="1400" i="1" dirty="0">
                <a:solidFill>
                  <a:schemeClr val="accent1"/>
                </a:solidFill>
                <a:latin typeface="Calibri" pitchFamily="34" charset="0"/>
                <a:ea typeface="Calibri" pitchFamily="34" charset="-122"/>
                <a:cs typeface="Calibri" pitchFamily="34" charset="-120"/>
              </a:rPr>
              <a:t>Contrato para lo indispensable; consentimiento solo para lo opcional (Ley 19.628, art. 12)</a:t>
            </a:r>
            <a:endParaRPr lang="en-US" sz="1400" dirty="0"/>
          </a:p>
        </p:txBody>
      </p:sp>
      <p:sp>
        <p:nvSpPr>
          <p:cNvPr id="4" name="Text 2"/>
          <p:cNvSpPr txBox="1"/>
          <p:nvPr/>
        </p:nvSpPr>
        <p:spPr>
          <a:xfrm>
            <a:off x="548640" y="1508760"/>
            <a:ext cx="1920240" cy="320040"/>
          </a:xfrm>
          <a:prstGeom prst="rect">
            <a:avLst/>
          </a:prstGeom>
          <a:noFill/>
          <a:ln/>
        </p:spPr>
        <p:txBody>
          <a:bodyPr wrap="square" lIns="0" tIns="0" rIns="0" bIns="0" rtlCol="0" anchor="t"/>
          <a:lstStyle/>
          <a:p>
            <a:pPr indent="0" marL="0">
              <a:buNone/>
            </a:pPr>
            <a:r>
              <a:rPr lang="en-US" sz="1300" b="1" dirty="0">
                <a:solidFill>
                  <a:schemeClr val="accent1"/>
                </a:solidFill>
                <a:latin typeface="Cambria" pitchFamily="34" charset="0"/>
                <a:ea typeface="Cambria" pitchFamily="34" charset="-122"/>
                <a:cs typeface="Cambria" pitchFamily="34" charset="-120"/>
              </a:rPr>
              <a:t>Flujo</a:t>
            </a:r>
            <a:endParaRPr lang="en-US" sz="1300" dirty="0"/>
          </a:p>
        </p:txBody>
      </p:sp>
      <p:sp>
        <p:nvSpPr>
          <p:cNvPr id="5" name="Text 3"/>
          <p:cNvSpPr txBox="1"/>
          <p:nvPr/>
        </p:nvSpPr>
        <p:spPr>
          <a:xfrm>
            <a:off x="2606040" y="1508760"/>
            <a:ext cx="2194560" cy="320040"/>
          </a:xfrm>
          <a:prstGeom prst="rect">
            <a:avLst/>
          </a:prstGeom>
          <a:noFill/>
          <a:ln/>
        </p:spPr>
        <p:txBody>
          <a:bodyPr wrap="square" lIns="0" tIns="0" rIns="0" bIns="0" rtlCol="0" anchor="t"/>
          <a:lstStyle/>
          <a:p>
            <a:pPr indent="0" marL="0">
              <a:buNone/>
            </a:pPr>
            <a:r>
              <a:rPr lang="en-US" sz="1300" b="1" dirty="0">
                <a:solidFill>
                  <a:schemeClr val="accent1"/>
                </a:solidFill>
                <a:latin typeface="Cambria" pitchFamily="34" charset="0"/>
                <a:ea typeface="Cambria" pitchFamily="34" charset="-122"/>
                <a:cs typeface="Cambria" pitchFamily="34" charset="-120"/>
              </a:rPr>
              <a:t>Finalidad</a:t>
            </a:r>
            <a:endParaRPr lang="en-US" sz="1300" dirty="0"/>
          </a:p>
        </p:txBody>
      </p:sp>
      <p:sp>
        <p:nvSpPr>
          <p:cNvPr id="6" name="Text 4"/>
          <p:cNvSpPr txBox="1"/>
          <p:nvPr/>
        </p:nvSpPr>
        <p:spPr>
          <a:xfrm>
            <a:off x="4937760" y="1508760"/>
            <a:ext cx="3063240" cy="320040"/>
          </a:xfrm>
          <a:prstGeom prst="rect">
            <a:avLst/>
          </a:prstGeom>
          <a:noFill/>
          <a:ln/>
        </p:spPr>
        <p:txBody>
          <a:bodyPr wrap="square" lIns="0" tIns="0" rIns="0" bIns="0" rtlCol="0" anchor="t"/>
          <a:lstStyle/>
          <a:p>
            <a:pPr indent="0" marL="0">
              <a:buNone/>
            </a:pPr>
            <a:r>
              <a:rPr lang="en-US" sz="1300" b="1" dirty="0">
                <a:solidFill>
                  <a:schemeClr val="accent1"/>
                </a:solidFill>
                <a:latin typeface="Cambria" pitchFamily="34" charset="0"/>
                <a:ea typeface="Cambria" pitchFamily="34" charset="-122"/>
                <a:cs typeface="Cambria" pitchFamily="34" charset="-120"/>
              </a:rPr>
              <a:t>Base de licitud</a:t>
            </a:r>
            <a:endParaRPr lang="en-US" sz="1300" dirty="0"/>
          </a:p>
        </p:txBody>
      </p:sp>
      <p:sp>
        <p:nvSpPr>
          <p:cNvPr id="7" name="Text 5"/>
          <p:cNvSpPr txBox="1"/>
          <p:nvPr/>
        </p:nvSpPr>
        <p:spPr>
          <a:xfrm>
            <a:off x="8138160" y="1508760"/>
            <a:ext cx="3520440" cy="320040"/>
          </a:xfrm>
          <a:prstGeom prst="rect">
            <a:avLst/>
          </a:prstGeom>
          <a:noFill/>
          <a:ln/>
        </p:spPr>
        <p:txBody>
          <a:bodyPr wrap="square" lIns="0" tIns="0" rIns="0" bIns="0" rtlCol="0" anchor="t"/>
          <a:lstStyle/>
          <a:p>
            <a:pPr indent="0" marL="0">
              <a:buNone/>
            </a:pPr>
            <a:r>
              <a:rPr lang="en-US" sz="1300" b="1" dirty="0">
                <a:solidFill>
                  <a:schemeClr val="accent1"/>
                </a:solidFill>
                <a:latin typeface="Cambria" pitchFamily="34" charset="0"/>
                <a:ea typeface="Cambria" pitchFamily="34" charset="-122"/>
                <a:cs typeface="Cambria" pitchFamily="34" charset="-120"/>
              </a:rPr>
              <a:t>Por qué esa base</a:t>
            </a:r>
            <a:endParaRPr lang="en-US" sz="1300" dirty="0"/>
          </a:p>
        </p:txBody>
      </p:sp>
      <p:sp>
        <p:nvSpPr>
          <p:cNvPr id="8" name="Shape 6"/>
          <p:cNvSpPr/>
          <p:nvPr/>
        </p:nvSpPr>
        <p:spPr>
          <a:xfrm>
            <a:off x="457200" y="1892808"/>
            <a:ext cx="11274552" cy="1024128"/>
          </a:xfrm>
          <a:prstGeom prst="roundRect">
            <a:avLst>
              <a:gd name="adj" fmla="val 7143"/>
            </a:avLst>
          </a:prstGeom>
          <a:solidFill>
            <a:schemeClr val="tx1"/>
          </a:solidFill>
          <a:ln w="6350">
            <a:solidFill>
              <a:schemeClr val="accent1"/>
            </a:solidFill>
            <a:prstDash val="solid"/>
          </a:ln>
        </p:spPr>
      </p:sp>
      <p:sp>
        <p:nvSpPr>
          <p:cNvPr id="9" name="Text 7"/>
          <p:cNvSpPr txBox="1"/>
          <p:nvPr/>
        </p:nvSpPr>
        <p:spPr>
          <a:xfrm>
            <a:off x="548640" y="1984248"/>
            <a:ext cx="1920240" cy="841248"/>
          </a:xfrm>
          <a:prstGeom prst="rect">
            <a:avLst/>
          </a:prstGeom>
          <a:noFill/>
          <a:ln/>
        </p:spPr>
        <p:txBody>
          <a:bodyPr wrap="square" lIns="0" tIns="0" rIns="0" bIns="0" rtlCol="0" anchor="ctr"/>
          <a:lstStyle/>
          <a:p>
            <a:pPr indent="0" marL="0">
              <a:buNone/>
            </a:pPr>
            <a:r>
              <a:rPr lang="en-US" sz="1300" b="1" dirty="0">
                <a:solidFill>
                  <a:schemeClr val="bg2"/>
                </a:solidFill>
                <a:latin typeface="Cambria" pitchFamily="34" charset="0"/>
                <a:ea typeface="Cambria" pitchFamily="34" charset="-122"/>
                <a:cs typeface="Cambria" pitchFamily="34" charset="-120"/>
              </a:rPr>
              <a:t>F1 Registro y autenticación</a:t>
            </a:r>
            <a:endParaRPr lang="en-US" sz="1300" dirty="0"/>
          </a:p>
        </p:txBody>
      </p:sp>
      <p:sp>
        <p:nvSpPr>
          <p:cNvPr id="10" name="Text 8"/>
          <p:cNvSpPr txBox="1"/>
          <p:nvPr/>
        </p:nvSpPr>
        <p:spPr>
          <a:xfrm>
            <a:off x="2606040" y="1984248"/>
            <a:ext cx="2194560" cy="841248"/>
          </a:xfrm>
          <a:prstGeom prst="rect">
            <a:avLst/>
          </a:prstGeom>
          <a:noFill/>
          <a:ln/>
        </p:spPr>
        <p:txBody>
          <a:bodyPr wrap="square" lIns="0" tIns="0" rIns="0" bIns="0" rtlCol="0" anchor="ctr"/>
          <a:lstStyle/>
          <a:p>
            <a:pPr indent="0" marL="0">
              <a:buNone/>
            </a:pPr>
            <a:r>
              <a:rPr lang="en-US" sz="1300" dirty="0">
                <a:solidFill>
                  <a:schemeClr val="bg2"/>
                </a:solidFill>
                <a:latin typeface="Calibri" pitchFamily="34" charset="0"/>
                <a:ea typeface="Calibri" pitchFamily="34" charset="-122"/>
                <a:cs typeface="Calibri" pitchFamily="34" charset="-120"/>
              </a:rPr>
              <a:t>Crear y proteger la cuenta</a:t>
            </a:r>
            <a:endParaRPr lang="en-US" sz="1300" dirty="0"/>
          </a:p>
        </p:txBody>
      </p:sp>
      <p:sp>
        <p:nvSpPr>
          <p:cNvPr id="11" name="Shape 9"/>
          <p:cNvSpPr/>
          <p:nvPr/>
        </p:nvSpPr>
        <p:spPr>
          <a:xfrm>
            <a:off x="4937760" y="2075688"/>
            <a:ext cx="219456" cy="219456"/>
          </a:xfrm>
          <a:prstGeom prst="ellipse">
            <a:avLst/>
          </a:prstGeom>
          <a:solidFill>
            <a:schemeClr val="accent2"/>
          </a:solidFill>
          <a:ln w="9525">
            <a:solidFill>
              <a:schemeClr val="tx1"/>
            </a:solidFill>
            <a:prstDash val="solid"/>
          </a:ln>
        </p:spPr>
      </p:sp>
      <p:sp>
        <p:nvSpPr>
          <p:cNvPr id="12" name="Text 10"/>
          <p:cNvSpPr txBox="1"/>
          <p:nvPr/>
        </p:nvSpPr>
        <p:spPr>
          <a:xfrm>
            <a:off x="5248656" y="1965960"/>
            <a:ext cx="2752344" cy="438912"/>
          </a:xfrm>
          <a:prstGeom prst="rect">
            <a:avLst/>
          </a:prstGeom>
          <a:noFill/>
          <a:ln/>
        </p:spPr>
        <p:txBody>
          <a:bodyPr wrap="square" lIns="0" tIns="0" rIns="0" bIns="0" rtlCol="0" anchor="ctr"/>
          <a:lstStyle/>
          <a:p>
            <a:pPr indent="0" marL="0">
              <a:buNone/>
            </a:pPr>
            <a:r>
              <a:rPr lang="en-US" sz="1200" dirty="0">
                <a:solidFill>
                  <a:schemeClr val="bg2"/>
                </a:solidFill>
                <a:latin typeface="Calibri" pitchFamily="34" charset="0"/>
                <a:ea typeface="Calibri" pitchFamily="34" charset="-122"/>
                <a:cs typeface="Calibri" pitchFamily="34" charset="-120"/>
              </a:rPr>
              <a:t>Contrato (Ley 19.628, art. 13 c)</a:t>
            </a:r>
            <a:endParaRPr lang="en-US" sz="1200" dirty="0"/>
          </a:p>
        </p:txBody>
      </p:sp>
      <p:sp>
        <p:nvSpPr>
          <p:cNvPr id="13" name="Shape 11"/>
          <p:cNvSpPr/>
          <p:nvPr/>
        </p:nvSpPr>
        <p:spPr>
          <a:xfrm>
            <a:off x="4937760" y="2514600"/>
            <a:ext cx="219456" cy="219456"/>
          </a:xfrm>
          <a:prstGeom prst="ellipse">
            <a:avLst/>
          </a:prstGeom>
          <a:solidFill>
            <a:schemeClr val="accent3"/>
          </a:solidFill>
          <a:ln w="9525">
            <a:solidFill>
              <a:schemeClr val="tx1"/>
            </a:solidFill>
            <a:prstDash val="solid"/>
          </a:ln>
        </p:spPr>
      </p:sp>
      <p:sp>
        <p:nvSpPr>
          <p:cNvPr id="14" name="Text 12"/>
          <p:cNvSpPr txBox="1"/>
          <p:nvPr/>
        </p:nvSpPr>
        <p:spPr>
          <a:xfrm>
            <a:off x="5248656" y="2404872"/>
            <a:ext cx="2752344" cy="438912"/>
          </a:xfrm>
          <a:prstGeom prst="rect">
            <a:avLst/>
          </a:prstGeom>
          <a:noFill/>
          <a:ln/>
        </p:spPr>
        <p:txBody>
          <a:bodyPr wrap="square" lIns="0" tIns="0" rIns="0" bIns="0" rtlCol="0" anchor="ctr"/>
          <a:lstStyle/>
          <a:p>
            <a:pPr indent="0" marL="0">
              <a:buNone/>
            </a:pPr>
            <a:r>
              <a:rPr lang="en-US" sz="1200" dirty="0">
                <a:solidFill>
                  <a:schemeClr val="bg2"/>
                </a:solidFill>
                <a:latin typeface="Calibri" pitchFamily="34" charset="0"/>
                <a:ea typeface="Calibri" pitchFamily="34" charset="-122"/>
                <a:cs typeface="Calibri" pitchFamily="34" charset="-120"/>
              </a:rPr>
              <a:t>2FA: consentimiento (Ley 19.628, art. 12)</a:t>
            </a:r>
            <a:endParaRPr lang="en-US" sz="1200" dirty="0"/>
          </a:p>
        </p:txBody>
      </p:sp>
      <p:sp>
        <p:nvSpPr>
          <p:cNvPr id="15" name="Text 13"/>
          <p:cNvSpPr txBox="1"/>
          <p:nvPr/>
        </p:nvSpPr>
        <p:spPr>
          <a:xfrm>
            <a:off x="8138160" y="1965960"/>
            <a:ext cx="3520440" cy="877824"/>
          </a:xfrm>
          <a:prstGeom prst="rect">
            <a:avLst/>
          </a:prstGeom>
          <a:noFill/>
          <a:ln/>
        </p:spPr>
        <p:txBody>
          <a:bodyPr wrap="square" lIns="0" tIns="0" rIns="0" bIns="0" rtlCol="0" anchor="ctr"/>
          <a:lstStyle/>
          <a:p>
            <a:pPr indent="0" marL="0">
              <a:buNone/>
            </a:pPr>
            <a:r>
              <a:rPr lang="en-US" sz="1200" dirty="0">
                <a:solidFill>
                  <a:schemeClr val="bg2"/>
                </a:solidFill>
                <a:latin typeface="Calibri" pitchFamily="34" charset="0"/>
                <a:ea typeface="Calibri" pitchFamily="34" charset="-122"/>
                <a:cs typeface="Calibri" pitchFamily="34" charset="-120"/>
              </a:rPr>
              <a:t>Sin correo, contraseña y tokens no existe la cuenta pedida. El 2FA es opcional y se revoca desactivándolo, lo que borra el secreto.</a:t>
            </a:r>
            <a:endParaRPr lang="en-US" sz="1200" dirty="0"/>
          </a:p>
        </p:txBody>
      </p:sp>
      <p:sp>
        <p:nvSpPr>
          <p:cNvPr id="16" name="Shape 14"/>
          <p:cNvSpPr/>
          <p:nvPr/>
        </p:nvSpPr>
        <p:spPr>
          <a:xfrm>
            <a:off x="457200" y="2990088"/>
            <a:ext cx="11274552" cy="1024128"/>
          </a:xfrm>
          <a:prstGeom prst="roundRect">
            <a:avLst>
              <a:gd name="adj" fmla="val 7143"/>
            </a:avLst>
          </a:prstGeom>
          <a:solidFill>
            <a:schemeClr val="tx2"/>
          </a:solidFill>
          <a:ln w="6350">
            <a:solidFill>
              <a:schemeClr val="accent1"/>
            </a:solidFill>
            <a:prstDash val="solid"/>
          </a:ln>
        </p:spPr>
      </p:sp>
      <p:sp>
        <p:nvSpPr>
          <p:cNvPr id="17" name="Text 15"/>
          <p:cNvSpPr txBox="1"/>
          <p:nvPr/>
        </p:nvSpPr>
        <p:spPr>
          <a:xfrm>
            <a:off x="548640" y="3081528"/>
            <a:ext cx="1920240" cy="841248"/>
          </a:xfrm>
          <a:prstGeom prst="rect">
            <a:avLst/>
          </a:prstGeom>
          <a:noFill/>
          <a:ln/>
        </p:spPr>
        <p:txBody>
          <a:bodyPr wrap="square" lIns="0" tIns="0" rIns="0" bIns="0" rtlCol="0" anchor="ctr"/>
          <a:lstStyle/>
          <a:p>
            <a:pPr indent="0" marL="0">
              <a:buNone/>
            </a:pPr>
            <a:r>
              <a:rPr lang="en-US" sz="1300" b="1" dirty="0">
                <a:solidFill>
                  <a:schemeClr val="bg2"/>
                </a:solidFill>
                <a:latin typeface="Cambria" pitchFamily="34" charset="0"/>
                <a:ea typeface="Cambria" pitchFamily="34" charset="-122"/>
                <a:cs typeface="Cambria" pitchFamily="34" charset="-120"/>
              </a:rPr>
              <a:t>F2 Escaneo y publicación</a:t>
            </a:r>
            <a:endParaRPr lang="en-US" sz="1300" dirty="0"/>
          </a:p>
        </p:txBody>
      </p:sp>
      <p:sp>
        <p:nvSpPr>
          <p:cNvPr id="18" name="Text 16"/>
          <p:cNvSpPr txBox="1"/>
          <p:nvPr/>
        </p:nvSpPr>
        <p:spPr>
          <a:xfrm>
            <a:off x="2606040" y="3081528"/>
            <a:ext cx="2194560" cy="841248"/>
          </a:xfrm>
          <a:prstGeom prst="rect">
            <a:avLst/>
          </a:prstGeom>
          <a:noFill/>
          <a:ln/>
        </p:spPr>
        <p:txBody>
          <a:bodyPr wrap="square" lIns="0" tIns="0" rIns="0" bIns="0" rtlCol="0" anchor="ctr"/>
          <a:lstStyle/>
          <a:p>
            <a:pPr indent="0" marL="0">
              <a:buNone/>
            </a:pPr>
            <a:r>
              <a:rPr lang="en-US" sz="1300" dirty="0">
                <a:solidFill>
                  <a:schemeClr val="bg2"/>
                </a:solidFill>
                <a:latin typeface="Calibri" pitchFamily="34" charset="0"/>
                <a:ea typeface="Calibri" pitchFamily="34" charset="-122"/>
                <a:cs typeface="Calibri" pitchFamily="34" charset="-120"/>
              </a:rPr>
              <a:t>Identificar la carta y publicarla</a:t>
            </a:r>
            <a:endParaRPr lang="en-US" sz="1300" dirty="0"/>
          </a:p>
        </p:txBody>
      </p:sp>
      <p:sp>
        <p:nvSpPr>
          <p:cNvPr id="19" name="Shape 17"/>
          <p:cNvSpPr/>
          <p:nvPr/>
        </p:nvSpPr>
        <p:spPr>
          <a:xfrm>
            <a:off x="4937760" y="3172968"/>
            <a:ext cx="219456" cy="219456"/>
          </a:xfrm>
          <a:prstGeom prst="ellipse">
            <a:avLst/>
          </a:prstGeom>
          <a:solidFill>
            <a:schemeClr val="accent1"/>
          </a:solidFill>
          <a:ln w="9525">
            <a:solidFill>
              <a:schemeClr val="tx1"/>
            </a:solidFill>
            <a:prstDash val="solid"/>
          </a:ln>
        </p:spPr>
      </p:sp>
      <p:sp>
        <p:nvSpPr>
          <p:cNvPr id="20" name="Text 18"/>
          <p:cNvSpPr txBox="1"/>
          <p:nvPr/>
        </p:nvSpPr>
        <p:spPr>
          <a:xfrm>
            <a:off x="5248656" y="3063240"/>
            <a:ext cx="2752344" cy="438912"/>
          </a:xfrm>
          <a:prstGeom prst="rect">
            <a:avLst/>
          </a:prstGeom>
          <a:noFill/>
          <a:ln/>
        </p:spPr>
        <p:txBody>
          <a:bodyPr wrap="square" lIns="0" tIns="0" rIns="0" bIns="0" rtlCol="0" anchor="ctr"/>
          <a:lstStyle/>
          <a:p>
            <a:pPr indent="0" marL="0">
              <a:buNone/>
            </a:pPr>
            <a:r>
              <a:rPr lang="en-US" sz="1200" dirty="0">
                <a:solidFill>
                  <a:schemeClr val="bg2"/>
                </a:solidFill>
                <a:latin typeface="Calibri" pitchFamily="34" charset="0"/>
                <a:ea typeface="Calibri" pitchFamily="34" charset="-122"/>
                <a:cs typeface="Calibri" pitchFamily="34" charset="-120"/>
              </a:rPr>
              <a:t>Fotogramas: no hay tratamiento (Ley 19.628, art. 2 o)</a:t>
            </a:r>
            <a:endParaRPr lang="en-US" sz="1200" dirty="0"/>
          </a:p>
        </p:txBody>
      </p:sp>
      <p:sp>
        <p:nvSpPr>
          <p:cNvPr id="21" name="Shape 19"/>
          <p:cNvSpPr/>
          <p:nvPr/>
        </p:nvSpPr>
        <p:spPr>
          <a:xfrm>
            <a:off x="4937760" y="3611880"/>
            <a:ext cx="219456" cy="219456"/>
          </a:xfrm>
          <a:prstGeom prst="ellipse">
            <a:avLst/>
          </a:prstGeom>
          <a:solidFill>
            <a:schemeClr val="accent2"/>
          </a:solidFill>
          <a:ln w="9525">
            <a:solidFill>
              <a:schemeClr val="tx1"/>
            </a:solidFill>
            <a:prstDash val="solid"/>
          </a:ln>
        </p:spPr>
      </p:sp>
      <p:sp>
        <p:nvSpPr>
          <p:cNvPr id="22" name="Text 20"/>
          <p:cNvSpPr txBox="1"/>
          <p:nvPr/>
        </p:nvSpPr>
        <p:spPr>
          <a:xfrm>
            <a:off x="5248656" y="3502152"/>
            <a:ext cx="2752344" cy="438912"/>
          </a:xfrm>
          <a:prstGeom prst="rect">
            <a:avLst/>
          </a:prstGeom>
          <a:noFill/>
          <a:ln/>
        </p:spPr>
        <p:txBody>
          <a:bodyPr wrap="square" lIns="0" tIns="0" rIns="0" bIns="0" rtlCol="0" anchor="ctr"/>
          <a:lstStyle/>
          <a:p>
            <a:pPr indent="0" marL="0">
              <a:buNone/>
            </a:pPr>
            <a:r>
              <a:rPr lang="en-US" sz="1200" dirty="0">
                <a:solidFill>
                  <a:schemeClr val="bg2"/>
                </a:solidFill>
                <a:latin typeface="Calibri" pitchFamily="34" charset="0"/>
                <a:ea typeface="Calibri" pitchFamily="34" charset="-122"/>
                <a:cs typeface="Calibri" pitchFamily="34" charset="-120"/>
              </a:rPr>
              <a:t>Foto publicada: contrato (Ley 19.628, art. 13 c)</a:t>
            </a:r>
            <a:endParaRPr lang="en-US" sz="1200" dirty="0"/>
          </a:p>
        </p:txBody>
      </p:sp>
      <p:sp>
        <p:nvSpPr>
          <p:cNvPr id="23" name="Text 21"/>
          <p:cNvSpPr txBox="1"/>
          <p:nvPr/>
        </p:nvSpPr>
        <p:spPr>
          <a:xfrm>
            <a:off x="8138160" y="3063240"/>
            <a:ext cx="3520440" cy="877824"/>
          </a:xfrm>
          <a:prstGeom prst="rect">
            <a:avLst/>
          </a:prstGeom>
          <a:noFill/>
          <a:ln/>
        </p:spPr>
        <p:txBody>
          <a:bodyPr wrap="square" lIns="0" tIns="0" rIns="0" bIns="0" rtlCol="0" anchor="ctr"/>
          <a:lstStyle/>
          <a:p>
            <a:pPr indent="0" marL="0">
              <a:buNone/>
            </a:pPr>
            <a:r>
              <a:rPr lang="en-US" sz="1200" dirty="0">
                <a:solidFill>
                  <a:schemeClr val="bg2"/>
                </a:solidFill>
                <a:latin typeface="Calibri" pitchFamily="34" charset="0"/>
                <a:ea typeface="Calibri" pitchFamily="34" charset="-122"/>
                <a:cs typeface="Calibri" pitchFamily="34" charset="-120"/>
              </a:rPr>
              <a:t>Los fotogramas se procesan y descartan en el teléfono: el responsable no los recibe. Publicar es el servicio pedido.</a:t>
            </a:r>
            <a:endParaRPr lang="en-US" sz="1200" dirty="0"/>
          </a:p>
        </p:txBody>
      </p:sp>
      <p:sp>
        <p:nvSpPr>
          <p:cNvPr id="24" name="Shape 22"/>
          <p:cNvSpPr/>
          <p:nvPr/>
        </p:nvSpPr>
        <p:spPr>
          <a:xfrm>
            <a:off x="457200" y="4087368"/>
            <a:ext cx="11274552" cy="1024128"/>
          </a:xfrm>
          <a:prstGeom prst="roundRect">
            <a:avLst>
              <a:gd name="adj" fmla="val 7143"/>
            </a:avLst>
          </a:prstGeom>
          <a:solidFill>
            <a:schemeClr val="tx1"/>
          </a:solidFill>
          <a:ln w="6350">
            <a:solidFill>
              <a:schemeClr val="accent1"/>
            </a:solidFill>
            <a:prstDash val="solid"/>
          </a:ln>
        </p:spPr>
      </p:sp>
      <p:sp>
        <p:nvSpPr>
          <p:cNvPr id="25" name="Text 23"/>
          <p:cNvSpPr txBox="1"/>
          <p:nvPr/>
        </p:nvSpPr>
        <p:spPr>
          <a:xfrm>
            <a:off x="548640" y="4178808"/>
            <a:ext cx="1920240" cy="841248"/>
          </a:xfrm>
          <a:prstGeom prst="rect">
            <a:avLst/>
          </a:prstGeom>
          <a:noFill/>
          <a:ln/>
        </p:spPr>
        <p:txBody>
          <a:bodyPr wrap="square" lIns="0" tIns="0" rIns="0" bIns="0" rtlCol="0" anchor="ctr"/>
          <a:lstStyle/>
          <a:p>
            <a:pPr indent="0" marL="0">
              <a:buNone/>
            </a:pPr>
            <a:r>
              <a:rPr lang="en-US" sz="1300" b="1" dirty="0">
                <a:solidFill>
                  <a:schemeClr val="bg2"/>
                </a:solidFill>
                <a:latin typeface="Cambria" pitchFamily="34" charset="0"/>
                <a:ea typeface="Cambria" pitchFamily="34" charset="-122"/>
                <a:cs typeface="Cambria" pitchFamily="34" charset="-120"/>
              </a:rPr>
              <a:t>F3 Búsqueda con ubicación</a:t>
            </a:r>
            <a:endParaRPr lang="en-US" sz="1300" dirty="0"/>
          </a:p>
        </p:txBody>
      </p:sp>
      <p:sp>
        <p:nvSpPr>
          <p:cNvPr id="26" name="Text 24"/>
          <p:cNvSpPr txBox="1"/>
          <p:nvPr/>
        </p:nvSpPr>
        <p:spPr>
          <a:xfrm>
            <a:off x="2606040" y="4178808"/>
            <a:ext cx="2194560" cy="841248"/>
          </a:xfrm>
          <a:prstGeom prst="rect">
            <a:avLst/>
          </a:prstGeom>
          <a:noFill/>
          <a:ln/>
        </p:spPr>
        <p:txBody>
          <a:bodyPr wrap="square" lIns="0" tIns="0" rIns="0" bIns="0" rtlCol="0" anchor="ctr"/>
          <a:lstStyle/>
          <a:p>
            <a:pPr indent="0" marL="0">
              <a:buNone/>
            </a:pPr>
            <a:r>
              <a:rPr lang="en-US" sz="1300" dirty="0">
                <a:solidFill>
                  <a:schemeClr val="bg2"/>
                </a:solidFill>
                <a:latin typeface="Calibri" pitchFamily="34" charset="0"/>
                <a:ea typeface="Calibri" pitchFamily="34" charset="-122"/>
                <a:cs typeface="Calibri" pitchFamily="34" charset="-120"/>
              </a:rPr>
              <a:t>Mostrar la distancia al vendedor</a:t>
            </a:r>
            <a:endParaRPr lang="en-US" sz="1300" dirty="0"/>
          </a:p>
        </p:txBody>
      </p:sp>
      <p:sp>
        <p:nvSpPr>
          <p:cNvPr id="27" name="Shape 25"/>
          <p:cNvSpPr/>
          <p:nvPr/>
        </p:nvSpPr>
        <p:spPr>
          <a:xfrm>
            <a:off x="4937760" y="4489704"/>
            <a:ext cx="219456" cy="219456"/>
          </a:xfrm>
          <a:prstGeom prst="ellipse">
            <a:avLst/>
          </a:prstGeom>
          <a:solidFill>
            <a:schemeClr val="accent3"/>
          </a:solidFill>
          <a:ln w="9525">
            <a:solidFill>
              <a:schemeClr val="tx1"/>
            </a:solidFill>
            <a:prstDash val="solid"/>
          </a:ln>
        </p:spPr>
      </p:sp>
      <p:sp>
        <p:nvSpPr>
          <p:cNvPr id="28" name="Text 26"/>
          <p:cNvSpPr txBox="1"/>
          <p:nvPr/>
        </p:nvSpPr>
        <p:spPr>
          <a:xfrm>
            <a:off x="5248656" y="4160520"/>
            <a:ext cx="2752344" cy="877824"/>
          </a:xfrm>
          <a:prstGeom prst="rect">
            <a:avLst/>
          </a:prstGeom>
          <a:noFill/>
          <a:ln/>
        </p:spPr>
        <p:txBody>
          <a:bodyPr wrap="square" lIns="0" tIns="0" rIns="0" bIns="0" rtlCol="0" anchor="ctr"/>
          <a:lstStyle/>
          <a:p>
            <a:pPr indent="0" marL="0">
              <a:buNone/>
            </a:pPr>
            <a:r>
              <a:rPr lang="en-US" sz="1200" dirty="0">
                <a:solidFill>
                  <a:schemeClr val="bg2"/>
                </a:solidFill>
                <a:latin typeface="Calibri" pitchFamily="34" charset="0"/>
                <a:ea typeface="Calibri" pitchFamily="34" charset="-122"/>
                <a:cs typeface="Calibri" pitchFamily="34" charset="-120"/>
              </a:rPr>
              <a:t>Consentimiento (Ley 19.628, arts. 12 y 16 sexies)</a:t>
            </a:r>
            <a:endParaRPr lang="en-US" sz="1200" dirty="0"/>
          </a:p>
        </p:txBody>
      </p:sp>
      <p:sp>
        <p:nvSpPr>
          <p:cNvPr id="29" name="Text 27"/>
          <p:cNvSpPr txBox="1"/>
          <p:nvPr/>
        </p:nvSpPr>
        <p:spPr>
          <a:xfrm>
            <a:off x="8138160" y="4160520"/>
            <a:ext cx="3520440" cy="877824"/>
          </a:xfrm>
          <a:prstGeom prst="rect">
            <a:avLst/>
          </a:prstGeom>
          <a:noFill/>
          <a:ln/>
        </p:spPr>
        <p:txBody>
          <a:bodyPr wrap="square" lIns="0" tIns="0" rIns="0" bIns="0" rtlCol="0" anchor="ctr"/>
          <a:lstStyle/>
          <a:p>
            <a:pPr indent="0" marL="0">
              <a:buNone/>
            </a:pPr>
            <a:r>
              <a:rPr lang="en-US" sz="1200" dirty="0">
                <a:solidFill>
                  <a:schemeClr val="bg2"/>
                </a:solidFill>
                <a:latin typeface="Calibri" pitchFamily="34" charset="0"/>
                <a:ea typeface="Calibri" pitchFamily="34" charset="-122"/>
                <a:cs typeface="Calibri" pitchFamily="34" charset="-120"/>
              </a:rPr>
              <a:t>La búsqueda funciona sin ubicación: exigirla haría el consentimiento no libre. Debe ser informado y revocable.</a:t>
            </a:r>
            <a:endParaRPr lang="en-US" sz="1200" dirty="0"/>
          </a:p>
        </p:txBody>
      </p:sp>
      <p:sp>
        <p:nvSpPr>
          <p:cNvPr id="30" name="Shape 28"/>
          <p:cNvSpPr/>
          <p:nvPr/>
        </p:nvSpPr>
        <p:spPr>
          <a:xfrm>
            <a:off x="457200" y="5184648"/>
            <a:ext cx="11274552" cy="1024128"/>
          </a:xfrm>
          <a:prstGeom prst="roundRect">
            <a:avLst>
              <a:gd name="adj" fmla="val 7143"/>
            </a:avLst>
          </a:prstGeom>
          <a:solidFill>
            <a:schemeClr val="tx2"/>
          </a:solidFill>
          <a:ln w="6350">
            <a:solidFill>
              <a:schemeClr val="accent1"/>
            </a:solidFill>
            <a:prstDash val="solid"/>
          </a:ln>
        </p:spPr>
      </p:sp>
      <p:sp>
        <p:nvSpPr>
          <p:cNvPr id="31" name="Text 29"/>
          <p:cNvSpPr txBox="1"/>
          <p:nvPr/>
        </p:nvSpPr>
        <p:spPr>
          <a:xfrm>
            <a:off x="548640" y="5276088"/>
            <a:ext cx="1920240" cy="841248"/>
          </a:xfrm>
          <a:prstGeom prst="rect">
            <a:avLst/>
          </a:prstGeom>
          <a:noFill/>
          <a:ln/>
        </p:spPr>
        <p:txBody>
          <a:bodyPr wrap="square" lIns="0" tIns="0" rIns="0" bIns="0" rtlCol="0" anchor="ctr"/>
          <a:lstStyle/>
          <a:p>
            <a:pPr indent="0" marL="0">
              <a:buNone/>
            </a:pPr>
            <a:r>
              <a:rPr lang="en-US" sz="1300" b="1" dirty="0">
                <a:solidFill>
                  <a:schemeClr val="bg2"/>
                </a:solidFill>
                <a:latin typeface="Cambria" pitchFamily="34" charset="0"/>
                <a:ea typeface="Cambria" pitchFamily="34" charset="-122"/>
                <a:cs typeface="Cambria" pitchFamily="34" charset="-120"/>
              </a:rPr>
              <a:t>F4 Compraventa y pago</a:t>
            </a:r>
            <a:endParaRPr lang="en-US" sz="1300" dirty="0"/>
          </a:p>
        </p:txBody>
      </p:sp>
      <p:sp>
        <p:nvSpPr>
          <p:cNvPr id="32" name="Text 30"/>
          <p:cNvSpPr txBox="1"/>
          <p:nvPr/>
        </p:nvSpPr>
        <p:spPr>
          <a:xfrm>
            <a:off x="2606040" y="5276088"/>
            <a:ext cx="2194560" cy="841248"/>
          </a:xfrm>
          <a:prstGeom prst="rect">
            <a:avLst/>
          </a:prstGeom>
          <a:noFill/>
          <a:ln/>
        </p:spPr>
        <p:txBody>
          <a:bodyPr wrap="square" lIns="0" tIns="0" rIns="0" bIns="0" rtlCol="0" anchor="ctr"/>
          <a:lstStyle/>
          <a:p>
            <a:pPr indent="0" marL="0">
              <a:buNone/>
            </a:pPr>
            <a:r>
              <a:rPr lang="en-US" sz="1300" dirty="0">
                <a:solidFill>
                  <a:schemeClr val="bg2"/>
                </a:solidFill>
                <a:latin typeface="Calibri" pitchFamily="34" charset="0"/>
                <a:ea typeface="Calibri" pitchFamily="34" charset="-122"/>
                <a:cs typeface="Calibri" pitchFamily="34" charset="-120"/>
              </a:rPr>
              <a:t>Cobrar y dejar respaldo</a:t>
            </a:r>
            <a:endParaRPr lang="en-US" sz="1300" dirty="0"/>
          </a:p>
        </p:txBody>
      </p:sp>
      <p:sp>
        <p:nvSpPr>
          <p:cNvPr id="33" name="Shape 31"/>
          <p:cNvSpPr/>
          <p:nvPr/>
        </p:nvSpPr>
        <p:spPr>
          <a:xfrm>
            <a:off x="4937760" y="5367528"/>
            <a:ext cx="219456" cy="219456"/>
          </a:xfrm>
          <a:prstGeom prst="ellipse">
            <a:avLst/>
          </a:prstGeom>
          <a:solidFill>
            <a:schemeClr val="accent2"/>
          </a:solidFill>
          <a:ln w="9525">
            <a:solidFill>
              <a:schemeClr val="tx1"/>
            </a:solidFill>
            <a:prstDash val="solid"/>
          </a:ln>
        </p:spPr>
      </p:sp>
      <p:sp>
        <p:nvSpPr>
          <p:cNvPr id="34" name="Text 32"/>
          <p:cNvSpPr txBox="1"/>
          <p:nvPr/>
        </p:nvSpPr>
        <p:spPr>
          <a:xfrm>
            <a:off x="5248656" y="5257800"/>
            <a:ext cx="2752344" cy="438912"/>
          </a:xfrm>
          <a:prstGeom prst="rect">
            <a:avLst/>
          </a:prstGeom>
          <a:noFill/>
          <a:ln/>
        </p:spPr>
        <p:txBody>
          <a:bodyPr wrap="square" lIns="0" tIns="0" rIns="0" bIns="0" rtlCol="0" anchor="ctr"/>
          <a:lstStyle/>
          <a:p>
            <a:pPr indent="0" marL="0">
              <a:buNone/>
            </a:pPr>
            <a:r>
              <a:rPr lang="en-US" sz="1200" dirty="0">
                <a:solidFill>
                  <a:schemeClr val="bg2"/>
                </a:solidFill>
                <a:latin typeface="Calibri" pitchFamily="34" charset="0"/>
                <a:ea typeface="Calibri" pitchFamily="34" charset="-122"/>
                <a:cs typeface="Calibri" pitchFamily="34" charset="-120"/>
              </a:rPr>
              <a:t>Contrato (Ley 19.628, art. 13 c)</a:t>
            </a:r>
            <a:endParaRPr lang="en-US" sz="1200" dirty="0"/>
          </a:p>
        </p:txBody>
      </p:sp>
      <p:sp>
        <p:nvSpPr>
          <p:cNvPr id="35" name="Shape 33"/>
          <p:cNvSpPr/>
          <p:nvPr/>
        </p:nvSpPr>
        <p:spPr>
          <a:xfrm>
            <a:off x="4937760" y="5806440"/>
            <a:ext cx="219456" cy="219456"/>
          </a:xfrm>
          <a:prstGeom prst="ellipse">
            <a:avLst/>
          </a:prstGeom>
          <a:solidFill>
            <a:schemeClr val="accent5"/>
          </a:solidFill>
          <a:ln w="9525">
            <a:solidFill>
              <a:schemeClr val="tx1"/>
            </a:solidFill>
            <a:prstDash val="solid"/>
          </a:ln>
        </p:spPr>
      </p:sp>
      <p:sp>
        <p:nvSpPr>
          <p:cNvPr id="36" name="Text 34"/>
          <p:cNvSpPr txBox="1"/>
          <p:nvPr/>
        </p:nvSpPr>
        <p:spPr>
          <a:xfrm>
            <a:off x="5248656" y="5696712"/>
            <a:ext cx="2752344" cy="438912"/>
          </a:xfrm>
          <a:prstGeom prst="rect">
            <a:avLst/>
          </a:prstGeom>
          <a:noFill/>
          <a:ln/>
        </p:spPr>
        <p:txBody>
          <a:bodyPr wrap="square" lIns="0" tIns="0" rIns="0" bIns="0" rtlCol="0" anchor="ctr"/>
          <a:lstStyle/>
          <a:p>
            <a:pPr indent="0" marL="0">
              <a:buNone/>
            </a:pPr>
            <a:r>
              <a:rPr lang="en-US" sz="1200" dirty="0">
                <a:solidFill>
                  <a:schemeClr val="bg2"/>
                </a:solidFill>
                <a:latin typeface="Calibri" pitchFamily="34" charset="0"/>
                <a:ea typeface="Calibri" pitchFamily="34" charset="-122"/>
                <a:cs typeface="Calibri" pitchFamily="34" charset="-120"/>
              </a:rPr>
              <a:t>Obligación legal a confirmar (Ley 19.628, art. 13 b; DL 830, arts. 17 y 200)</a:t>
            </a:r>
            <a:endParaRPr lang="en-US" sz="1200" dirty="0"/>
          </a:p>
        </p:txBody>
      </p:sp>
      <p:sp>
        <p:nvSpPr>
          <p:cNvPr id="37" name="Text 35"/>
          <p:cNvSpPr txBox="1"/>
          <p:nvPr/>
        </p:nvSpPr>
        <p:spPr>
          <a:xfrm>
            <a:off x="8138160" y="5257800"/>
            <a:ext cx="3520440" cy="877824"/>
          </a:xfrm>
          <a:prstGeom prst="rect">
            <a:avLst/>
          </a:prstGeom>
          <a:noFill/>
          <a:ln/>
        </p:spPr>
        <p:txBody>
          <a:bodyPr wrap="square" lIns="0" tIns="0" rIns="0" bIns="0" rtlCol="0" anchor="ctr"/>
          <a:lstStyle/>
          <a:p>
            <a:pPr indent="0" marL="0">
              <a:buNone/>
            </a:pPr>
            <a:r>
              <a:rPr lang="en-US" sz="1200" dirty="0">
                <a:solidFill>
                  <a:schemeClr val="bg2"/>
                </a:solidFill>
                <a:latin typeface="Calibri" pitchFamily="34" charset="0"/>
                <a:ea typeface="Calibri" pitchFamily="34" charset="-122"/>
                <a:cs typeface="Calibri" pitchFamily="34" charset="-120"/>
              </a:rPr>
              <a:t>Son pasos necesarios de la compra. Si MercadoPago recauda por el vendedor, la contabilidad se guarda hasta 6 años.</a:t>
            </a:r>
            <a:endParaRPr lang="en-US" sz="12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ambria"/>
                <a:ea typeface="Cambria"/>
                <a:cs typeface="Camb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3000" b="1" dirty="0">
                <a:solidFill>
                  <a:schemeClr val="bg2"/>
                </a:solidFill>
                <a:latin typeface="Cambria" pitchFamily="34" charset="0"/>
                <a:ea typeface="Cambria" pitchFamily="34" charset="-122"/>
                <a:cs typeface="Cambria" pitchFamily="34" charset="-120"/>
              </a:rPr>
              <a:t>Cifrado: qué técnica protege cada dato</a:t>
            </a:r>
            <a:endParaRPr lang="en-US" sz="3000" dirty="0"/>
          </a:p>
        </p:txBody>
      </p:sp>
      <p:sp>
        <p:nvSpPr>
          <p:cNvPr id="3" name="Text 0"/>
          <p:cNvSpPr/>
          <p:nvPr>
            <p:ph idx="101" type="body" hasCustomPrompt="1"/>
          </p:nvPr>
        </p:nvSpPr>
        <p:spPr>
          <a:xfrm>
            <a:off x="548640" y="987552"/>
            <a:ext cx="11064240" cy="365760"/>
          </a:xfrm>
          <a:prstGeom prst="rect">
            <a:avLst/>
          </a:prstGeom>
          <a:noFill/>
          <a:ln/>
        </p:spPr>
        <p:txBody>
          <a:bodyPr wrap="square" lIns="0" tIns="0" rIns="0" bIns="0" rtlCol="0" anchor="t"/>
          <a:lstStyle/>
          <a:p>
            <a:pPr indent="0" marL="0">
              <a:buNone/>
            </a:pPr>
            <a:r>
              <a:rPr lang="en-US" sz="1400" i="1" dirty="0">
                <a:solidFill>
                  <a:schemeClr val="accent1"/>
                </a:solidFill>
                <a:latin typeface="Calibri" pitchFamily="34" charset="0"/>
                <a:ea typeface="Calibri" pitchFamily="34" charset="-122"/>
                <a:cs typeface="Calibri" pitchFamily="34" charset="-120"/>
              </a:rPr>
              <a:t>Medidas de seguridad apropiadas al riesgo (Ley 19.628, art. 14 quinquies) — implementadas en el backend</a:t>
            </a:r>
            <a:endParaRPr lang="en-US" sz="1400" dirty="0"/>
          </a:p>
        </p:txBody>
      </p:sp>
      <p:sp>
        <p:nvSpPr>
          <p:cNvPr id="4" name="Shape 2"/>
          <p:cNvSpPr/>
          <p:nvPr/>
        </p:nvSpPr>
        <p:spPr>
          <a:xfrm>
            <a:off x="548640" y="1508760"/>
            <a:ext cx="2130552" cy="4160520"/>
          </a:xfrm>
          <a:prstGeom prst="roundRect">
            <a:avLst>
              <a:gd name="adj" fmla="val 5150"/>
            </a:avLst>
          </a:prstGeom>
          <a:solidFill>
            <a:schemeClr val="tx1"/>
          </a:solidFill>
          <a:ln w="6350">
            <a:solidFill>
              <a:schemeClr val="tx1"/>
            </a:solidFill>
            <a:prstDash val="solid"/>
          </a:ln>
          <a:effectLst>
            <a:outerShdw sx="100000" sy="100000" kx="0" ky="0" algn="bl" rotWithShape="0" blurRad="101600" dist="38100" dir="5400000">
              <a:srgbClr val="000000">
                <a:alpha val="55000"/>
              </a:srgbClr>
            </a:outerShdw>
          </a:effectLst>
        </p:spPr>
      </p:sp>
      <p:sp>
        <p:nvSpPr>
          <p:cNvPr id="5" name="Shape 3"/>
          <p:cNvSpPr/>
          <p:nvPr/>
        </p:nvSpPr>
        <p:spPr>
          <a:xfrm>
            <a:off x="612648" y="1572768"/>
            <a:ext cx="2002536" cy="4032504"/>
          </a:xfrm>
          <a:prstGeom prst="roundRect">
            <a:avLst>
              <a:gd name="adj" fmla="val 4566"/>
            </a:avLst>
          </a:prstGeom>
          <a:solidFill>
            <a:schemeClr val="accent6"/>
          </a:solidFill>
          <a:ln w="12700">
            <a:solidFill>
              <a:schemeClr val="accent6"/>
            </a:solidFill>
            <a:prstDash val="solid"/>
          </a:ln>
        </p:spPr>
      </p:sp>
      <p:sp>
        <p:nvSpPr>
          <p:cNvPr id="6" name="Shape 4"/>
          <p:cNvSpPr/>
          <p:nvPr/>
        </p:nvSpPr>
        <p:spPr>
          <a:xfrm>
            <a:off x="704088" y="1664208"/>
            <a:ext cx="1819656" cy="384048"/>
          </a:xfrm>
          <a:prstGeom prst="roundRect">
            <a:avLst>
              <a:gd name="adj" fmla="val 19048"/>
            </a:avLst>
          </a:prstGeom>
          <a:solidFill>
            <a:schemeClr val="bg2"/>
          </a:solidFill>
          <a:ln w="9525">
            <a:solidFill>
              <a:schemeClr val="tx1"/>
            </a:solidFill>
            <a:prstDash val="solid"/>
          </a:ln>
        </p:spPr>
      </p:sp>
      <p:sp>
        <p:nvSpPr>
          <p:cNvPr id="7" name="Text 5"/>
          <p:cNvSpPr txBox="1"/>
          <p:nvPr/>
        </p:nvSpPr>
        <p:spPr>
          <a:xfrm>
            <a:off x="795528" y="1664208"/>
            <a:ext cx="1389888" cy="384048"/>
          </a:xfrm>
          <a:prstGeom prst="rect">
            <a:avLst/>
          </a:prstGeom>
          <a:noFill/>
          <a:ln/>
        </p:spPr>
        <p:txBody>
          <a:bodyPr wrap="square" lIns="0" tIns="0" rIns="0" bIns="0" rtlCol="0" anchor="ctr">
            <a:normAutofit/>
          </a:bodyPr>
          <a:lstStyle/>
          <a:p>
            <a:pPr indent="0" marL="0">
              <a:buNone/>
            </a:pPr>
            <a:r>
              <a:rPr lang="en-US" sz="1400" b="1" dirty="0">
                <a:solidFill>
                  <a:schemeClr val="tx1"/>
                </a:solidFill>
                <a:latin typeface="Cambria" pitchFamily="34" charset="0"/>
                <a:ea typeface="Cambria" pitchFamily="34" charset="-122"/>
                <a:cs typeface="Cambria" pitchFamily="34" charset="-120"/>
              </a:rPr>
              <a:t>bcrypt</a:t>
            </a:r>
            <a:endParaRPr lang="en-US" sz="1400" dirty="0"/>
          </a:p>
        </p:txBody>
      </p:sp>
      <p:sp>
        <p:nvSpPr>
          <p:cNvPr id="8" name="Shape 6"/>
          <p:cNvSpPr/>
          <p:nvPr/>
        </p:nvSpPr>
        <p:spPr>
          <a:xfrm>
            <a:off x="2203704" y="1741932"/>
            <a:ext cx="228600" cy="228600"/>
          </a:xfrm>
          <a:prstGeom prst="ellipse">
            <a:avLst/>
          </a:prstGeom>
          <a:solidFill>
            <a:schemeClr val="accent6"/>
          </a:solidFill>
          <a:ln w="9525">
            <a:solidFill>
              <a:schemeClr val="tx1"/>
            </a:solidFill>
            <a:prstDash val="solid"/>
          </a:ln>
        </p:spPr>
      </p:sp>
      <p:sp>
        <p:nvSpPr>
          <p:cNvPr id="9" name="Shape 7"/>
          <p:cNvSpPr/>
          <p:nvPr/>
        </p:nvSpPr>
        <p:spPr>
          <a:xfrm>
            <a:off x="758952" y="2112264"/>
            <a:ext cx="1709928" cy="914400"/>
          </a:xfrm>
          <a:prstGeom prst="rect">
            <a:avLst/>
          </a:prstGeom>
          <a:solidFill>
            <a:schemeClr val="tx1"/>
          </a:solidFill>
          <a:ln w="9525">
            <a:solidFill>
              <a:schemeClr val="tx1"/>
            </a:solidFill>
            <a:prstDash val="solid"/>
          </a:ln>
        </p:spPr>
      </p:sp>
      <p:pic>
        <p:nvPicPr>
          <p:cNvPr id="10" name="Image 0" descr="preencoded.png">    </p:cNvPr>
          <p:cNvPicPr>
            <a:picLocks noChangeAspect="1"/>
          </p:cNvPicPr>
          <p:nvPr/>
        </p:nvPicPr>
        <p:blipFill>
          <a:blip r:embed="rId1"/>
          <a:stretch>
            <a:fillRect/>
          </a:stretch>
        </p:blipFill>
        <p:spPr>
          <a:xfrm>
            <a:off x="1284732" y="2240280"/>
            <a:ext cx="658368" cy="658368"/>
          </a:xfrm>
          <a:prstGeom prst="rect">
            <a:avLst/>
          </a:prstGeom>
        </p:spPr>
      </p:pic>
      <p:sp>
        <p:nvSpPr>
          <p:cNvPr id="11" name="Shape 8"/>
          <p:cNvSpPr/>
          <p:nvPr/>
        </p:nvSpPr>
        <p:spPr>
          <a:xfrm>
            <a:off x="704088" y="3090672"/>
            <a:ext cx="1819656" cy="329184"/>
          </a:xfrm>
          <a:prstGeom prst="roundRect">
            <a:avLst>
              <a:gd name="adj" fmla="val 19444"/>
            </a:avLst>
          </a:prstGeom>
          <a:solidFill>
            <a:schemeClr val="bg2"/>
          </a:solidFill>
          <a:ln w="9525">
            <a:solidFill>
              <a:schemeClr val="tx1"/>
            </a:solidFill>
            <a:prstDash val="solid"/>
          </a:ln>
        </p:spPr>
      </p:sp>
      <p:sp>
        <p:nvSpPr>
          <p:cNvPr id="12" name="Text 9"/>
          <p:cNvSpPr txBox="1"/>
          <p:nvPr/>
        </p:nvSpPr>
        <p:spPr>
          <a:xfrm>
            <a:off x="795528" y="3090672"/>
            <a:ext cx="1636776" cy="329184"/>
          </a:xfrm>
          <a:prstGeom prst="rect">
            <a:avLst/>
          </a:prstGeom>
          <a:noFill/>
          <a:ln/>
        </p:spPr>
        <p:txBody>
          <a:bodyPr wrap="square" lIns="0" tIns="0" rIns="0" bIns="0" rtlCol="0" anchor="ctr">
            <a:normAutofit/>
          </a:bodyPr>
          <a:lstStyle/>
          <a:p>
            <a:pPr indent="0" marL="0">
              <a:buNone/>
            </a:pPr>
            <a:r>
              <a:rPr lang="en-US" sz="1000" b="1" dirty="0">
                <a:solidFill>
                  <a:schemeClr val="tx1"/>
                </a:solidFill>
                <a:latin typeface="Calibri" pitchFamily="34" charset="0"/>
                <a:ea typeface="Calibri" pitchFamily="34" charset="-122"/>
                <a:cs typeface="Calibri" pitchFamily="34" charset="-120"/>
              </a:rPr>
              <a:t>Hashing — costo 12</a:t>
            </a:r>
            <a:endParaRPr lang="en-US" sz="1000" dirty="0"/>
          </a:p>
        </p:txBody>
      </p:sp>
      <p:sp>
        <p:nvSpPr>
          <p:cNvPr id="13" name="Shape 10"/>
          <p:cNvSpPr/>
          <p:nvPr/>
        </p:nvSpPr>
        <p:spPr>
          <a:xfrm>
            <a:off x="758952" y="3483864"/>
            <a:ext cx="1709928" cy="2002536"/>
          </a:xfrm>
          <a:prstGeom prst="rect">
            <a:avLst/>
          </a:prstGeom>
          <a:solidFill>
            <a:schemeClr val="bg2"/>
          </a:solidFill>
          <a:ln w="9525">
            <a:solidFill>
              <a:schemeClr val="tx1"/>
            </a:solidFill>
            <a:prstDash val="solid"/>
          </a:ln>
        </p:spPr>
      </p:sp>
      <p:sp>
        <p:nvSpPr>
          <p:cNvPr id="14" name="Text 11"/>
          <p:cNvSpPr txBox="1"/>
          <p:nvPr/>
        </p:nvSpPr>
        <p:spPr>
          <a:xfrm>
            <a:off x="850392" y="3557016"/>
            <a:ext cx="1527048" cy="187452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alibri" pitchFamily="34" charset="0"/>
                <a:ea typeface="Calibri" pitchFamily="34" charset="-122"/>
                <a:cs typeface="Calibri" pitchFamily="34" charset="-120"/>
              </a:rPr>
              <a:t>Protege: contraseña.</a:t>
            </a:r>
            <a:endParaRPr lang="en-US" sz="1300" dirty="0"/>
          </a:p>
          <a:p>
            <a:pPr indent="0" marL="0">
              <a:spcAft>
                <a:spcPts val="400"/>
              </a:spcAft>
              <a:buNone/>
            </a:pPr>
            <a:r>
              <a:rPr lang="en-US" sz="1300" dirty="0">
                <a:solidFill>
                  <a:schemeClr val="tx1"/>
                </a:solidFill>
                <a:latin typeface="Calibri" pitchFamily="34" charset="0"/>
                <a:ea typeface="Calibri" pitchFamily="34" charset="-122"/>
                <a:cs typeface="Calibri" pitchFamily="34" charset="-120"/>
              </a:rPr>
              <a:t>Baja entropía: hash lento y con sal contra fuerza bruta si se filtra la base.</a:t>
            </a:r>
            <a:endParaRPr lang="en-US" sz="1300" dirty="0"/>
          </a:p>
        </p:txBody>
      </p:sp>
      <p:sp>
        <p:nvSpPr>
          <p:cNvPr id="15" name="Shape 12"/>
          <p:cNvSpPr/>
          <p:nvPr/>
        </p:nvSpPr>
        <p:spPr>
          <a:xfrm>
            <a:off x="2816352" y="1508760"/>
            <a:ext cx="2130552" cy="4160520"/>
          </a:xfrm>
          <a:prstGeom prst="roundRect">
            <a:avLst>
              <a:gd name="adj" fmla="val 5150"/>
            </a:avLst>
          </a:prstGeom>
          <a:solidFill>
            <a:schemeClr val="tx1"/>
          </a:solidFill>
          <a:ln w="6350">
            <a:solidFill>
              <a:schemeClr val="tx1"/>
            </a:solidFill>
            <a:prstDash val="solid"/>
          </a:ln>
          <a:effectLst>
            <a:outerShdw sx="100000" sy="100000" kx="0" ky="0" algn="bl" rotWithShape="0" blurRad="101600" dist="38100" dir="5400000">
              <a:srgbClr val="000000">
                <a:alpha val="55000"/>
              </a:srgbClr>
            </a:outerShdw>
          </a:effectLst>
        </p:spPr>
      </p:sp>
      <p:sp>
        <p:nvSpPr>
          <p:cNvPr id="16" name="Shape 13"/>
          <p:cNvSpPr/>
          <p:nvPr/>
        </p:nvSpPr>
        <p:spPr>
          <a:xfrm>
            <a:off x="2880360" y="1572768"/>
            <a:ext cx="2002536" cy="4032504"/>
          </a:xfrm>
          <a:prstGeom prst="roundRect">
            <a:avLst>
              <a:gd name="adj" fmla="val 4566"/>
            </a:avLst>
          </a:prstGeom>
          <a:solidFill>
            <a:schemeClr val="accent2"/>
          </a:solidFill>
          <a:ln w="12700">
            <a:solidFill>
              <a:schemeClr val="accent2"/>
            </a:solidFill>
            <a:prstDash val="solid"/>
          </a:ln>
        </p:spPr>
      </p:sp>
      <p:sp>
        <p:nvSpPr>
          <p:cNvPr id="17" name="Shape 14"/>
          <p:cNvSpPr/>
          <p:nvPr/>
        </p:nvSpPr>
        <p:spPr>
          <a:xfrm>
            <a:off x="2971800" y="1664208"/>
            <a:ext cx="1819656" cy="384048"/>
          </a:xfrm>
          <a:prstGeom prst="roundRect">
            <a:avLst>
              <a:gd name="adj" fmla="val 19048"/>
            </a:avLst>
          </a:prstGeom>
          <a:solidFill>
            <a:schemeClr val="bg2"/>
          </a:solidFill>
          <a:ln w="9525">
            <a:solidFill>
              <a:schemeClr val="tx1"/>
            </a:solidFill>
            <a:prstDash val="solid"/>
          </a:ln>
        </p:spPr>
      </p:sp>
      <p:sp>
        <p:nvSpPr>
          <p:cNvPr id="18" name="Text 15"/>
          <p:cNvSpPr txBox="1"/>
          <p:nvPr/>
        </p:nvSpPr>
        <p:spPr>
          <a:xfrm>
            <a:off x="3063240" y="1664208"/>
            <a:ext cx="1389888" cy="384048"/>
          </a:xfrm>
          <a:prstGeom prst="rect">
            <a:avLst/>
          </a:prstGeom>
          <a:noFill/>
          <a:ln/>
        </p:spPr>
        <p:txBody>
          <a:bodyPr wrap="square" lIns="0" tIns="0" rIns="0" bIns="0" rtlCol="0" anchor="ctr">
            <a:normAutofit/>
          </a:bodyPr>
          <a:lstStyle/>
          <a:p>
            <a:pPr indent="0" marL="0">
              <a:buNone/>
            </a:pPr>
            <a:r>
              <a:rPr lang="en-US" sz="1400" b="1" dirty="0">
                <a:solidFill>
                  <a:schemeClr val="tx1"/>
                </a:solidFill>
                <a:latin typeface="Cambria" pitchFamily="34" charset="0"/>
                <a:ea typeface="Cambria" pitchFamily="34" charset="-122"/>
                <a:cs typeface="Cambria" pitchFamily="34" charset="-120"/>
              </a:rPr>
              <a:t>SHA-256</a:t>
            </a:r>
            <a:endParaRPr lang="en-US" sz="1400" dirty="0"/>
          </a:p>
        </p:txBody>
      </p:sp>
      <p:sp>
        <p:nvSpPr>
          <p:cNvPr id="19" name="Shape 16"/>
          <p:cNvSpPr/>
          <p:nvPr/>
        </p:nvSpPr>
        <p:spPr>
          <a:xfrm>
            <a:off x="4471416" y="1741932"/>
            <a:ext cx="228600" cy="228600"/>
          </a:xfrm>
          <a:prstGeom prst="ellipse">
            <a:avLst/>
          </a:prstGeom>
          <a:solidFill>
            <a:schemeClr val="accent2"/>
          </a:solidFill>
          <a:ln w="9525">
            <a:solidFill>
              <a:schemeClr val="tx1"/>
            </a:solidFill>
            <a:prstDash val="solid"/>
          </a:ln>
        </p:spPr>
      </p:sp>
      <p:sp>
        <p:nvSpPr>
          <p:cNvPr id="20" name="Shape 17"/>
          <p:cNvSpPr/>
          <p:nvPr/>
        </p:nvSpPr>
        <p:spPr>
          <a:xfrm>
            <a:off x="3026664" y="2112264"/>
            <a:ext cx="1709928" cy="914400"/>
          </a:xfrm>
          <a:prstGeom prst="rect">
            <a:avLst/>
          </a:prstGeom>
          <a:solidFill>
            <a:schemeClr val="tx1"/>
          </a:solidFill>
          <a:ln w="9525">
            <a:solidFill>
              <a:schemeClr val="tx1"/>
            </a:solidFill>
            <a:prstDash val="solid"/>
          </a:ln>
        </p:spPr>
      </p:sp>
      <p:pic>
        <p:nvPicPr>
          <p:cNvPr id="21" name="Image 1" descr="preencoded.png">    </p:cNvPr>
          <p:cNvPicPr>
            <a:picLocks noChangeAspect="1"/>
          </p:cNvPicPr>
          <p:nvPr/>
        </p:nvPicPr>
        <p:blipFill>
          <a:blip r:embed="rId2"/>
          <a:stretch>
            <a:fillRect/>
          </a:stretch>
        </p:blipFill>
        <p:spPr>
          <a:xfrm>
            <a:off x="3552444" y="2240280"/>
            <a:ext cx="658368" cy="658368"/>
          </a:xfrm>
          <a:prstGeom prst="rect">
            <a:avLst/>
          </a:prstGeom>
        </p:spPr>
      </p:pic>
      <p:sp>
        <p:nvSpPr>
          <p:cNvPr id="22" name="Shape 18"/>
          <p:cNvSpPr/>
          <p:nvPr/>
        </p:nvSpPr>
        <p:spPr>
          <a:xfrm>
            <a:off x="2971800" y="3090672"/>
            <a:ext cx="1819656" cy="329184"/>
          </a:xfrm>
          <a:prstGeom prst="roundRect">
            <a:avLst>
              <a:gd name="adj" fmla="val 19444"/>
            </a:avLst>
          </a:prstGeom>
          <a:solidFill>
            <a:schemeClr val="bg2"/>
          </a:solidFill>
          <a:ln w="9525">
            <a:solidFill>
              <a:schemeClr val="tx1"/>
            </a:solidFill>
            <a:prstDash val="solid"/>
          </a:ln>
        </p:spPr>
      </p:sp>
      <p:sp>
        <p:nvSpPr>
          <p:cNvPr id="23" name="Text 19"/>
          <p:cNvSpPr txBox="1"/>
          <p:nvPr/>
        </p:nvSpPr>
        <p:spPr>
          <a:xfrm>
            <a:off x="3063240" y="3090672"/>
            <a:ext cx="1636776" cy="329184"/>
          </a:xfrm>
          <a:prstGeom prst="rect">
            <a:avLst/>
          </a:prstGeom>
          <a:noFill/>
          <a:ln/>
        </p:spPr>
        <p:txBody>
          <a:bodyPr wrap="square" lIns="0" tIns="0" rIns="0" bIns="0" rtlCol="0" anchor="ctr">
            <a:normAutofit/>
          </a:bodyPr>
          <a:lstStyle/>
          <a:p>
            <a:pPr indent="0" marL="0">
              <a:buNone/>
            </a:pPr>
            <a:r>
              <a:rPr lang="en-US" sz="1000" b="1" dirty="0">
                <a:solidFill>
                  <a:schemeClr val="tx1"/>
                </a:solidFill>
                <a:latin typeface="Calibri" pitchFamily="34" charset="0"/>
                <a:ea typeface="Calibri" pitchFamily="34" charset="-122"/>
                <a:cs typeface="Calibri" pitchFamily="34" charset="-120"/>
              </a:rPr>
              <a:t>Hashing</a:t>
            </a:r>
            <a:endParaRPr lang="en-US" sz="1000" dirty="0"/>
          </a:p>
        </p:txBody>
      </p:sp>
      <p:sp>
        <p:nvSpPr>
          <p:cNvPr id="24" name="Shape 20"/>
          <p:cNvSpPr/>
          <p:nvPr/>
        </p:nvSpPr>
        <p:spPr>
          <a:xfrm>
            <a:off x="3026664" y="3483864"/>
            <a:ext cx="1709928" cy="2002536"/>
          </a:xfrm>
          <a:prstGeom prst="rect">
            <a:avLst/>
          </a:prstGeom>
          <a:solidFill>
            <a:schemeClr val="bg2"/>
          </a:solidFill>
          <a:ln w="9525">
            <a:solidFill>
              <a:schemeClr val="tx1"/>
            </a:solidFill>
            <a:prstDash val="solid"/>
          </a:ln>
        </p:spPr>
      </p:sp>
      <p:sp>
        <p:nvSpPr>
          <p:cNvPr id="25" name="Text 21"/>
          <p:cNvSpPr txBox="1"/>
          <p:nvPr/>
        </p:nvSpPr>
        <p:spPr>
          <a:xfrm>
            <a:off x="3118104" y="3557016"/>
            <a:ext cx="1527048" cy="187452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alibri" pitchFamily="34" charset="0"/>
                <a:ea typeface="Calibri" pitchFamily="34" charset="-122"/>
                <a:cs typeface="Calibri" pitchFamily="34" charset="-120"/>
              </a:rPr>
              <a:t>Protege: token de renovación.</a:t>
            </a:r>
            <a:endParaRPr lang="en-US" sz="1300" dirty="0"/>
          </a:p>
          <a:p>
            <a:pPr indent="0" marL="0">
              <a:spcAft>
                <a:spcPts val="400"/>
              </a:spcAft>
              <a:buNone/>
            </a:pPr>
            <a:r>
              <a:rPr lang="en-US" sz="1300" dirty="0">
                <a:solidFill>
                  <a:schemeClr val="tx1"/>
                </a:solidFill>
                <a:latin typeface="Calibri" pitchFamily="34" charset="0"/>
                <a:ea typeface="Calibri" pitchFamily="34" charset="-122"/>
                <a:cs typeface="Calibri" pitchFamily="34" charset="-120"/>
              </a:rPr>
              <a:t>Aleatorio de 512 bits: basta un hash rápido. Se rota en cada uso.</a:t>
            </a:r>
            <a:endParaRPr lang="en-US" sz="1300" dirty="0"/>
          </a:p>
        </p:txBody>
      </p:sp>
      <p:sp>
        <p:nvSpPr>
          <p:cNvPr id="26" name="Shape 22"/>
          <p:cNvSpPr/>
          <p:nvPr/>
        </p:nvSpPr>
        <p:spPr>
          <a:xfrm>
            <a:off x="5084064" y="1508760"/>
            <a:ext cx="2130552" cy="4160520"/>
          </a:xfrm>
          <a:prstGeom prst="roundRect">
            <a:avLst>
              <a:gd name="adj" fmla="val 5150"/>
            </a:avLst>
          </a:prstGeom>
          <a:solidFill>
            <a:schemeClr val="tx1"/>
          </a:solidFill>
          <a:ln w="6350">
            <a:solidFill>
              <a:schemeClr val="tx1"/>
            </a:solidFill>
            <a:prstDash val="solid"/>
          </a:ln>
          <a:effectLst>
            <a:outerShdw sx="100000" sy="100000" kx="0" ky="0" algn="bl" rotWithShape="0" blurRad="101600" dist="38100" dir="5400000">
              <a:srgbClr val="000000">
                <a:alpha val="55000"/>
              </a:srgbClr>
            </a:outerShdw>
          </a:effectLst>
        </p:spPr>
      </p:sp>
      <p:sp>
        <p:nvSpPr>
          <p:cNvPr id="27" name="Shape 23"/>
          <p:cNvSpPr/>
          <p:nvPr/>
        </p:nvSpPr>
        <p:spPr>
          <a:xfrm>
            <a:off x="5148072" y="1572768"/>
            <a:ext cx="2002536" cy="4032504"/>
          </a:xfrm>
          <a:prstGeom prst="roundRect">
            <a:avLst>
              <a:gd name="adj" fmla="val 4566"/>
            </a:avLst>
          </a:prstGeom>
          <a:solidFill>
            <a:schemeClr val="accent4"/>
          </a:solidFill>
          <a:ln w="12700">
            <a:solidFill>
              <a:schemeClr val="accent4"/>
            </a:solidFill>
            <a:prstDash val="solid"/>
          </a:ln>
        </p:spPr>
      </p:sp>
      <p:sp>
        <p:nvSpPr>
          <p:cNvPr id="28" name="Shape 24"/>
          <p:cNvSpPr/>
          <p:nvPr/>
        </p:nvSpPr>
        <p:spPr>
          <a:xfrm>
            <a:off x="5239512" y="1664208"/>
            <a:ext cx="1819656" cy="384048"/>
          </a:xfrm>
          <a:prstGeom prst="roundRect">
            <a:avLst>
              <a:gd name="adj" fmla="val 19048"/>
            </a:avLst>
          </a:prstGeom>
          <a:solidFill>
            <a:schemeClr val="bg2"/>
          </a:solidFill>
          <a:ln w="9525">
            <a:solidFill>
              <a:schemeClr val="tx1"/>
            </a:solidFill>
            <a:prstDash val="solid"/>
          </a:ln>
        </p:spPr>
      </p:sp>
      <p:sp>
        <p:nvSpPr>
          <p:cNvPr id="29" name="Text 25"/>
          <p:cNvSpPr txBox="1"/>
          <p:nvPr/>
        </p:nvSpPr>
        <p:spPr>
          <a:xfrm>
            <a:off x="5330952" y="1664208"/>
            <a:ext cx="1389888" cy="384048"/>
          </a:xfrm>
          <a:prstGeom prst="rect">
            <a:avLst/>
          </a:prstGeom>
          <a:noFill/>
          <a:ln/>
        </p:spPr>
        <p:txBody>
          <a:bodyPr wrap="square" lIns="0" tIns="0" rIns="0" bIns="0" rtlCol="0" anchor="ctr">
            <a:normAutofit/>
          </a:bodyPr>
          <a:lstStyle/>
          <a:p>
            <a:pPr indent="0" marL="0">
              <a:buNone/>
            </a:pPr>
            <a:r>
              <a:rPr lang="en-US" sz="1400" b="1" dirty="0">
                <a:solidFill>
                  <a:schemeClr val="tx1"/>
                </a:solidFill>
                <a:latin typeface="Cambria" pitchFamily="34" charset="0"/>
                <a:ea typeface="Cambria" pitchFamily="34" charset="-122"/>
                <a:cs typeface="Cambria" pitchFamily="34" charset="-120"/>
              </a:rPr>
              <a:t>AES-256-GCM</a:t>
            </a:r>
            <a:endParaRPr lang="en-US" sz="1400" dirty="0"/>
          </a:p>
        </p:txBody>
      </p:sp>
      <p:sp>
        <p:nvSpPr>
          <p:cNvPr id="30" name="Shape 26"/>
          <p:cNvSpPr/>
          <p:nvPr/>
        </p:nvSpPr>
        <p:spPr>
          <a:xfrm>
            <a:off x="6739128" y="1741932"/>
            <a:ext cx="228600" cy="228600"/>
          </a:xfrm>
          <a:prstGeom prst="ellipse">
            <a:avLst/>
          </a:prstGeom>
          <a:solidFill>
            <a:schemeClr val="accent4"/>
          </a:solidFill>
          <a:ln w="9525">
            <a:solidFill>
              <a:schemeClr val="tx1"/>
            </a:solidFill>
            <a:prstDash val="solid"/>
          </a:ln>
        </p:spPr>
      </p:sp>
      <p:sp>
        <p:nvSpPr>
          <p:cNvPr id="31" name="Shape 27"/>
          <p:cNvSpPr/>
          <p:nvPr/>
        </p:nvSpPr>
        <p:spPr>
          <a:xfrm>
            <a:off x="5294376" y="2112264"/>
            <a:ext cx="1709928" cy="914400"/>
          </a:xfrm>
          <a:prstGeom prst="rect">
            <a:avLst/>
          </a:prstGeom>
          <a:solidFill>
            <a:schemeClr val="tx1"/>
          </a:solidFill>
          <a:ln w="9525">
            <a:solidFill>
              <a:schemeClr val="tx1"/>
            </a:solidFill>
            <a:prstDash val="solid"/>
          </a:ln>
        </p:spPr>
      </p:sp>
      <p:pic>
        <p:nvPicPr>
          <p:cNvPr id="32" name="Image 2" descr="preencoded.png">    </p:cNvPr>
          <p:cNvPicPr>
            <a:picLocks noChangeAspect="1"/>
          </p:cNvPicPr>
          <p:nvPr/>
        </p:nvPicPr>
        <p:blipFill>
          <a:blip r:embed="rId3"/>
          <a:stretch>
            <a:fillRect/>
          </a:stretch>
        </p:blipFill>
        <p:spPr>
          <a:xfrm>
            <a:off x="5820156" y="2240280"/>
            <a:ext cx="658368" cy="658368"/>
          </a:xfrm>
          <a:prstGeom prst="rect">
            <a:avLst/>
          </a:prstGeom>
        </p:spPr>
      </p:pic>
      <p:sp>
        <p:nvSpPr>
          <p:cNvPr id="33" name="Shape 28"/>
          <p:cNvSpPr/>
          <p:nvPr/>
        </p:nvSpPr>
        <p:spPr>
          <a:xfrm>
            <a:off x="5239512" y="3090672"/>
            <a:ext cx="1819656" cy="329184"/>
          </a:xfrm>
          <a:prstGeom prst="roundRect">
            <a:avLst>
              <a:gd name="adj" fmla="val 19444"/>
            </a:avLst>
          </a:prstGeom>
          <a:solidFill>
            <a:schemeClr val="bg2"/>
          </a:solidFill>
          <a:ln w="9525">
            <a:solidFill>
              <a:schemeClr val="tx1"/>
            </a:solidFill>
            <a:prstDash val="solid"/>
          </a:ln>
        </p:spPr>
      </p:sp>
      <p:sp>
        <p:nvSpPr>
          <p:cNvPr id="34" name="Text 29"/>
          <p:cNvSpPr txBox="1"/>
          <p:nvPr/>
        </p:nvSpPr>
        <p:spPr>
          <a:xfrm>
            <a:off x="5330952" y="3090672"/>
            <a:ext cx="1636776" cy="329184"/>
          </a:xfrm>
          <a:prstGeom prst="rect">
            <a:avLst/>
          </a:prstGeom>
          <a:noFill/>
          <a:ln/>
        </p:spPr>
        <p:txBody>
          <a:bodyPr wrap="square" lIns="0" tIns="0" rIns="0" bIns="0" rtlCol="0" anchor="ctr">
            <a:normAutofit/>
          </a:bodyPr>
          <a:lstStyle/>
          <a:p>
            <a:pPr indent="0" marL="0">
              <a:buNone/>
            </a:pPr>
            <a:r>
              <a:rPr lang="en-US" sz="1000" b="1" dirty="0">
                <a:solidFill>
                  <a:schemeClr val="tx1"/>
                </a:solidFill>
                <a:latin typeface="Calibri" pitchFamily="34" charset="0"/>
                <a:ea typeface="Calibri" pitchFamily="34" charset="-122"/>
                <a:cs typeface="Calibri" pitchFamily="34" charset="-120"/>
              </a:rPr>
              <a:t>Cifrado simétrico</a:t>
            </a:r>
            <a:endParaRPr lang="en-US" sz="1000" dirty="0"/>
          </a:p>
        </p:txBody>
      </p:sp>
      <p:sp>
        <p:nvSpPr>
          <p:cNvPr id="35" name="Shape 30"/>
          <p:cNvSpPr/>
          <p:nvPr/>
        </p:nvSpPr>
        <p:spPr>
          <a:xfrm>
            <a:off x="5294376" y="3483864"/>
            <a:ext cx="1709928" cy="2002536"/>
          </a:xfrm>
          <a:prstGeom prst="rect">
            <a:avLst/>
          </a:prstGeom>
          <a:solidFill>
            <a:schemeClr val="bg2"/>
          </a:solidFill>
          <a:ln w="9525">
            <a:solidFill>
              <a:schemeClr val="tx1"/>
            </a:solidFill>
            <a:prstDash val="solid"/>
          </a:ln>
        </p:spPr>
      </p:sp>
      <p:sp>
        <p:nvSpPr>
          <p:cNvPr id="36" name="Text 31"/>
          <p:cNvSpPr txBox="1"/>
          <p:nvPr/>
        </p:nvSpPr>
        <p:spPr>
          <a:xfrm>
            <a:off x="5385816" y="3557016"/>
            <a:ext cx="1527048" cy="187452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alibri" pitchFamily="34" charset="0"/>
                <a:ea typeface="Calibri" pitchFamily="34" charset="-122"/>
                <a:cs typeface="Calibri" pitchFamily="34" charset="-120"/>
              </a:rPr>
              <a:t>Protege: secreto 2FA y ubicación.</a:t>
            </a:r>
            <a:endParaRPr lang="en-US" sz="1300" dirty="0"/>
          </a:p>
          <a:p>
            <a:pPr indent="0" marL="0">
              <a:spcAft>
                <a:spcPts val="400"/>
              </a:spcAft>
              <a:buNone/>
            </a:pPr>
            <a:r>
              <a:rPr lang="en-US" sz="1300" dirty="0">
                <a:solidFill>
                  <a:schemeClr val="tx1"/>
                </a:solidFill>
                <a:latin typeface="Calibri" pitchFamily="34" charset="0"/>
                <a:ea typeface="Calibri" pitchFamily="34" charset="-122"/>
                <a:cs typeface="Calibri" pitchFamily="34" charset="-120"/>
              </a:rPr>
              <a:t>Hay que recuperarlos. GCM detecta alteraciones; la llave vive fuera de la base.</a:t>
            </a:r>
            <a:endParaRPr lang="en-US" sz="1300" dirty="0"/>
          </a:p>
        </p:txBody>
      </p:sp>
      <p:sp>
        <p:nvSpPr>
          <p:cNvPr id="37" name="Shape 32"/>
          <p:cNvSpPr/>
          <p:nvPr/>
        </p:nvSpPr>
        <p:spPr>
          <a:xfrm>
            <a:off x="7351776" y="1508760"/>
            <a:ext cx="2130552" cy="4160520"/>
          </a:xfrm>
          <a:prstGeom prst="roundRect">
            <a:avLst>
              <a:gd name="adj" fmla="val 5150"/>
            </a:avLst>
          </a:prstGeom>
          <a:solidFill>
            <a:schemeClr val="tx1"/>
          </a:solidFill>
          <a:ln w="6350">
            <a:solidFill>
              <a:schemeClr val="tx1"/>
            </a:solidFill>
            <a:prstDash val="solid"/>
          </a:ln>
          <a:effectLst>
            <a:outerShdw sx="100000" sy="100000" kx="0" ky="0" algn="bl" rotWithShape="0" blurRad="101600" dist="38100" dir="5400000">
              <a:srgbClr val="000000">
                <a:alpha val="55000"/>
              </a:srgbClr>
            </a:outerShdw>
          </a:effectLst>
        </p:spPr>
      </p:sp>
      <p:sp>
        <p:nvSpPr>
          <p:cNvPr id="38" name="Shape 33"/>
          <p:cNvSpPr/>
          <p:nvPr/>
        </p:nvSpPr>
        <p:spPr>
          <a:xfrm>
            <a:off x="7415784" y="1572768"/>
            <a:ext cx="2002536" cy="4032504"/>
          </a:xfrm>
          <a:prstGeom prst="roundRect">
            <a:avLst>
              <a:gd name="adj" fmla="val 4566"/>
            </a:avLst>
          </a:prstGeom>
          <a:solidFill>
            <a:schemeClr val="accent3"/>
          </a:solidFill>
          <a:ln w="12700">
            <a:solidFill>
              <a:schemeClr val="accent3"/>
            </a:solidFill>
            <a:prstDash val="solid"/>
          </a:ln>
        </p:spPr>
      </p:sp>
      <p:sp>
        <p:nvSpPr>
          <p:cNvPr id="39" name="Shape 34"/>
          <p:cNvSpPr/>
          <p:nvPr/>
        </p:nvSpPr>
        <p:spPr>
          <a:xfrm>
            <a:off x="7507224" y="1664208"/>
            <a:ext cx="1819656" cy="384048"/>
          </a:xfrm>
          <a:prstGeom prst="roundRect">
            <a:avLst>
              <a:gd name="adj" fmla="val 19048"/>
            </a:avLst>
          </a:prstGeom>
          <a:solidFill>
            <a:schemeClr val="bg2"/>
          </a:solidFill>
          <a:ln w="9525">
            <a:solidFill>
              <a:schemeClr val="tx1"/>
            </a:solidFill>
            <a:prstDash val="solid"/>
          </a:ln>
        </p:spPr>
      </p:sp>
      <p:sp>
        <p:nvSpPr>
          <p:cNvPr id="40" name="Text 35"/>
          <p:cNvSpPr txBox="1"/>
          <p:nvPr/>
        </p:nvSpPr>
        <p:spPr>
          <a:xfrm>
            <a:off x="7598664" y="1664208"/>
            <a:ext cx="1389888" cy="384048"/>
          </a:xfrm>
          <a:prstGeom prst="rect">
            <a:avLst/>
          </a:prstGeom>
          <a:noFill/>
          <a:ln/>
        </p:spPr>
        <p:txBody>
          <a:bodyPr wrap="square" lIns="0" tIns="0" rIns="0" bIns="0" rtlCol="0" anchor="ctr">
            <a:normAutofit/>
          </a:bodyPr>
          <a:lstStyle/>
          <a:p>
            <a:pPr indent="0" marL="0">
              <a:buNone/>
            </a:pPr>
            <a:r>
              <a:rPr lang="en-US" sz="1400" b="1" dirty="0">
                <a:solidFill>
                  <a:schemeClr val="tx1"/>
                </a:solidFill>
                <a:latin typeface="Cambria" pitchFamily="34" charset="0"/>
                <a:ea typeface="Cambria" pitchFamily="34" charset="-122"/>
                <a:cs typeface="Cambria" pitchFamily="34" charset="-120"/>
              </a:rPr>
              <a:t>Tokenización</a:t>
            </a:r>
            <a:endParaRPr lang="en-US" sz="1400" dirty="0"/>
          </a:p>
        </p:txBody>
      </p:sp>
      <p:sp>
        <p:nvSpPr>
          <p:cNvPr id="41" name="Shape 36"/>
          <p:cNvSpPr/>
          <p:nvPr/>
        </p:nvSpPr>
        <p:spPr>
          <a:xfrm>
            <a:off x="9006840" y="1741932"/>
            <a:ext cx="228600" cy="228600"/>
          </a:xfrm>
          <a:prstGeom prst="ellipse">
            <a:avLst/>
          </a:prstGeom>
          <a:solidFill>
            <a:schemeClr val="accent3"/>
          </a:solidFill>
          <a:ln w="9525">
            <a:solidFill>
              <a:schemeClr val="tx1"/>
            </a:solidFill>
            <a:prstDash val="solid"/>
          </a:ln>
        </p:spPr>
      </p:sp>
      <p:sp>
        <p:nvSpPr>
          <p:cNvPr id="42" name="Shape 37"/>
          <p:cNvSpPr/>
          <p:nvPr/>
        </p:nvSpPr>
        <p:spPr>
          <a:xfrm>
            <a:off x="7562088" y="2112264"/>
            <a:ext cx="1709928" cy="914400"/>
          </a:xfrm>
          <a:prstGeom prst="rect">
            <a:avLst/>
          </a:prstGeom>
          <a:solidFill>
            <a:schemeClr val="tx1"/>
          </a:solidFill>
          <a:ln w="9525">
            <a:solidFill>
              <a:schemeClr val="tx1"/>
            </a:solidFill>
            <a:prstDash val="solid"/>
          </a:ln>
        </p:spPr>
      </p:sp>
      <p:pic>
        <p:nvPicPr>
          <p:cNvPr id="43" name="Image 3" descr="preencoded.png">    </p:cNvPr>
          <p:cNvPicPr>
            <a:picLocks noChangeAspect="1"/>
          </p:cNvPicPr>
          <p:nvPr/>
        </p:nvPicPr>
        <p:blipFill>
          <a:blip r:embed="rId4"/>
          <a:stretch>
            <a:fillRect/>
          </a:stretch>
        </p:blipFill>
        <p:spPr>
          <a:xfrm>
            <a:off x="8087868" y="2240280"/>
            <a:ext cx="658368" cy="658368"/>
          </a:xfrm>
          <a:prstGeom prst="rect">
            <a:avLst/>
          </a:prstGeom>
        </p:spPr>
      </p:pic>
      <p:sp>
        <p:nvSpPr>
          <p:cNvPr id="44" name="Shape 38"/>
          <p:cNvSpPr/>
          <p:nvPr/>
        </p:nvSpPr>
        <p:spPr>
          <a:xfrm>
            <a:off x="7507224" y="3090672"/>
            <a:ext cx="1819656" cy="329184"/>
          </a:xfrm>
          <a:prstGeom prst="roundRect">
            <a:avLst>
              <a:gd name="adj" fmla="val 19444"/>
            </a:avLst>
          </a:prstGeom>
          <a:solidFill>
            <a:schemeClr val="bg2"/>
          </a:solidFill>
          <a:ln w="9525">
            <a:solidFill>
              <a:schemeClr val="tx1"/>
            </a:solidFill>
            <a:prstDash val="solid"/>
          </a:ln>
        </p:spPr>
      </p:sp>
      <p:sp>
        <p:nvSpPr>
          <p:cNvPr id="45" name="Text 39"/>
          <p:cNvSpPr txBox="1"/>
          <p:nvPr/>
        </p:nvSpPr>
        <p:spPr>
          <a:xfrm>
            <a:off x="7598664" y="3090672"/>
            <a:ext cx="1636776" cy="329184"/>
          </a:xfrm>
          <a:prstGeom prst="rect">
            <a:avLst/>
          </a:prstGeom>
          <a:noFill/>
          <a:ln/>
        </p:spPr>
        <p:txBody>
          <a:bodyPr wrap="square" lIns="0" tIns="0" rIns="0" bIns="0" rtlCol="0" anchor="ctr">
            <a:normAutofit/>
          </a:bodyPr>
          <a:lstStyle/>
          <a:p>
            <a:pPr indent="0" marL="0">
              <a:buNone/>
            </a:pPr>
            <a:r>
              <a:rPr lang="en-US" sz="1000" b="1" dirty="0">
                <a:solidFill>
                  <a:schemeClr val="tx1"/>
                </a:solidFill>
                <a:latin typeface="Calibri" pitchFamily="34" charset="0"/>
                <a:ea typeface="Calibri" pitchFamily="34" charset="-122"/>
                <a:cs typeface="Calibri" pitchFamily="34" charset="-120"/>
              </a:rPr>
              <a:t>Bóveda — MercadoPago</a:t>
            </a:r>
            <a:endParaRPr lang="en-US" sz="1000" dirty="0"/>
          </a:p>
        </p:txBody>
      </p:sp>
      <p:sp>
        <p:nvSpPr>
          <p:cNvPr id="46" name="Shape 40"/>
          <p:cNvSpPr/>
          <p:nvPr/>
        </p:nvSpPr>
        <p:spPr>
          <a:xfrm>
            <a:off x="7562088" y="3483864"/>
            <a:ext cx="1709928" cy="2002536"/>
          </a:xfrm>
          <a:prstGeom prst="rect">
            <a:avLst/>
          </a:prstGeom>
          <a:solidFill>
            <a:schemeClr val="bg2"/>
          </a:solidFill>
          <a:ln w="9525">
            <a:solidFill>
              <a:schemeClr val="tx1"/>
            </a:solidFill>
            <a:prstDash val="solid"/>
          </a:ln>
        </p:spPr>
      </p:sp>
      <p:sp>
        <p:nvSpPr>
          <p:cNvPr id="47" name="Text 41"/>
          <p:cNvSpPr txBox="1"/>
          <p:nvPr/>
        </p:nvSpPr>
        <p:spPr>
          <a:xfrm>
            <a:off x="7653528" y="3557016"/>
            <a:ext cx="1527048" cy="187452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alibri" pitchFamily="34" charset="0"/>
                <a:ea typeface="Calibri" pitchFamily="34" charset="-122"/>
                <a:cs typeface="Calibri" pitchFamily="34" charset="-120"/>
              </a:rPr>
              <a:t>Protege: datos de tarjeta.</a:t>
            </a:r>
            <a:endParaRPr lang="en-US" sz="1300" dirty="0"/>
          </a:p>
          <a:p>
            <a:pPr indent="0" marL="0">
              <a:spcAft>
                <a:spcPts val="400"/>
              </a:spcAft>
              <a:buNone/>
            </a:pPr>
            <a:r>
              <a:rPr lang="en-US" sz="1300" dirty="0">
                <a:solidFill>
                  <a:schemeClr val="tx1"/>
                </a:solidFill>
                <a:latin typeface="Calibri" pitchFamily="34" charset="0"/>
                <a:ea typeface="Calibri" pitchFamily="34" charset="-122"/>
                <a:cs typeface="Calibri" pitchFamily="34" charset="-120"/>
              </a:rPr>
              <a:t>La tarjeta nunca entra al sistema: solo se guarda la referencia del pago.</a:t>
            </a:r>
            <a:endParaRPr lang="en-US" sz="1300" dirty="0"/>
          </a:p>
        </p:txBody>
      </p:sp>
      <p:sp>
        <p:nvSpPr>
          <p:cNvPr id="48" name="Shape 42"/>
          <p:cNvSpPr/>
          <p:nvPr/>
        </p:nvSpPr>
        <p:spPr>
          <a:xfrm>
            <a:off x="9619488" y="1508760"/>
            <a:ext cx="2130552" cy="4160520"/>
          </a:xfrm>
          <a:prstGeom prst="roundRect">
            <a:avLst>
              <a:gd name="adj" fmla="val 5150"/>
            </a:avLst>
          </a:prstGeom>
          <a:solidFill>
            <a:schemeClr val="tx1"/>
          </a:solidFill>
          <a:ln w="6350">
            <a:solidFill>
              <a:schemeClr val="tx1"/>
            </a:solidFill>
            <a:prstDash val="solid"/>
          </a:ln>
          <a:effectLst>
            <a:outerShdw sx="100000" sy="100000" kx="0" ky="0" algn="bl" rotWithShape="0" blurRad="101600" dist="38100" dir="5400000">
              <a:srgbClr val="000000">
                <a:alpha val="55000"/>
              </a:srgbClr>
            </a:outerShdw>
          </a:effectLst>
        </p:spPr>
      </p:sp>
      <p:sp>
        <p:nvSpPr>
          <p:cNvPr id="49" name="Shape 43"/>
          <p:cNvSpPr/>
          <p:nvPr/>
        </p:nvSpPr>
        <p:spPr>
          <a:xfrm>
            <a:off x="9683496" y="1572768"/>
            <a:ext cx="2002536" cy="4032504"/>
          </a:xfrm>
          <a:prstGeom prst="roundRect">
            <a:avLst>
              <a:gd name="adj" fmla="val 4566"/>
            </a:avLst>
          </a:prstGeom>
          <a:solidFill>
            <a:schemeClr val="accent5"/>
          </a:solidFill>
          <a:ln w="12700">
            <a:solidFill>
              <a:schemeClr val="accent5"/>
            </a:solidFill>
            <a:prstDash val="solid"/>
          </a:ln>
        </p:spPr>
      </p:sp>
      <p:sp>
        <p:nvSpPr>
          <p:cNvPr id="50" name="Shape 44"/>
          <p:cNvSpPr/>
          <p:nvPr/>
        </p:nvSpPr>
        <p:spPr>
          <a:xfrm>
            <a:off x="9774936" y="1664208"/>
            <a:ext cx="1819656" cy="384048"/>
          </a:xfrm>
          <a:prstGeom prst="roundRect">
            <a:avLst>
              <a:gd name="adj" fmla="val 19048"/>
            </a:avLst>
          </a:prstGeom>
          <a:solidFill>
            <a:schemeClr val="bg2"/>
          </a:solidFill>
          <a:ln w="9525">
            <a:solidFill>
              <a:schemeClr val="tx1"/>
            </a:solidFill>
            <a:prstDash val="solid"/>
          </a:ln>
        </p:spPr>
      </p:sp>
      <p:sp>
        <p:nvSpPr>
          <p:cNvPr id="51" name="Text 45"/>
          <p:cNvSpPr txBox="1"/>
          <p:nvPr/>
        </p:nvSpPr>
        <p:spPr>
          <a:xfrm>
            <a:off x="9866376" y="1664208"/>
            <a:ext cx="1389888" cy="384048"/>
          </a:xfrm>
          <a:prstGeom prst="rect">
            <a:avLst/>
          </a:prstGeom>
          <a:noFill/>
          <a:ln/>
        </p:spPr>
        <p:txBody>
          <a:bodyPr wrap="square" lIns="0" tIns="0" rIns="0" bIns="0" rtlCol="0" anchor="ctr">
            <a:normAutofit/>
          </a:bodyPr>
          <a:lstStyle/>
          <a:p>
            <a:pPr indent="0" marL="0">
              <a:buNone/>
            </a:pPr>
            <a:r>
              <a:rPr lang="en-US" sz="1400" b="1" dirty="0">
                <a:solidFill>
                  <a:schemeClr val="tx1"/>
                </a:solidFill>
                <a:latin typeface="Cambria" pitchFamily="34" charset="0"/>
                <a:ea typeface="Cambria" pitchFamily="34" charset="-122"/>
                <a:cs typeface="Cambria" pitchFamily="34" charset="-120"/>
              </a:rPr>
              <a:t>HMAC-SHA256</a:t>
            </a:r>
            <a:endParaRPr lang="en-US" sz="1400" dirty="0"/>
          </a:p>
        </p:txBody>
      </p:sp>
      <p:sp>
        <p:nvSpPr>
          <p:cNvPr id="52" name="Shape 46"/>
          <p:cNvSpPr/>
          <p:nvPr/>
        </p:nvSpPr>
        <p:spPr>
          <a:xfrm>
            <a:off x="11274552" y="1741932"/>
            <a:ext cx="228600" cy="228600"/>
          </a:xfrm>
          <a:prstGeom prst="ellipse">
            <a:avLst/>
          </a:prstGeom>
          <a:solidFill>
            <a:schemeClr val="accent5"/>
          </a:solidFill>
          <a:ln w="9525">
            <a:solidFill>
              <a:schemeClr val="tx1"/>
            </a:solidFill>
            <a:prstDash val="solid"/>
          </a:ln>
        </p:spPr>
      </p:sp>
      <p:sp>
        <p:nvSpPr>
          <p:cNvPr id="53" name="Shape 47"/>
          <p:cNvSpPr/>
          <p:nvPr/>
        </p:nvSpPr>
        <p:spPr>
          <a:xfrm>
            <a:off x="9829800" y="2112264"/>
            <a:ext cx="1709928" cy="914400"/>
          </a:xfrm>
          <a:prstGeom prst="rect">
            <a:avLst/>
          </a:prstGeom>
          <a:solidFill>
            <a:schemeClr val="tx1"/>
          </a:solidFill>
          <a:ln w="9525">
            <a:solidFill>
              <a:schemeClr val="tx1"/>
            </a:solidFill>
            <a:prstDash val="solid"/>
          </a:ln>
        </p:spPr>
      </p:sp>
      <p:pic>
        <p:nvPicPr>
          <p:cNvPr id="54" name="Image 4" descr="preencoded.png">    </p:cNvPr>
          <p:cNvPicPr>
            <a:picLocks noChangeAspect="1"/>
          </p:cNvPicPr>
          <p:nvPr/>
        </p:nvPicPr>
        <p:blipFill>
          <a:blip r:embed="rId5"/>
          <a:stretch>
            <a:fillRect/>
          </a:stretch>
        </p:blipFill>
        <p:spPr>
          <a:xfrm>
            <a:off x="10355580" y="2240280"/>
            <a:ext cx="658368" cy="658368"/>
          </a:xfrm>
          <a:prstGeom prst="rect">
            <a:avLst/>
          </a:prstGeom>
        </p:spPr>
      </p:pic>
      <p:sp>
        <p:nvSpPr>
          <p:cNvPr id="55" name="Shape 48"/>
          <p:cNvSpPr/>
          <p:nvPr/>
        </p:nvSpPr>
        <p:spPr>
          <a:xfrm>
            <a:off x="9774936" y="3090672"/>
            <a:ext cx="1819656" cy="329184"/>
          </a:xfrm>
          <a:prstGeom prst="roundRect">
            <a:avLst>
              <a:gd name="adj" fmla="val 19444"/>
            </a:avLst>
          </a:prstGeom>
          <a:solidFill>
            <a:schemeClr val="bg2"/>
          </a:solidFill>
          <a:ln w="9525">
            <a:solidFill>
              <a:schemeClr val="tx1"/>
            </a:solidFill>
            <a:prstDash val="solid"/>
          </a:ln>
        </p:spPr>
      </p:sp>
      <p:sp>
        <p:nvSpPr>
          <p:cNvPr id="56" name="Text 49"/>
          <p:cNvSpPr txBox="1"/>
          <p:nvPr/>
        </p:nvSpPr>
        <p:spPr>
          <a:xfrm>
            <a:off x="9866376" y="3090672"/>
            <a:ext cx="1636776" cy="329184"/>
          </a:xfrm>
          <a:prstGeom prst="rect">
            <a:avLst/>
          </a:prstGeom>
          <a:noFill/>
          <a:ln/>
        </p:spPr>
        <p:txBody>
          <a:bodyPr wrap="square" lIns="0" tIns="0" rIns="0" bIns="0" rtlCol="0" anchor="ctr">
            <a:normAutofit/>
          </a:bodyPr>
          <a:lstStyle/>
          <a:p>
            <a:pPr indent="0" marL="0">
              <a:buNone/>
            </a:pPr>
            <a:r>
              <a:rPr lang="en-US" sz="1000" b="1" dirty="0">
                <a:solidFill>
                  <a:schemeClr val="tx1"/>
                </a:solidFill>
                <a:latin typeface="Calibri" pitchFamily="34" charset="0"/>
                <a:ea typeface="Calibri" pitchFamily="34" charset="-122"/>
                <a:cs typeface="Calibri" pitchFamily="34" charset="-120"/>
              </a:rPr>
              <a:t>Firma</a:t>
            </a:r>
            <a:endParaRPr lang="en-US" sz="1000" dirty="0"/>
          </a:p>
        </p:txBody>
      </p:sp>
      <p:sp>
        <p:nvSpPr>
          <p:cNvPr id="57" name="Shape 50"/>
          <p:cNvSpPr/>
          <p:nvPr/>
        </p:nvSpPr>
        <p:spPr>
          <a:xfrm>
            <a:off x="9829800" y="3483864"/>
            <a:ext cx="1709928" cy="2002536"/>
          </a:xfrm>
          <a:prstGeom prst="rect">
            <a:avLst/>
          </a:prstGeom>
          <a:solidFill>
            <a:schemeClr val="bg2"/>
          </a:solidFill>
          <a:ln w="9525">
            <a:solidFill>
              <a:schemeClr val="tx1"/>
            </a:solidFill>
            <a:prstDash val="solid"/>
          </a:ln>
        </p:spPr>
      </p:sp>
      <p:sp>
        <p:nvSpPr>
          <p:cNvPr id="58" name="Text 51"/>
          <p:cNvSpPr txBox="1"/>
          <p:nvPr/>
        </p:nvSpPr>
        <p:spPr>
          <a:xfrm>
            <a:off x="9921240" y="3557016"/>
            <a:ext cx="1527048" cy="187452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alibri" pitchFamily="34" charset="0"/>
                <a:ea typeface="Calibri" pitchFamily="34" charset="-122"/>
                <a:cs typeface="Calibri" pitchFamily="34" charset="-120"/>
              </a:rPr>
              <a:t>Protege: sesión, QR y aviso de pago.</a:t>
            </a:r>
            <a:endParaRPr lang="en-US" sz="1300" dirty="0"/>
          </a:p>
          <a:p>
            <a:pPr indent="0" marL="0">
              <a:spcAft>
                <a:spcPts val="400"/>
              </a:spcAft>
              <a:buNone/>
            </a:pPr>
            <a:r>
              <a:rPr lang="en-US" sz="1300" dirty="0">
                <a:solidFill>
                  <a:schemeClr val="tx1"/>
                </a:solidFill>
                <a:latin typeface="Calibri" pitchFamily="34" charset="0"/>
                <a:ea typeface="Calibri" pitchFamily="34" charset="-122"/>
                <a:cs typeface="Calibri" pitchFamily="34" charset="-120"/>
              </a:rPr>
              <a:t>No se oculta: se verifica quién lo emitió. El QR vence en 3 minutos.</a:t>
            </a:r>
            <a:endParaRPr lang="en-US" sz="1300" dirty="0"/>
          </a:p>
        </p:txBody>
      </p:sp>
      <p:sp>
        <p:nvSpPr>
          <p:cNvPr id="59" name="Shape 52"/>
          <p:cNvSpPr/>
          <p:nvPr/>
        </p:nvSpPr>
        <p:spPr>
          <a:xfrm>
            <a:off x="548640" y="5788152"/>
            <a:ext cx="11091672" cy="566928"/>
          </a:xfrm>
          <a:prstGeom prst="roundRect">
            <a:avLst>
              <a:gd name="adj" fmla="val 12903"/>
            </a:avLst>
          </a:prstGeom>
          <a:solidFill>
            <a:schemeClr val="tx2"/>
          </a:solidFill>
          <a:ln w="9525">
            <a:solidFill>
              <a:schemeClr val="accent6"/>
            </a:solidFill>
            <a:prstDash val="solid"/>
          </a:ln>
        </p:spPr>
      </p:sp>
      <p:sp>
        <p:nvSpPr>
          <p:cNvPr id="60" name="Text 53"/>
          <p:cNvSpPr txBox="1"/>
          <p:nvPr/>
        </p:nvSpPr>
        <p:spPr>
          <a:xfrm>
            <a:off x="731520" y="5788152"/>
            <a:ext cx="10789920" cy="566928"/>
          </a:xfrm>
          <a:prstGeom prst="rect">
            <a:avLst/>
          </a:prstGeom>
          <a:noFill/>
          <a:ln/>
        </p:spPr>
        <p:txBody>
          <a:bodyPr wrap="square" lIns="0" tIns="0" rIns="0" bIns="0" rtlCol="0" anchor="ctr"/>
          <a:lstStyle/>
          <a:p>
            <a:pPr indent="0" marL="0">
              <a:buNone/>
            </a:pPr>
            <a:r>
              <a:rPr lang="en-US" sz="1250" b="1" dirty="0">
                <a:solidFill>
                  <a:schemeClr val="accent1"/>
                </a:solidFill>
                <a:latin typeface="Calibri" pitchFamily="34" charset="0"/>
                <a:ea typeface="Calibri" pitchFamily="34" charset="-122"/>
                <a:cs typeface="Calibri" pitchFamily="34" charset="-120"/>
              </a:rPr>
              <a:t>Sin cifrar a propósito: </a:t>
            </a:r>
            <a:pPr indent="0" marL="0">
              <a:buNone/>
            </a:pPr>
            <a:r>
              <a:rPr lang="en-US" sz="1250" dirty="0">
                <a:solidFill>
                  <a:schemeClr val="bg2"/>
                </a:solidFill>
                <a:latin typeface="Calibri" pitchFamily="34" charset="0"/>
                <a:ea typeface="Calibri" pitchFamily="34" charset="-122"/>
                <a:cs typeface="Calibri" pitchFamily="34" charset="-120"/>
              </a:rPr>
              <a:t>el correo (se busca por igualdad al iniciar sesión) y el nombre visible (es público por diseño). Se protegen en tránsito y a nivel de disco.</a:t>
            </a:r>
            <a:endParaRPr lang="en-US" sz="125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ambria"/>
                <a:ea typeface="Cambria"/>
                <a:cs typeface="Camb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3000" b="1" dirty="0">
                <a:solidFill>
                  <a:schemeClr val="bg2"/>
                </a:solidFill>
                <a:latin typeface="Cambria" pitchFamily="34" charset="0"/>
                <a:ea typeface="Cambria" pitchFamily="34" charset="-122"/>
                <a:cs typeface="Cambria" pitchFamily="34" charset="-120"/>
              </a:rPr>
              <a:t>Conclusiones</a:t>
            </a:r>
            <a:endParaRPr lang="en-US" sz="3000" dirty="0"/>
          </a:p>
        </p:txBody>
      </p:sp>
      <p:sp>
        <p:nvSpPr>
          <p:cNvPr id="3" name="Text 0"/>
          <p:cNvSpPr/>
          <p:nvPr>
            <p:ph idx="101" type="body" hasCustomPrompt="1"/>
          </p:nvPr>
        </p:nvSpPr>
        <p:spPr>
          <a:xfrm>
            <a:off x="548640" y="987552"/>
            <a:ext cx="11064240" cy="365760"/>
          </a:xfrm>
          <a:prstGeom prst="rect">
            <a:avLst/>
          </a:prstGeom>
          <a:noFill/>
          <a:ln/>
        </p:spPr>
        <p:txBody>
          <a:bodyPr wrap="square" lIns="0" tIns="0" rIns="0" bIns="0" rtlCol="0" anchor="t"/>
          <a:lstStyle/>
          <a:p>
            <a:pPr indent="0" marL="0">
              <a:buNone/>
            </a:pPr>
            <a:r>
              <a:rPr lang="en-US" sz="1400" i="1" dirty="0">
                <a:solidFill>
                  <a:schemeClr val="accent1"/>
                </a:solidFill>
                <a:latin typeface="Calibri" pitchFamily="34" charset="0"/>
                <a:ea typeface="Calibri" pitchFamily="34" charset="-122"/>
                <a:cs typeface="Calibri" pitchFamily="34" charset="-120"/>
              </a:rPr>
              <a:t>Lo que encontramos al inventariar MTG Companion</a:t>
            </a:r>
            <a:endParaRPr lang="en-US" sz="1400" dirty="0"/>
          </a:p>
        </p:txBody>
      </p:sp>
      <p:sp>
        <p:nvSpPr>
          <p:cNvPr id="4" name="Shape 2"/>
          <p:cNvSpPr/>
          <p:nvPr/>
        </p:nvSpPr>
        <p:spPr>
          <a:xfrm>
            <a:off x="548640" y="1508760"/>
            <a:ext cx="3566160" cy="4297680"/>
          </a:xfrm>
          <a:prstGeom prst="roundRect">
            <a:avLst>
              <a:gd name="adj" fmla="val 2564"/>
            </a:avLst>
          </a:prstGeom>
          <a:solidFill>
            <a:schemeClr val="tx2"/>
          </a:solidFill>
          <a:ln w="25400">
            <a:solidFill>
              <a:schemeClr val="accent4"/>
            </a:solidFill>
            <a:prstDash val="solid"/>
          </a:ln>
        </p:spPr>
      </p:sp>
      <p:sp>
        <p:nvSpPr>
          <p:cNvPr id="5" name="Shape 3"/>
          <p:cNvSpPr/>
          <p:nvPr/>
        </p:nvSpPr>
        <p:spPr>
          <a:xfrm>
            <a:off x="731520" y="1691640"/>
            <a:ext cx="594360" cy="594360"/>
          </a:xfrm>
          <a:prstGeom prst="ellipse">
            <a:avLst/>
          </a:prstGeom>
          <a:solidFill>
            <a:schemeClr val="tx1"/>
          </a:solidFill>
          <a:ln w="25400">
            <a:solidFill>
              <a:schemeClr val="accent4"/>
            </a:solidFill>
            <a:prstDash val="solid"/>
          </a:ln>
        </p:spPr>
      </p:sp>
      <p:pic>
        <p:nvPicPr>
          <p:cNvPr id="6" name="Image 0" descr="preencoded.png">    </p:cNvPr>
          <p:cNvPicPr>
            <a:picLocks noChangeAspect="1"/>
          </p:cNvPicPr>
          <p:nvPr/>
        </p:nvPicPr>
        <p:blipFill>
          <a:blip r:embed="rId1"/>
          <a:stretch>
            <a:fillRect/>
          </a:stretch>
        </p:blipFill>
        <p:spPr>
          <a:xfrm>
            <a:off x="822960" y="1783080"/>
            <a:ext cx="411480" cy="411480"/>
          </a:xfrm>
          <a:prstGeom prst="rect">
            <a:avLst/>
          </a:prstGeom>
        </p:spPr>
      </p:pic>
      <p:sp>
        <p:nvSpPr>
          <p:cNvPr id="7" name="Text 4"/>
          <p:cNvSpPr txBox="1"/>
          <p:nvPr/>
        </p:nvSpPr>
        <p:spPr>
          <a:xfrm>
            <a:off x="1463040" y="1691640"/>
            <a:ext cx="2514600" cy="594360"/>
          </a:xfrm>
          <a:prstGeom prst="rect">
            <a:avLst/>
          </a:prstGeom>
          <a:noFill/>
          <a:ln/>
        </p:spPr>
        <p:txBody>
          <a:bodyPr wrap="square" lIns="0" tIns="0" rIns="0" bIns="0" rtlCol="0" anchor="ctr"/>
          <a:lstStyle/>
          <a:p>
            <a:pPr indent="0" marL="0">
              <a:buNone/>
            </a:pPr>
            <a:r>
              <a:rPr lang="en-US" sz="1700" b="1" dirty="0">
                <a:solidFill>
                  <a:schemeClr val="bg2"/>
                </a:solidFill>
                <a:latin typeface="Cambria" pitchFamily="34" charset="0"/>
                <a:ea typeface="Cambria" pitchFamily="34" charset="-122"/>
                <a:cs typeface="Cambria" pitchFamily="34" charset="-120"/>
              </a:rPr>
              <a:t>Datos más críticos</a:t>
            </a:r>
            <a:endParaRPr lang="en-US" sz="1700" dirty="0"/>
          </a:p>
        </p:txBody>
      </p:sp>
      <p:sp>
        <p:nvSpPr>
          <p:cNvPr id="8" name="Text 5"/>
          <p:cNvSpPr txBox="1"/>
          <p:nvPr/>
        </p:nvSpPr>
        <p:spPr>
          <a:xfrm>
            <a:off x="731520" y="2468880"/>
            <a:ext cx="3200400" cy="320040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chemeClr val="bg2"/>
                </a:solidFill>
                <a:latin typeface="Calibri" pitchFamily="34" charset="0"/>
                <a:ea typeface="Calibri" pitchFamily="34" charset="-122"/>
                <a:cs typeface="Calibri" pitchFamily="34" charset="-120"/>
              </a:rPr>
              <a:t>Geolocalización: categoría especial, revela el domicilio.</a:t>
            </a:r>
            <a:endParaRPr lang="en-US" sz="1450" dirty="0"/>
          </a:p>
          <a:p>
            <a:pPr marL="342900" indent="-342900">
              <a:spcAft>
                <a:spcPts val="1000"/>
              </a:spcAft>
              <a:buSzPct val="100000"/>
              <a:buChar char="•"/>
            </a:pPr>
            <a:r>
              <a:rPr lang="en-US" sz="1450" dirty="0">
                <a:solidFill>
                  <a:schemeClr val="bg2"/>
                </a:solidFill>
                <a:latin typeface="Calibri" pitchFamily="34" charset="0"/>
                <a:ea typeface="Calibri" pitchFamily="34" charset="-122"/>
                <a:cs typeface="Calibri" pitchFamily="34" charset="-120"/>
              </a:rPr>
              <a:t>Credenciales: su filtración permite suplantar al jugador.</a:t>
            </a:r>
            <a:endParaRPr lang="en-US" sz="1450" dirty="0"/>
          </a:p>
          <a:p>
            <a:pPr marL="342900" indent="-342900">
              <a:spcAft>
                <a:spcPts val="1000"/>
              </a:spcAft>
              <a:buSzPct val="100000"/>
              <a:buChar char="•"/>
            </a:pPr>
            <a:r>
              <a:rPr lang="en-US" sz="1450" dirty="0">
                <a:solidFill>
                  <a:schemeClr val="bg2"/>
                </a:solidFill>
                <a:latin typeface="Calibri" pitchFamily="34" charset="0"/>
                <a:ea typeface="Calibri" pitchFamily="34" charset="-122"/>
                <a:cs typeface="Calibri" pitchFamily="34" charset="-120"/>
              </a:rPr>
              <a:t>Colección y compras: podrían revelar la situación socioeconómica.</a:t>
            </a:r>
            <a:endParaRPr lang="en-US" sz="1450" dirty="0"/>
          </a:p>
          <a:p>
            <a:pPr marL="342900" indent="-342900">
              <a:spcAft>
                <a:spcPts val="1000"/>
              </a:spcAft>
              <a:buSzPct val="100000"/>
              <a:buChar char="•"/>
            </a:pPr>
            <a:r>
              <a:rPr lang="en-US" sz="1450" dirty="0">
                <a:solidFill>
                  <a:schemeClr val="bg2"/>
                </a:solidFill>
                <a:latin typeface="Calibri" pitchFamily="34" charset="0"/>
                <a:ea typeface="Calibri" pitchFamily="34" charset="-122"/>
                <a:cs typeface="Calibri" pitchFamily="34" charset="-120"/>
              </a:rPr>
              <a:t>Datos de posibles menores de edad.</a:t>
            </a:r>
            <a:endParaRPr lang="en-US" sz="1450" dirty="0"/>
          </a:p>
        </p:txBody>
      </p:sp>
      <p:sp>
        <p:nvSpPr>
          <p:cNvPr id="9" name="Shape 6"/>
          <p:cNvSpPr/>
          <p:nvPr/>
        </p:nvSpPr>
        <p:spPr>
          <a:xfrm>
            <a:off x="4297680" y="1508760"/>
            <a:ext cx="3566160" cy="4297680"/>
          </a:xfrm>
          <a:prstGeom prst="roundRect">
            <a:avLst>
              <a:gd name="adj" fmla="val 2564"/>
            </a:avLst>
          </a:prstGeom>
          <a:solidFill>
            <a:schemeClr val="tx2"/>
          </a:solidFill>
          <a:ln w="25400">
            <a:solidFill>
              <a:schemeClr val="accent6"/>
            </a:solidFill>
            <a:prstDash val="solid"/>
          </a:ln>
        </p:spPr>
      </p:sp>
      <p:sp>
        <p:nvSpPr>
          <p:cNvPr id="10" name="Shape 7"/>
          <p:cNvSpPr/>
          <p:nvPr/>
        </p:nvSpPr>
        <p:spPr>
          <a:xfrm>
            <a:off x="4480560" y="1691640"/>
            <a:ext cx="594360" cy="594360"/>
          </a:xfrm>
          <a:prstGeom prst="ellipse">
            <a:avLst/>
          </a:prstGeom>
          <a:solidFill>
            <a:schemeClr val="tx1"/>
          </a:solidFill>
          <a:ln w="25400">
            <a:solidFill>
              <a:schemeClr val="accent6"/>
            </a:solidFill>
            <a:prstDash val="solid"/>
          </a:ln>
        </p:spPr>
      </p:sp>
      <p:pic>
        <p:nvPicPr>
          <p:cNvPr id="11" name="Image 1" descr="preencoded.png">    </p:cNvPr>
          <p:cNvPicPr>
            <a:picLocks noChangeAspect="1"/>
          </p:cNvPicPr>
          <p:nvPr/>
        </p:nvPicPr>
        <p:blipFill>
          <a:blip r:embed="rId2"/>
          <a:stretch>
            <a:fillRect/>
          </a:stretch>
        </p:blipFill>
        <p:spPr>
          <a:xfrm>
            <a:off x="4572000" y="1783080"/>
            <a:ext cx="411480" cy="411480"/>
          </a:xfrm>
          <a:prstGeom prst="rect">
            <a:avLst/>
          </a:prstGeom>
        </p:spPr>
      </p:pic>
      <p:sp>
        <p:nvSpPr>
          <p:cNvPr id="12" name="Text 8"/>
          <p:cNvSpPr txBox="1"/>
          <p:nvPr/>
        </p:nvSpPr>
        <p:spPr>
          <a:xfrm>
            <a:off x="5212080" y="1691640"/>
            <a:ext cx="2514600" cy="594360"/>
          </a:xfrm>
          <a:prstGeom prst="rect">
            <a:avLst/>
          </a:prstGeom>
          <a:noFill/>
          <a:ln/>
        </p:spPr>
        <p:txBody>
          <a:bodyPr wrap="square" lIns="0" tIns="0" rIns="0" bIns="0" rtlCol="0" anchor="ctr"/>
          <a:lstStyle/>
          <a:p>
            <a:pPr indent="0" marL="0">
              <a:buNone/>
            </a:pPr>
            <a:r>
              <a:rPr lang="en-US" sz="1700" b="1" dirty="0">
                <a:solidFill>
                  <a:schemeClr val="bg2"/>
                </a:solidFill>
                <a:latin typeface="Cambria" pitchFamily="34" charset="0"/>
                <a:ea typeface="Cambria" pitchFamily="34" charset="-122"/>
                <a:cs typeface="Cambria" pitchFamily="34" charset="-120"/>
              </a:rPr>
              <a:t>Brechas y propuestas</a:t>
            </a:r>
            <a:endParaRPr lang="en-US" sz="1700" dirty="0"/>
          </a:p>
        </p:txBody>
      </p:sp>
      <p:sp>
        <p:nvSpPr>
          <p:cNvPr id="13" name="Text 9"/>
          <p:cNvSpPr txBox="1"/>
          <p:nvPr/>
        </p:nvSpPr>
        <p:spPr>
          <a:xfrm>
            <a:off x="4480560" y="2468880"/>
            <a:ext cx="3200400" cy="320040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chemeClr val="bg2"/>
                </a:solidFill>
                <a:latin typeface="Calibri" pitchFamily="34" charset="0"/>
                <a:ea typeface="Calibri" pitchFamily="34" charset="-122"/>
                <a:cs typeface="Calibri" pitchFamily="34" charset="-120"/>
              </a:rPr>
              <a:t>Conservación indefinida → cierre de cuenta y limpieza (Ley 19.628, arts. 3 c y 7).</a:t>
            </a:r>
            <a:endParaRPr lang="en-US" sz="1450" dirty="0"/>
          </a:p>
          <a:p>
            <a:pPr marL="342900" indent="-342900">
              <a:spcAft>
                <a:spcPts val="1000"/>
              </a:spcAft>
              <a:buSzPct val="100000"/>
              <a:buChar char="•"/>
            </a:pPr>
            <a:r>
              <a:rPr lang="en-US" sz="1450" dirty="0">
                <a:solidFill>
                  <a:schemeClr val="bg2"/>
                </a:solidFill>
                <a:latin typeface="Calibri" pitchFamily="34" charset="0"/>
                <a:ea typeface="Calibri" pitchFamily="34" charset="-122"/>
                <a:cs typeface="Calibri" pitchFamily="34" charset="-120"/>
              </a:rPr>
              <a:t>Ubicación → guardarla solo de vendedores, aviso propio, botón para revocar y redondeo (Ley 19.628, arts. 3 c y 16 sexies).</a:t>
            </a:r>
            <a:endParaRPr lang="en-US" sz="1450" dirty="0"/>
          </a:p>
          <a:p>
            <a:pPr marL="342900" indent="-342900">
              <a:spcAft>
                <a:spcPts val="1000"/>
              </a:spcAft>
              <a:buSzPct val="100000"/>
              <a:buChar char="•"/>
            </a:pPr>
            <a:r>
              <a:rPr lang="en-US" sz="1450" dirty="0">
                <a:solidFill>
                  <a:schemeClr val="bg2"/>
                </a:solidFill>
                <a:latin typeface="Calibri" pitchFamily="34" charset="0"/>
                <a:ea typeface="Calibri" pitchFamily="34" charset="-122"/>
                <a:cs typeface="Calibri" pitchFamily="34" charset="-120"/>
              </a:rPr>
              <a:t>Sin edad → pedirla y autorización parental bajo 14 años (Ley 19.628, art. 16 quáter).</a:t>
            </a:r>
            <a:endParaRPr lang="en-US" sz="1450" dirty="0"/>
          </a:p>
          <a:p>
            <a:pPr marL="342900" indent="-342900">
              <a:spcAft>
                <a:spcPts val="1000"/>
              </a:spcAft>
              <a:buSzPct val="100000"/>
              <a:buChar char="•"/>
            </a:pPr>
            <a:r>
              <a:rPr lang="en-US" sz="1450" dirty="0">
                <a:solidFill>
                  <a:schemeClr val="bg2"/>
                </a:solidFill>
                <a:latin typeface="Calibri" pitchFamily="34" charset="0"/>
                <a:ea typeface="Calibri" pitchFamily="34" charset="-122"/>
                <a:cs typeface="Calibri" pitchFamily="34" charset="-120"/>
              </a:rPr>
              <a:t>Sin política de privacidad (Ley 19.628, art. 14 ter) ni garantías para AWS en EE.UU. (Ley 19.628, art. 27).</a:t>
            </a:r>
            <a:endParaRPr lang="en-US" sz="1450" dirty="0"/>
          </a:p>
        </p:txBody>
      </p:sp>
      <p:sp>
        <p:nvSpPr>
          <p:cNvPr id="14" name="Shape 10"/>
          <p:cNvSpPr/>
          <p:nvPr/>
        </p:nvSpPr>
        <p:spPr>
          <a:xfrm>
            <a:off x="8046720" y="1508760"/>
            <a:ext cx="3566160" cy="4297680"/>
          </a:xfrm>
          <a:prstGeom prst="roundRect">
            <a:avLst>
              <a:gd name="adj" fmla="val 2564"/>
            </a:avLst>
          </a:prstGeom>
          <a:solidFill>
            <a:schemeClr val="tx2"/>
          </a:solidFill>
          <a:ln w="25400">
            <a:solidFill>
              <a:schemeClr val="accent5"/>
            </a:solidFill>
            <a:prstDash val="solid"/>
          </a:ln>
        </p:spPr>
      </p:sp>
      <p:sp>
        <p:nvSpPr>
          <p:cNvPr id="15" name="Shape 11"/>
          <p:cNvSpPr/>
          <p:nvPr/>
        </p:nvSpPr>
        <p:spPr>
          <a:xfrm>
            <a:off x="8229600" y="1691640"/>
            <a:ext cx="594360" cy="594360"/>
          </a:xfrm>
          <a:prstGeom prst="ellipse">
            <a:avLst/>
          </a:prstGeom>
          <a:solidFill>
            <a:schemeClr val="tx1"/>
          </a:solidFill>
          <a:ln w="25400">
            <a:solidFill>
              <a:schemeClr val="accent5"/>
            </a:solidFill>
            <a:prstDash val="solid"/>
          </a:ln>
        </p:spPr>
      </p:sp>
      <p:pic>
        <p:nvPicPr>
          <p:cNvPr id="16" name="Image 2" descr="preencoded.png">    </p:cNvPr>
          <p:cNvPicPr>
            <a:picLocks noChangeAspect="1"/>
          </p:cNvPicPr>
          <p:nvPr/>
        </p:nvPicPr>
        <p:blipFill>
          <a:blip r:embed="rId3"/>
          <a:stretch>
            <a:fillRect/>
          </a:stretch>
        </p:blipFill>
        <p:spPr>
          <a:xfrm>
            <a:off x="8321040" y="1783080"/>
            <a:ext cx="411480" cy="411480"/>
          </a:xfrm>
          <a:prstGeom prst="rect">
            <a:avLst/>
          </a:prstGeom>
        </p:spPr>
      </p:pic>
      <p:sp>
        <p:nvSpPr>
          <p:cNvPr id="17" name="Text 12"/>
          <p:cNvSpPr txBox="1"/>
          <p:nvPr/>
        </p:nvSpPr>
        <p:spPr>
          <a:xfrm>
            <a:off x="8961120" y="1691640"/>
            <a:ext cx="2514600" cy="594360"/>
          </a:xfrm>
          <a:prstGeom prst="rect">
            <a:avLst/>
          </a:prstGeom>
          <a:noFill/>
          <a:ln/>
        </p:spPr>
        <p:txBody>
          <a:bodyPr wrap="square" lIns="0" tIns="0" rIns="0" bIns="0" rtlCol="0" anchor="ctr"/>
          <a:lstStyle/>
          <a:p>
            <a:pPr indent="0" marL="0">
              <a:buNone/>
            </a:pPr>
            <a:r>
              <a:rPr lang="en-US" sz="1700" b="1" dirty="0">
                <a:solidFill>
                  <a:schemeClr val="bg2"/>
                </a:solidFill>
                <a:latin typeface="Cambria" pitchFamily="34" charset="0"/>
                <a:ea typeface="Cambria" pitchFamily="34" charset="-122"/>
                <a:cs typeface="Cambria" pitchFamily="34" charset="-120"/>
              </a:rPr>
              <a:t>Dudas abiertas</a:t>
            </a:r>
            <a:endParaRPr lang="en-US" sz="1700" dirty="0"/>
          </a:p>
        </p:txBody>
      </p:sp>
      <p:sp>
        <p:nvSpPr>
          <p:cNvPr id="18" name="Text 13"/>
          <p:cNvSpPr txBox="1"/>
          <p:nvPr/>
        </p:nvSpPr>
        <p:spPr>
          <a:xfrm>
            <a:off x="8229600" y="2468880"/>
            <a:ext cx="3200400" cy="320040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chemeClr val="bg2"/>
                </a:solidFill>
                <a:latin typeface="Calibri" pitchFamily="34" charset="0"/>
                <a:ea typeface="Calibri" pitchFamily="34" charset="-122"/>
                <a:cs typeface="Calibri" pitchFamily="34" charset="-120"/>
              </a:rPr>
              <a:t>¿El valor de una colección es "situación socioeconómica"?</a:t>
            </a:r>
            <a:endParaRPr lang="en-US" sz="1450" dirty="0"/>
          </a:p>
          <a:p>
            <a:pPr marL="342900" indent="-342900">
              <a:spcAft>
                <a:spcPts val="1000"/>
              </a:spcAft>
              <a:buSzPct val="100000"/>
              <a:buChar char="•"/>
            </a:pPr>
            <a:r>
              <a:rPr lang="en-US" sz="1450" dirty="0">
                <a:solidFill>
                  <a:schemeClr val="bg2"/>
                </a:solidFill>
                <a:latin typeface="Calibri" pitchFamily="34" charset="0"/>
                <a:ea typeface="Calibri" pitchFamily="34" charset="-122"/>
                <a:cs typeface="Calibri" pitchFamily="34" charset="-120"/>
              </a:rPr>
              <a:t>¿Cómo acreditar la transferencia a AWS sin lista oficial de países adecuados?</a:t>
            </a:r>
            <a:endParaRPr lang="en-US" sz="1450" dirty="0"/>
          </a:p>
          <a:p>
            <a:pPr marL="342900" indent="-342900">
              <a:spcAft>
                <a:spcPts val="1000"/>
              </a:spcAft>
              <a:buSzPct val="100000"/>
              <a:buChar char="•"/>
            </a:pPr>
            <a:r>
              <a:rPr lang="en-US" sz="1450" dirty="0">
                <a:solidFill>
                  <a:schemeClr val="bg2"/>
                </a:solidFill>
                <a:latin typeface="Calibri" pitchFamily="34" charset="0"/>
                <a:ea typeface="Calibri" pitchFamily="34" charset="-122"/>
                <a:cs typeface="Calibri" pitchFamily="34" charset="-120"/>
              </a:rPr>
              <a:t>¿MercadoPago es responsable independiente o encargado?</a:t>
            </a:r>
            <a:endParaRPr lang="en-US" sz="1450" dirty="0"/>
          </a:p>
          <a:p>
            <a:pPr marL="342900" indent="-342900">
              <a:spcAft>
                <a:spcPts val="1000"/>
              </a:spcAft>
              <a:buSzPct val="100000"/>
              <a:buChar char="•"/>
            </a:pPr>
            <a:r>
              <a:rPr lang="en-US" sz="1450" dirty="0">
                <a:solidFill>
                  <a:schemeClr val="bg2"/>
                </a:solidFill>
                <a:latin typeface="Calibri" pitchFamily="34" charset="0"/>
                <a:ea typeface="Calibri" pitchFamily="34" charset="-122"/>
                <a:cs typeface="Calibri" pitchFamily="34" charset="-120"/>
              </a:rPr>
              <a:t>¿Qué edad mínima exigir?</a:t>
            </a:r>
            <a:endParaRPr lang="en-US" sz="1450" dirty="0"/>
          </a:p>
        </p:txBody>
      </p:sp>
      <p:sp>
        <p:nvSpPr>
          <p:cNvPr id="19" name="Text 14"/>
          <p:cNvSpPr txBox="1"/>
          <p:nvPr/>
        </p:nvSpPr>
        <p:spPr>
          <a:xfrm>
            <a:off x="548640" y="5897880"/>
            <a:ext cx="11091672" cy="457200"/>
          </a:xfrm>
          <a:prstGeom prst="rect">
            <a:avLst/>
          </a:prstGeom>
          <a:noFill/>
          <a:ln/>
        </p:spPr>
        <p:txBody>
          <a:bodyPr wrap="square" lIns="0" tIns="0" rIns="0" bIns="0" rtlCol="0" anchor="ctr"/>
          <a:lstStyle/>
          <a:p>
            <a:pPr algn="ctr" indent="0" marL="0">
              <a:buNone/>
            </a:pPr>
            <a:r>
              <a:rPr lang="en-US" sz="2000" b="1" i="1" dirty="0">
                <a:solidFill>
                  <a:schemeClr val="accent1"/>
                </a:solidFill>
                <a:latin typeface="Cambria" pitchFamily="34" charset="0"/>
                <a:ea typeface="Cambria" pitchFamily="34" charset="-122"/>
                <a:cs typeface="Cambria" pitchFamily="34" charset="-120"/>
              </a:rPr>
              <a:t>¿Preguntas?</a:t>
            </a:r>
            <a:endParaRPr lang="en-US" sz="2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ambria"/>
                <a:ea typeface="Cambria"/>
                <a:cs typeface="Cambria"/>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Ley y Magic">
  <a:themeElements>
    <a:clrScheme name="Ley y Magic">
      <a:dk1>
        <a:srgbClr val="120D09"/>
      </a:dk1>
      <a:lt1>
        <a:srgbClr val="FFFFFF"/>
      </a:lt1>
      <a:dk2>
        <a:srgbClr val="2B1F17"/>
      </a:dk2>
      <a:lt2>
        <a:srgbClr val="EFE4CC"/>
      </a:lt2>
      <a:accent1>
        <a:srgbClr val="C9A227"/>
      </a:accent1>
      <a:accent2>
        <a:srgbClr val="0E68AB"/>
      </a:accent2>
      <a:accent3>
        <a:srgbClr val="00733E"/>
      </a:accent3>
      <a:accent4>
        <a:srgbClr val="C8202A"/>
      </a:accent4>
      <a:accent5>
        <a:srgbClr val="E9DDB4"/>
      </a:accent5>
      <a:accent6>
        <a:srgbClr val="A79E94"/>
      </a:accent6>
      <a:hlink>
        <a:srgbClr val="0E68AB"/>
      </a:hlink>
      <a:folHlink>
        <a:srgbClr val="A79E94"/>
      </a:folHlink>
    </a:clrScheme>
    <a:fontScheme name="Ley y Mag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Hito 1 — Inventario y Clasificación de Datos Personales</dc:title>
  <dc:subject>PptxGenJS Presentation</dc:subject>
  <dc:creator>Vicente Fuentes · Tomás Rodriguez · Tomás Solano</dc:creator>
  <cp:lastModifiedBy>Vicente Fuentes · Tomás Rodriguez · Tomás Solano</cp:lastModifiedBy>
  <cp:revision>1</cp:revision>
  <dcterms:created xsi:type="dcterms:W3CDTF">2026-10-02T16:21:18Z</dcterms:created>
  <dcterms:modified xsi:type="dcterms:W3CDTF">2026-10-02T16:21:18Z</dcterms:modified>
</cp:coreProperties>
</file>